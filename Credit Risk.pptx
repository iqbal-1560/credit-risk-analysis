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Poppins Bold" charset="1" panose="00000800000000000000"/>
      <p:regular r:id="rId39"/>
    </p:embeddedFont>
    <p:embeddedFont>
      <p:font typeface="Poppins" charset="1" panose="000005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www.kaggle.com/datasets/laotse/credit-risk-dataset/data"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16.jpeg" Type="http://schemas.openxmlformats.org/officeDocument/2006/relationships/image"/><Relationship Id="rId15" Target="../media/image17.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 Id="rId4" Target="../media/image13.png" Type="http://schemas.openxmlformats.org/officeDocument/2006/relationships/image"/><Relationship Id="rId5" Target="../media/image16.jpeg" Type="http://schemas.openxmlformats.org/officeDocument/2006/relationships/image"/><Relationship Id="rId6" Target="../media/image19.png" Type="http://schemas.openxmlformats.org/officeDocument/2006/relationships/image"/><Relationship Id="rId7" Target="https://docs.google.com/presentation/d/1vwzCMvRzX0RskZK09TJZxSwkVlih7778YKU8eaYo6B4/edit?usp=sharin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 Id="rId4" Target="../media/image16.jpeg" Type="http://schemas.openxmlformats.org/officeDocument/2006/relationships/image"/><Relationship Id="rId5" Target="../media/image20.png" Type="http://schemas.openxmlformats.org/officeDocument/2006/relationships/image"/><Relationship Id="rId6" Target="../media/image19.png" Type="http://schemas.openxmlformats.org/officeDocument/2006/relationships/image"/><Relationship Id="rId7" Target="https://docs.google.com/presentation/d/1clNjjUquH47OBG0muxLQnDQlszbZJYlGSxsAaO9vxRU/edit?usp=sharing"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2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3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2" Target="../media/image1.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48.png" Type="http://schemas.openxmlformats.org/officeDocument/2006/relationships/image"/><Relationship Id="rId9" Target="../media/image4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2.png" Type="http://schemas.openxmlformats.org/officeDocument/2006/relationships/image"/><Relationship Id="rId4" Target="../media/image63.png" Type="http://schemas.openxmlformats.org/officeDocument/2006/relationships/image"/><Relationship Id="rId5" Target="../media/image64.png" Type="http://schemas.openxmlformats.org/officeDocument/2006/relationships/image"/><Relationship Id="rId6" Target="../media/image6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6.png" Type="http://schemas.openxmlformats.org/officeDocument/2006/relationships/image"/><Relationship Id="rId4" Target="../media/image6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8.png" Type="http://schemas.openxmlformats.org/officeDocument/2006/relationships/image"/><Relationship Id="rId4" Target="../media/image69.png" Type="http://schemas.openxmlformats.org/officeDocument/2006/relationships/image"/><Relationship Id="rId5" Target="../media/image7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71.png" Type="http://schemas.openxmlformats.org/officeDocument/2006/relationships/image"/><Relationship Id="rId6" Target="../media/image7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3.png" Type="http://schemas.openxmlformats.org/officeDocument/2006/relationships/image"/><Relationship Id="rId4" Target="../media/image7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5.png" Type="http://schemas.openxmlformats.org/officeDocument/2006/relationships/image"/><Relationship Id="rId4" Target="../media/image7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7.png" Type="http://schemas.openxmlformats.org/officeDocument/2006/relationships/image"/><Relationship Id="rId4" Target="../media/image7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79.png" Type="http://schemas.openxmlformats.org/officeDocument/2006/relationships/image"/><Relationship Id="rId6" Target="../media/image8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1.png" Type="http://schemas.openxmlformats.org/officeDocument/2006/relationships/image"/><Relationship Id="rId4" Target="../media/image82.svg" Type="http://schemas.openxmlformats.org/officeDocument/2006/relationships/image"/><Relationship Id="rId5" Target="../media/image83.png" Type="http://schemas.openxmlformats.org/officeDocument/2006/relationships/image"/><Relationship Id="rId6" Target="../media/image84.svg" Type="http://schemas.openxmlformats.org/officeDocument/2006/relationships/image"/><Relationship Id="rId7" Target="https://www.linkedin.com/in/iqbal-fahrezi-5233a8169/"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004232" y="2015966"/>
            <a:ext cx="6255068" cy="6255068"/>
          </a:xfrm>
          <a:custGeom>
            <a:avLst/>
            <a:gdLst/>
            <a:ahLst/>
            <a:cxnLst/>
            <a:rect r="r" b="b" t="t" l="l"/>
            <a:pathLst>
              <a:path h="6255068" w="6255068">
                <a:moveTo>
                  <a:pt x="0" y="0"/>
                </a:moveTo>
                <a:lnTo>
                  <a:pt x="6255068" y="0"/>
                </a:lnTo>
                <a:lnTo>
                  <a:pt x="6255068" y="6255068"/>
                </a:lnTo>
                <a:lnTo>
                  <a:pt x="0" y="62550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5384437"/>
            <a:ext cx="7712881" cy="1438812"/>
            <a:chOff x="0" y="0"/>
            <a:chExt cx="2031376" cy="378946"/>
          </a:xfrm>
        </p:grpSpPr>
        <p:sp>
          <p:nvSpPr>
            <p:cNvPr name="Freeform 5" id="5"/>
            <p:cNvSpPr/>
            <p:nvPr/>
          </p:nvSpPr>
          <p:spPr>
            <a:xfrm flipH="false" flipV="false" rot="0">
              <a:off x="0" y="0"/>
              <a:ext cx="2031376" cy="378946"/>
            </a:xfrm>
            <a:custGeom>
              <a:avLst/>
              <a:gdLst/>
              <a:ahLst/>
              <a:cxnLst/>
              <a:rect r="r" b="b" t="t" l="l"/>
              <a:pathLst>
                <a:path h="378946" w="2031376">
                  <a:moveTo>
                    <a:pt x="100376" y="0"/>
                  </a:moveTo>
                  <a:lnTo>
                    <a:pt x="1931000" y="0"/>
                  </a:lnTo>
                  <a:cubicBezTo>
                    <a:pt x="1957621" y="0"/>
                    <a:pt x="1983152" y="10575"/>
                    <a:pt x="2001977" y="29400"/>
                  </a:cubicBezTo>
                  <a:cubicBezTo>
                    <a:pt x="2020801" y="48224"/>
                    <a:pt x="2031376" y="73755"/>
                    <a:pt x="2031376" y="100376"/>
                  </a:cubicBezTo>
                  <a:lnTo>
                    <a:pt x="2031376" y="278570"/>
                  </a:lnTo>
                  <a:cubicBezTo>
                    <a:pt x="2031376" y="334006"/>
                    <a:pt x="1986436" y="378946"/>
                    <a:pt x="1931000" y="378946"/>
                  </a:cubicBezTo>
                  <a:lnTo>
                    <a:pt x="100376" y="378946"/>
                  </a:lnTo>
                  <a:cubicBezTo>
                    <a:pt x="44940" y="378946"/>
                    <a:pt x="0" y="334006"/>
                    <a:pt x="0" y="278570"/>
                  </a:cubicBezTo>
                  <a:lnTo>
                    <a:pt x="0" y="100376"/>
                  </a:lnTo>
                  <a:cubicBezTo>
                    <a:pt x="0" y="44940"/>
                    <a:pt x="44940" y="0"/>
                    <a:pt x="100376" y="0"/>
                  </a:cubicBezTo>
                  <a:close/>
                </a:path>
              </a:pathLst>
            </a:custGeom>
            <a:ln w="85725" cap="rnd">
              <a:solidFill>
                <a:srgbClr val="5CA3B2"/>
              </a:solidFill>
              <a:prstDash val="solid"/>
              <a:round/>
            </a:ln>
          </p:spPr>
        </p:sp>
        <p:sp>
          <p:nvSpPr>
            <p:cNvPr name="TextBox 6" id="6"/>
            <p:cNvSpPr txBox="true"/>
            <p:nvPr/>
          </p:nvSpPr>
          <p:spPr>
            <a:xfrm>
              <a:off x="0" y="-57150"/>
              <a:ext cx="2031376" cy="43609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60343" y="9889125"/>
            <a:ext cx="19408687" cy="996493"/>
            <a:chOff x="0" y="0"/>
            <a:chExt cx="5111753" cy="262451"/>
          </a:xfrm>
        </p:grpSpPr>
        <p:sp>
          <p:nvSpPr>
            <p:cNvPr name="Freeform 8" id="8"/>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9" id="9"/>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028700" y="1758791"/>
            <a:ext cx="11021062" cy="3229005"/>
          </a:xfrm>
          <a:prstGeom prst="rect">
            <a:avLst/>
          </a:prstGeom>
        </p:spPr>
        <p:txBody>
          <a:bodyPr anchor="t" rtlCol="false" tIns="0" lIns="0" bIns="0" rIns="0">
            <a:spAutoFit/>
          </a:bodyPr>
          <a:lstStyle/>
          <a:p>
            <a:pPr algn="l">
              <a:lnSpc>
                <a:spcPts val="12600"/>
              </a:lnSpc>
              <a:spcBef>
                <a:spcPct val="0"/>
              </a:spcBef>
            </a:pPr>
            <a:r>
              <a:rPr lang="en-US" sz="9000" b="true">
                <a:solidFill>
                  <a:srgbClr val="FFFFFF"/>
                </a:solidFill>
                <a:latin typeface="Poppins Bold"/>
                <a:ea typeface="Poppins Bold"/>
                <a:cs typeface="Poppins Bold"/>
                <a:sym typeface="Poppins Bold"/>
              </a:rPr>
              <a:t>Credit Risk Analysis</a:t>
            </a:r>
          </a:p>
        </p:txBody>
      </p:sp>
      <p:sp>
        <p:nvSpPr>
          <p:cNvPr name="TextBox 11" id="11"/>
          <p:cNvSpPr txBox="true"/>
          <p:nvPr/>
        </p:nvSpPr>
        <p:spPr>
          <a:xfrm rot="0">
            <a:off x="1394081" y="5733955"/>
            <a:ext cx="6947174" cy="635000"/>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Poppins"/>
                <a:ea typeface="Poppins"/>
                <a:cs typeface="Poppins"/>
                <a:sym typeface="Poppins"/>
              </a:rPr>
              <a:t>Dataset : </a:t>
            </a:r>
            <a:r>
              <a:rPr lang="en-US" sz="3500" u="sng">
                <a:solidFill>
                  <a:srgbClr val="FFFFFF"/>
                </a:solidFill>
                <a:latin typeface="Poppins"/>
                <a:ea typeface="Poppins"/>
                <a:cs typeface="Poppins"/>
                <a:sym typeface="Poppins"/>
                <a:hlinkClick r:id="rId5" tooltip="https://www.kaggle.com/datasets/laotse/credit-risk-dataset/data"/>
              </a:rPr>
              <a:t>credit_risk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965837" y="1756431"/>
            <a:ext cx="5133199" cy="7000462"/>
            <a:chOff x="0" y="0"/>
            <a:chExt cx="812800" cy="1108466"/>
          </a:xfrm>
        </p:grpSpPr>
        <p:sp>
          <p:nvSpPr>
            <p:cNvPr name="Freeform 4" id="4"/>
            <p:cNvSpPr/>
            <p:nvPr/>
          </p:nvSpPr>
          <p:spPr>
            <a:xfrm flipH="false" flipV="false" rot="0">
              <a:off x="0" y="0"/>
              <a:ext cx="812800" cy="1108466"/>
            </a:xfrm>
            <a:custGeom>
              <a:avLst/>
              <a:gdLst/>
              <a:ahLst/>
              <a:cxnLst/>
              <a:rect r="r" b="b" t="t" l="l"/>
              <a:pathLst>
                <a:path h="1108466" w="812800">
                  <a:moveTo>
                    <a:pt x="0" y="0"/>
                  </a:moveTo>
                  <a:lnTo>
                    <a:pt x="812800" y="0"/>
                  </a:lnTo>
                  <a:lnTo>
                    <a:pt x="812800" y="1108466"/>
                  </a:lnTo>
                  <a:lnTo>
                    <a:pt x="0" y="1108466"/>
                  </a:lnTo>
                  <a:close/>
                </a:path>
              </a:pathLst>
            </a:custGeom>
            <a:ln w="142875" cap="sq">
              <a:solidFill>
                <a:srgbClr val="9A9ED9"/>
              </a:solidFill>
              <a:prstDash val="solid"/>
              <a:miter/>
            </a:ln>
          </p:spPr>
        </p:sp>
        <p:sp>
          <p:nvSpPr>
            <p:cNvPr name="TextBox 5" id="5"/>
            <p:cNvSpPr txBox="true"/>
            <p:nvPr/>
          </p:nvSpPr>
          <p:spPr>
            <a:xfrm>
              <a:off x="0" y="-85725"/>
              <a:ext cx="812800" cy="1194191"/>
            </a:xfrm>
            <a:prstGeom prst="rect">
              <a:avLst/>
            </a:prstGeom>
          </p:spPr>
          <p:txBody>
            <a:bodyPr anchor="ctr" rtlCol="false" tIns="50800" lIns="50800" bIns="50800" rIns="50800"/>
            <a:lstStyle/>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p:txBody>
        </p:sp>
      </p:grpSp>
      <p:grpSp>
        <p:nvGrpSpPr>
          <p:cNvPr name="Group 6" id="6"/>
          <p:cNvGrpSpPr/>
          <p:nvPr/>
        </p:nvGrpSpPr>
        <p:grpSpPr>
          <a:xfrm rot="0">
            <a:off x="9589717" y="819150"/>
            <a:ext cx="5133199" cy="1221770"/>
            <a:chOff x="0" y="0"/>
            <a:chExt cx="1351954" cy="321783"/>
          </a:xfrm>
        </p:grpSpPr>
        <p:sp>
          <p:nvSpPr>
            <p:cNvPr name="Freeform 7" id="7"/>
            <p:cNvSpPr/>
            <p:nvPr/>
          </p:nvSpPr>
          <p:spPr>
            <a:xfrm flipH="false" flipV="false" rot="0">
              <a:off x="0" y="0"/>
              <a:ext cx="1351954" cy="321783"/>
            </a:xfrm>
            <a:custGeom>
              <a:avLst/>
              <a:gdLst/>
              <a:ahLst/>
              <a:cxnLst/>
              <a:rect r="r" b="b" t="t" l="l"/>
              <a:pathLst>
                <a:path h="321783" w="1351954">
                  <a:moveTo>
                    <a:pt x="76918" y="0"/>
                  </a:moveTo>
                  <a:lnTo>
                    <a:pt x="1275035" y="0"/>
                  </a:lnTo>
                  <a:cubicBezTo>
                    <a:pt x="1295435" y="0"/>
                    <a:pt x="1315000" y="8104"/>
                    <a:pt x="1329425" y="22529"/>
                  </a:cubicBezTo>
                  <a:cubicBezTo>
                    <a:pt x="1343850" y="36954"/>
                    <a:pt x="1351954" y="56518"/>
                    <a:pt x="1351954" y="76918"/>
                  </a:cubicBezTo>
                  <a:lnTo>
                    <a:pt x="1351954" y="244865"/>
                  </a:lnTo>
                  <a:cubicBezTo>
                    <a:pt x="1351954" y="287345"/>
                    <a:pt x="1317516" y="321783"/>
                    <a:pt x="1275035" y="321783"/>
                  </a:cubicBezTo>
                  <a:lnTo>
                    <a:pt x="76918" y="321783"/>
                  </a:lnTo>
                  <a:cubicBezTo>
                    <a:pt x="34438" y="321783"/>
                    <a:pt x="0" y="287345"/>
                    <a:pt x="0" y="244865"/>
                  </a:cubicBezTo>
                  <a:lnTo>
                    <a:pt x="0" y="76918"/>
                  </a:lnTo>
                  <a:cubicBezTo>
                    <a:pt x="0" y="56518"/>
                    <a:pt x="8104" y="36954"/>
                    <a:pt x="22529" y="22529"/>
                  </a:cubicBezTo>
                  <a:cubicBezTo>
                    <a:pt x="36954" y="8104"/>
                    <a:pt x="56518" y="0"/>
                    <a:pt x="76918" y="0"/>
                  </a:cubicBezTo>
                  <a:close/>
                </a:path>
              </a:pathLst>
            </a:custGeom>
            <a:ln w="142875" cap="rnd">
              <a:solidFill>
                <a:srgbClr val="9A9ED9"/>
              </a:solidFill>
              <a:prstDash val="solid"/>
              <a:round/>
            </a:ln>
          </p:spPr>
        </p:sp>
        <p:sp>
          <p:nvSpPr>
            <p:cNvPr name="TextBox 8" id="8"/>
            <p:cNvSpPr txBox="true"/>
            <p:nvPr/>
          </p:nvSpPr>
          <p:spPr>
            <a:xfrm>
              <a:off x="0" y="-66675"/>
              <a:ext cx="1351954" cy="388458"/>
            </a:xfrm>
            <a:prstGeom prst="rect">
              <a:avLst/>
            </a:prstGeom>
          </p:spPr>
          <p:txBody>
            <a:bodyPr anchor="ctr" rtlCol="false" tIns="50800" lIns="50800" bIns="50800" rIns="50800"/>
            <a:lstStyle/>
            <a:p>
              <a:pPr algn="ctr">
                <a:lnSpc>
                  <a:spcPts val="3499"/>
                </a:lnSpc>
              </a:pPr>
              <a:r>
                <a:rPr lang="en-US" b="true" sz="2499">
                  <a:solidFill>
                    <a:srgbClr val="FFFFFF"/>
                  </a:solidFill>
                  <a:latin typeface="Poppins Bold"/>
                  <a:ea typeface="Poppins Bold"/>
                  <a:cs typeface="Poppins Bold"/>
                  <a:sym typeface="Poppins Bold"/>
                </a:rPr>
                <a:t>About Me</a:t>
              </a:r>
            </a:p>
          </p:txBody>
        </p:sp>
      </p:grpSp>
      <p:grpSp>
        <p:nvGrpSpPr>
          <p:cNvPr name="Group 9" id="9"/>
          <p:cNvGrpSpPr/>
          <p:nvPr/>
        </p:nvGrpSpPr>
        <p:grpSpPr>
          <a:xfrm rot="0">
            <a:off x="7713112" y="2159174"/>
            <a:ext cx="8886408" cy="6531442"/>
            <a:chOff x="0" y="0"/>
            <a:chExt cx="2340453" cy="1720215"/>
          </a:xfrm>
        </p:grpSpPr>
        <p:sp>
          <p:nvSpPr>
            <p:cNvPr name="Freeform 10" id="10"/>
            <p:cNvSpPr/>
            <p:nvPr/>
          </p:nvSpPr>
          <p:spPr>
            <a:xfrm flipH="false" flipV="false" rot="0">
              <a:off x="0" y="0"/>
              <a:ext cx="2340453" cy="1720215"/>
            </a:xfrm>
            <a:custGeom>
              <a:avLst/>
              <a:gdLst/>
              <a:ahLst/>
              <a:cxnLst/>
              <a:rect r="r" b="b" t="t" l="l"/>
              <a:pathLst>
                <a:path h="1720215" w="2340453">
                  <a:moveTo>
                    <a:pt x="44432" y="0"/>
                  </a:moveTo>
                  <a:lnTo>
                    <a:pt x="2296021" y="0"/>
                  </a:lnTo>
                  <a:cubicBezTo>
                    <a:pt x="2307805" y="0"/>
                    <a:pt x="2319107" y="4681"/>
                    <a:pt x="2327439" y="13014"/>
                  </a:cubicBezTo>
                  <a:cubicBezTo>
                    <a:pt x="2335772" y="21346"/>
                    <a:pt x="2340453" y="32648"/>
                    <a:pt x="2340453" y="44432"/>
                  </a:cubicBezTo>
                  <a:lnTo>
                    <a:pt x="2340453" y="1675784"/>
                  </a:lnTo>
                  <a:cubicBezTo>
                    <a:pt x="2340453" y="1687568"/>
                    <a:pt x="2335772" y="1698869"/>
                    <a:pt x="2327439" y="1707201"/>
                  </a:cubicBezTo>
                  <a:cubicBezTo>
                    <a:pt x="2319107" y="1715534"/>
                    <a:pt x="2307805" y="1720215"/>
                    <a:pt x="2296021" y="1720215"/>
                  </a:cubicBezTo>
                  <a:lnTo>
                    <a:pt x="44432" y="1720215"/>
                  </a:lnTo>
                  <a:cubicBezTo>
                    <a:pt x="32648" y="1720215"/>
                    <a:pt x="21346" y="1715534"/>
                    <a:pt x="13014" y="1707201"/>
                  </a:cubicBezTo>
                  <a:cubicBezTo>
                    <a:pt x="4681" y="1698869"/>
                    <a:pt x="0" y="1687568"/>
                    <a:pt x="0" y="1675784"/>
                  </a:cubicBezTo>
                  <a:lnTo>
                    <a:pt x="0" y="44432"/>
                  </a:lnTo>
                  <a:cubicBezTo>
                    <a:pt x="0" y="32648"/>
                    <a:pt x="4681" y="21346"/>
                    <a:pt x="13014" y="13014"/>
                  </a:cubicBezTo>
                  <a:cubicBezTo>
                    <a:pt x="21346" y="4681"/>
                    <a:pt x="32648" y="0"/>
                    <a:pt x="44432" y="0"/>
                  </a:cubicBezTo>
                  <a:close/>
                </a:path>
              </a:pathLst>
            </a:custGeom>
            <a:ln w="142875" cap="rnd">
              <a:solidFill>
                <a:srgbClr val="9A9ED9"/>
              </a:solidFill>
              <a:prstDash val="solid"/>
              <a:round/>
            </a:ln>
          </p:spPr>
        </p:sp>
        <p:sp>
          <p:nvSpPr>
            <p:cNvPr name="TextBox 11" id="11"/>
            <p:cNvSpPr txBox="true"/>
            <p:nvPr/>
          </p:nvSpPr>
          <p:spPr>
            <a:xfrm>
              <a:off x="0" y="-57150"/>
              <a:ext cx="2340453" cy="1777365"/>
            </a:xfrm>
            <a:prstGeom prst="rect">
              <a:avLst/>
            </a:prstGeom>
          </p:spPr>
          <p:txBody>
            <a:bodyPr anchor="ctr" rtlCol="false" tIns="50800" lIns="50800" bIns="50800" rIns="50800"/>
            <a:lstStyle/>
            <a:p>
              <a:pPr algn="l">
                <a:lnSpc>
                  <a:spcPts val="3080"/>
                </a:lnSpc>
              </a:pPr>
              <a:r>
                <a:rPr lang="en-US" sz="2200">
                  <a:solidFill>
                    <a:srgbClr val="FFFFFF"/>
                  </a:solidFill>
                  <a:latin typeface="Poppins"/>
                  <a:ea typeface="Poppins"/>
                  <a:cs typeface="Poppins"/>
                  <a:sym typeface="Poppins"/>
                </a:rPr>
                <a:t>As a final year Information Systems student at Universitas Terbuka and a passionate Data Analyst, I specialize in leveraging technology to drive business efficiency. I thrive on transforming raw data into clear, actionable insights that guide decision making.</a:t>
              </a:r>
            </a:p>
            <a:p>
              <a:pPr algn="l">
                <a:lnSpc>
                  <a:spcPts val="3080"/>
                </a:lnSpc>
              </a:pPr>
            </a:p>
            <a:p>
              <a:pPr algn="l">
                <a:lnSpc>
                  <a:spcPts val="3080"/>
                </a:lnSpc>
              </a:pPr>
              <a:r>
                <a:rPr lang="en-US" sz="2200">
                  <a:solidFill>
                    <a:srgbClr val="FFFFFF"/>
                  </a:solidFill>
                  <a:latin typeface="Poppins"/>
                  <a:ea typeface="Poppins"/>
                  <a:cs typeface="Poppins"/>
                  <a:sym typeface="Poppins"/>
                </a:rPr>
                <a:t>My academic background has provided me with a robust foundation in data processing, visualization, and analytical tools. To further strengthen my practical skills, I successfully completed an intensive Data Analysis Bootcamp at Dibimbing. Through this program, I gained hands-on experience working with real-world data, integrating data across multiple platforms, and applying statistical methodologies such as clustering and ETL processes.</a:t>
              </a:r>
            </a:p>
            <a:p>
              <a:pPr algn="l">
                <a:lnSpc>
                  <a:spcPts val="3080"/>
                </a:lnSpc>
              </a:pPr>
            </a:p>
          </p:txBody>
        </p:sp>
      </p:grpSp>
      <p:sp>
        <p:nvSpPr>
          <p:cNvPr name="Freeform 12" id="12"/>
          <p:cNvSpPr/>
          <p:nvPr/>
        </p:nvSpPr>
        <p:spPr>
          <a:xfrm flipH="false" flipV="false" rot="0">
            <a:off x="2213472" y="2040920"/>
            <a:ext cx="4637928" cy="6431484"/>
          </a:xfrm>
          <a:custGeom>
            <a:avLst/>
            <a:gdLst/>
            <a:ahLst/>
            <a:cxnLst/>
            <a:rect r="r" b="b" t="t" l="l"/>
            <a:pathLst>
              <a:path h="6431484" w="4637928">
                <a:moveTo>
                  <a:pt x="0" y="0"/>
                </a:moveTo>
                <a:lnTo>
                  <a:pt x="4637928" y="0"/>
                </a:lnTo>
                <a:lnTo>
                  <a:pt x="4637928" y="6431484"/>
                </a:lnTo>
                <a:lnTo>
                  <a:pt x="0" y="6431484"/>
                </a:lnTo>
                <a:lnTo>
                  <a:pt x="0" y="0"/>
                </a:lnTo>
                <a:close/>
              </a:path>
            </a:pathLst>
          </a:custGeom>
          <a:blipFill>
            <a:blip r:embed="rId3"/>
            <a:stretch>
              <a:fillRect l="-2034" t="0" r="-2034"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6577401" y="809898"/>
            <a:ext cx="5133199" cy="1221770"/>
            <a:chOff x="0" y="0"/>
            <a:chExt cx="1351954" cy="321783"/>
          </a:xfrm>
        </p:grpSpPr>
        <p:sp>
          <p:nvSpPr>
            <p:cNvPr name="Freeform 4" id="4"/>
            <p:cNvSpPr/>
            <p:nvPr/>
          </p:nvSpPr>
          <p:spPr>
            <a:xfrm flipH="false" flipV="false" rot="0">
              <a:off x="0" y="0"/>
              <a:ext cx="1351954" cy="321783"/>
            </a:xfrm>
            <a:custGeom>
              <a:avLst/>
              <a:gdLst/>
              <a:ahLst/>
              <a:cxnLst/>
              <a:rect r="r" b="b" t="t" l="l"/>
              <a:pathLst>
                <a:path h="321783" w="1351954">
                  <a:moveTo>
                    <a:pt x="76918" y="0"/>
                  </a:moveTo>
                  <a:lnTo>
                    <a:pt x="1275035" y="0"/>
                  </a:lnTo>
                  <a:cubicBezTo>
                    <a:pt x="1295435" y="0"/>
                    <a:pt x="1315000" y="8104"/>
                    <a:pt x="1329425" y="22529"/>
                  </a:cubicBezTo>
                  <a:cubicBezTo>
                    <a:pt x="1343850" y="36954"/>
                    <a:pt x="1351954" y="56518"/>
                    <a:pt x="1351954" y="76918"/>
                  </a:cubicBezTo>
                  <a:lnTo>
                    <a:pt x="1351954" y="244865"/>
                  </a:lnTo>
                  <a:cubicBezTo>
                    <a:pt x="1351954" y="287345"/>
                    <a:pt x="1317516" y="321783"/>
                    <a:pt x="1275035" y="321783"/>
                  </a:cubicBezTo>
                  <a:lnTo>
                    <a:pt x="76918" y="321783"/>
                  </a:lnTo>
                  <a:cubicBezTo>
                    <a:pt x="34438" y="321783"/>
                    <a:pt x="0" y="287345"/>
                    <a:pt x="0" y="244865"/>
                  </a:cubicBezTo>
                  <a:lnTo>
                    <a:pt x="0" y="76918"/>
                  </a:lnTo>
                  <a:cubicBezTo>
                    <a:pt x="0" y="56518"/>
                    <a:pt x="8104" y="36954"/>
                    <a:pt x="22529" y="22529"/>
                  </a:cubicBezTo>
                  <a:cubicBezTo>
                    <a:pt x="36954" y="8104"/>
                    <a:pt x="56518" y="0"/>
                    <a:pt x="76918" y="0"/>
                  </a:cubicBezTo>
                  <a:close/>
                </a:path>
              </a:pathLst>
            </a:custGeom>
            <a:ln w="142875" cap="rnd">
              <a:solidFill>
                <a:srgbClr val="9A9ED9"/>
              </a:solidFill>
              <a:prstDash val="solid"/>
              <a:round/>
            </a:ln>
          </p:spPr>
        </p:sp>
        <p:sp>
          <p:nvSpPr>
            <p:cNvPr name="TextBox 5" id="5"/>
            <p:cNvSpPr txBox="true"/>
            <p:nvPr/>
          </p:nvSpPr>
          <p:spPr>
            <a:xfrm>
              <a:off x="0" y="-66675"/>
              <a:ext cx="1351954" cy="388458"/>
            </a:xfrm>
            <a:prstGeom prst="rect">
              <a:avLst/>
            </a:prstGeom>
          </p:spPr>
          <p:txBody>
            <a:bodyPr anchor="ctr" rtlCol="false" tIns="50800" lIns="50800" bIns="50800" rIns="50800"/>
            <a:lstStyle/>
            <a:p>
              <a:pPr algn="ctr">
                <a:lnSpc>
                  <a:spcPts val="3499"/>
                </a:lnSpc>
              </a:pPr>
              <a:r>
                <a:rPr lang="en-US" b="true" sz="2499">
                  <a:solidFill>
                    <a:srgbClr val="FFFFFF"/>
                  </a:solidFill>
                  <a:latin typeface="Poppins Bold"/>
                  <a:ea typeface="Poppins Bold"/>
                  <a:cs typeface="Poppins Bold"/>
                  <a:sym typeface="Poppins Bold"/>
                </a:rPr>
                <a:t>Education &amp; Experience</a:t>
              </a:r>
            </a:p>
          </p:txBody>
        </p:sp>
      </p:grpSp>
      <p:grpSp>
        <p:nvGrpSpPr>
          <p:cNvPr name="Group 6" id="6"/>
          <p:cNvGrpSpPr/>
          <p:nvPr/>
        </p:nvGrpSpPr>
        <p:grpSpPr>
          <a:xfrm rot="0">
            <a:off x="1028700" y="2193593"/>
            <a:ext cx="7836737" cy="5493037"/>
            <a:chOff x="0" y="0"/>
            <a:chExt cx="812800" cy="569719"/>
          </a:xfrm>
        </p:grpSpPr>
        <p:sp>
          <p:nvSpPr>
            <p:cNvPr name="Freeform 7" id="7"/>
            <p:cNvSpPr/>
            <p:nvPr/>
          </p:nvSpPr>
          <p:spPr>
            <a:xfrm flipH="false" flipV="false" rot="0">
              <a:off x="0" y="0"/>
              <a:ext cx="812800" cy="569719"/>
            </a:xfrm>
            <a:custGeom>
              <a:avLst/>
              <a:gdLst/>
              <a:ahLst/>
              <a:cxnLst/>
              <a:rect r="r" b="b" t="t" l="l"/>
              <a:pathLst>
                <a:path h="569719" w="812800">
                  <a:moveTo>
                    <a:pt x="0" y="0"/>
                  </a:moveTo>
                  <a:lnTo>
                    <a:pt x="812800" y="0"/>
                  </a:lnTo>
                  <a:lnTo>
                    <a:pt x="812800" y="569719"/>
                  </a:lnTo>
                  <a:lnTo>
                    <a:pt x="0" y="569719"/>
                  </a:lnTo>
                  <a:close/>
                </a:path>
              </a:pathLst>
            </a:custGeom>
            <a:ln w="142875" cap="sq">
              <a:solidFill>
                <a:srgbClr val="9A9ED9"/>
              </a:solidFill>
              <a:prstDash val="solid"/>
              <a:miter/>
            </a:ln>
          </p:spPr>
        </p:sp>
        <p:sp>
          <p:nvSpPr>
            <p:cNvPr name="TextBox 8" id="8"/>
            <p:cNvSpPr txBox="true"/>
            <p:nvPr/>
          </p:nvSpPr>
          <p:spPr>
            <a:xfrm>
              <a:off x="0" y="-57150"/>
              <a:ext cx="812800" cy="626869"/>
            </a:xfrm>
            <a:prstGeom prst="rect">
              <a:avLst/>
            </a:prstGeom>
          </p:spPr>
          <p:txBody>
            <a:bodyPr anchor="ctr" rtlCol="false" tIns="50800" lIns="50800" bIns="50800" rIns="50800"/>
            <a:lstStyle/>
            <a:p>
              <a:pPr algn="l">
                <a:lnSpc>
                  <a:spcPts val="3080"/>
                </a:lnSpc>
              </a:pPr>
            </a:p>
            <a:p>
              <a:pPr algn="l">
                <a:lnSpc>
                  <a:spcPts val="3080"/>
                </a:lnSpc>
              </a:pPr>
            </a:p>
          </p:txBody>
        </p:sp>
      </p:grpSp>
      <p:grpSp>
        <p:nvGrpSpPr>
          <p:cNvPr name="Group 9" id="9"/>
          <p:cNvGrpSpPr/>
          <p:nvPr/>
        </p:nvGrpSpPr>
        <p:grpSpPr>
          <a:xfrm rot="0">
            <a:off x="9502076" y="2193593"/>
            <a:ext cx="7757224" cy="5493037"/>
            <a:chOff x="0" y="0"/>
            <a:chExt cx="812800" cy="575559"/>
          </a:xfrm>
        </p:grpSpPr>
        <p:sp>
          <p:nvSpPr>
            <p:cNvPr name="Freeform 10" id="10"/>
            <p:cNvSpPr/>
            <p:nvPr/>
          </p:nvSpPr>
          <p:spPr>
            <a:xfrm flipH="false" flipV="false" rot="0">
              <a:off x="0" y="0"/>
              <a:ext cx="812800" cy="575559"/>
            </a:xfrm>
            <a:custGeom>
              <a:avLst/>
              <a:gdLst/>
              <a:ahLst/>
              <a:cxnLst/>
              <a:rect r="r" b="b" t="t" l="l"/>
              <a:pathLst>
                <a:path h="575559" w="812800">
                  <a:moveTo>
                    <a:pt x="0" y="0"/>
                  </a:moveTo>
                  <a:lnTo>
                    <a:pt x="812800" y="0"/>
                  </a:lnTo>
                  <a:lnTo>
                    <a:pt x="812800" y="575559"/>
                  </a:lnTo>
                  <a:lnTo>
                    <a:pt x="0" y="575559"/>
                  </a:lnTo>
                  <a:close/>
                </a:path>
              </a:pathLst>
            </a:custGeom>
            <a:ln w="142875" cap="sq">
              <a:solidFill>
                <a:srgbClr val="F9943B"/>
              </a:solidFill>
              <a:prstDash val="solid"/>
              <a:miter/>
            </a:ln>
          </p:spPr>
        </p:sp>
        <p:sp>
          <p:nvSpPr>
            <p:cNvPr name="TextBox 11" id="11"/>
            <p:cNvSpPr txBox="true"/>
            <p:nvPr/>
          </p:nvSpPr>
          <p:spPr>
            <a:xfrm>
              <a:off x="0" y="-57150"/>
              <a:ext cx="812800" cy="632709"/>
            </a:xfrm>
            <a:prstGeom prst="rect">
              <a:avLst/>
            </a:prstGeom>
          </p:spPr>
          <p:txBody>
            <a:bodyPr anchor="ctr" rtlCol="false" tIns="50800" lIns="50800" bIns="50800" rIns="50800"/>
            <a:lstStyle/>
            <a:p>
              <a:pPr algn="l">
                <a:lnSpc>
                  <a:spcPts val="3080"/>
                </a:lnSpc>
              </a:pPr>
            </a:p>
            <a:p>
              <a:pPr algn="l">
                <a:lnSpc>
                  <a:spcPts val="3080"/>
                </a:lnSpc>
              </a:pPr>
            </a:p>
          </p:txBody>
        </p:sp>
      </p:grpSp>
      <p:grpSp>
        <p:nvGrpSpPr>
          <p:cNvPr name="Group 12" id="12"/>
          <p:cNvGrpSpPr/>
          <p:nvPr/>
        </p:nvGrpSpPr>
        <p:grpSpPr>
          <a:xfrm rot="0">
            <a:off x="1335181" y="2523266"/>
            <a:ext cx="7239720" cy="692821"/>
            <a:chOff x="0" y="0"/>
            <a:chExt cx="1906758" cy="182471"/>
          </a:xfrm>
        </p:grpSpPr>
        <p:sp>
          <p:nvSpPr>
            <p:cNvPr name="Freeform 13" id="13"/>
            <p:cNvSpPr/>
            <p:nvPr/>
          </p:nvSpPr>
          <p:spPr>
            <a:xfrm flipH="false" flipV="false" rot="0">
              <a:off x="0" y="0"/>
              <a:ext cx="1906757" cy="182471"/>
            </a:xfrm>
            <a:custGeom>
              <a:avLst/>
              <a:gdLst/>
              <a:ahLst/>
              <a:cxnLst/>
              <a:rect r="r" b="b" t="t" l="l"/>
              <a:pathLst>
                <a:path h="182471" w="1906757">
                  <a:moveTo>
                    <a:pt x="0" y="0"/>
                  </a:moveTo>
                  <a:lnTo>
                    <a:pt x="1906757" y="0"/>
                  </a:lnTo>
                  <a:lnTo>
                    <a:pt x="1906757" y="182471"/>
                  </a:lnTo>
                  <a:lnTo>
                    <a:pt x="0" y="182471"/>
                  </a:lnTo>
                  <a:close/>
                </a:path>
              </a:pathLst>
            </a:custGeom>
            <a:solidFill>
              <a:srgbClr val="5CA3B2"/>
            </a:solidFill>
          </p:spPr>
        </p:sp>
        <p:sp>
          <p:nvSpPr>
            <p:cNvPr name="TextBox 14" id="14"/>
            <p:cNvSpPr txBox="true"/>
            <p:nvPr/>
          </p:nvSpPr>
          <p:spPr>
            <a:xfrm>
              <a:off x="0" y="-66675"/>
              <a:ext cx="1906758" cy="249146"/>
            </a:xfrm>
            <a:prstGeom prst="rect">
              <a:avLst/>
            </a:prstGeom>
          </p:spPr>
          <p:txBody>
            <a:bodyPr anchor="ctr" rtlCol="false" tIns="50800" lIns="50800" bIns="50800" rIns="50800"/>
            <a:lstStyle/>
            <a:p>
              <a:pPr algn="l">
                <a:lnSpc>
                  <a:spcPts val="3499"/>
                </a:lnSpc>
              </a:pPr>
              <a:r>
                <a:rPr lang="en-US" sz="2499" b="true">
                  <a:solidFill>
                    <a:srgbClr val="FFFFFF"/>
                  </a:solidFill>
                  <a:latin typeface="Poppins Bold"/>
                  <a:ea typeface="Poppins Bold"/>
                  <a:cs typeface="Poppins Bold"/>
                  <a:sym typeface="Poppins Bold"/>
                </a:rPr>
                <a:t>              Education</a:t>
              </a:r>
            </a:p>
          </p:txBody>
        </p:sp>
      </p:grpSp>
      <p:grpSp>
        <p:nvGrpSpPr>
          <p:cNvPr name="Group 15" id="15"/>
          <p:cNvGrpSpPr/>
          <p:nvPr/>
        </p:nvGrpSpPr>
        <p:grpSpPr>
          <a:xfrm rot="0">
            <a:off x="1335181" y="3467270"/>
            <a:ext cx="7239720" cy="1795960"/>
            <a:chOff x="0" y="0"/>
            <a:chExt cx="1906758" cy="473010"/>
          </a:xfrm>
        </p:grpSpPr>
        <p:sp>
          <p:nvSpPr>
            <p:cNvPr name="Freeform 16" id="16"/>
            <p:cNvSpPr/>
            <p:nvPr/>
          </p:nvSpPr>
          <p:spPr>
            <a:xfrm flipH="false" flipV="false" rot="0">
              <a:off x="0" y="0"/>
              <a:ext cx="1906757" cy="473010"/>
            </a:xfrm>
            <a:custGeom>
              <a:avLst/>
              <a:gdLst/>
              <a:ahLst/>
              <a:cxnLst/>
              <a:rect r="r" b="b" t="t" l="l"/>
              <a:pathLst>
                <a:path h="473010" w="1906757">
                  <a:moveTo>
                    <a:pt x="54538" y="0"/>
                  </a:moveTo>
                  <a:lnTo>
                    <a:pt x="1852220" y="0"/>
                  </a:lnTo>
                  <a:cubicBezTo>
                    <a:pt x="1882340" y="0"/>
                    <a:pt x="1906757" y="24417"/>
                    <a:pt x="1906757" y="54538"/>
                  </a:cubicBezTo>
                  <a:lnTo>
                    <a:pt x="1906757" y="418472"/>
                  </a:lnTo>
                  <a:cubicBezTo>
                    <a:pt x="1906757" y="432937"/>
                    <a:pt x="1901011" y="446809"/>
                    <a:pt x="1890784" y="457036"/>
                  </a:cubicBezTo>
                  <a:cubicBezTo>
                    <a:pt x="1880556" y="467264"/>
                    <a:pt x="1866684" y="473010"/>
                    <a:pt x="1852220" y="473010"/>
                  </a:cubicBezTo>
                  <a:lnTo>
                    <a:pt x="54538" y="473010"/>
                  </a:lnTo>
                  <a:cubicBezTo>
                    <a:pt x="24417" y="473010"/>
                    <a:pt x="0" y="448593"/>
                    <a:pt x="0" y="418472"/>
                  </a:cubicBezTo>
                  <a:lnTo>
                    <a:pt x="0" y="54538"/>
                  </a:lnTo>
                  <a:cubicBezTo>
                    <a:pt x="0" y="24417"/>
                    <a:pt x="24417" y="0"/>
                    <a:pt x="54538" y="0"/>
                  </a:cubicBezTo>
                  <a:close/>
                </a:path>
              </a:pathLst>
            </a:custGeom>
            <a:ln w="95250" cap="rnd">
              <a:solidFill>
                <a:srgbClr val="5CA3B2"/>
              </a:solidFill>
              <a:prstDash val="solid"/>
              <a:round/>
            </a:ln>
          </p:spPr>
        </p:sp>
        <p:sp>
          <p:nvSpPr>
            <p:cNvPr name="TextBox 17" id="17"/>
            <p:cNvSpPr txBox="true"/>
            <p:nvPr/>
          </p:nvSpPr>
          <p:spPr>
            <a:xfrm>
              <a:off x="0" y="-66675"/>
              <a:ext cx="1906758" cy="539685"/>
            </a:xfrm>
            <a:prstGeom prst="rect">
              <a:avLst/>
            </a:prstGeom>
          </p:spPr>
          <p:txBody>
            <a:bodyPr anchor="ctr" rtlCol="false" tIns="50800" lIns="50800" bIns="50800" rIns="50800"/>
            <a:lstStyle/>
            <a:p>
              <a:pPr algn="ctr">
                <a:lnSpc>
                  <a:spcPts val="3499"/>
                </a:lnSpc>
              </a:pPr>
            </a:p>
          </p:txBody>
        </p:sp>
      </p:grpSp>
      <p:sp>
        <p:nvSpPr>
          <p:cNvPr name="Freeform 18" id="18"/>
          <p:cNvSpPr/>
          <p:nvPr/>
        </p:nvSpPr>
        <p:spPr>
          <a:xfrm flipH="false" flipV="false" rot="0">
            <a:off x="1324562" y="2523266"/>
            <a:ext cx="936244" cy="692821"/>
          </a:xfrm>
          <a:custGeom>
            <a:avLst/>
            <a:gdLst/>
            <a:ahLst/>
            <a:cxnLst/>
            <a:rect r="r" b="b" t="t" l="l"/>
            <a:pathLst>
              <a:path h="692821" w="936244">
                <a:moveTo>
                  <a:pt x="0" y="0"/>
                </a:moveTo>
                <a:lnTo>
                  <a:pt x="936244" y="0"/>
                </a:lnTo>
                <a:lnTo>
                  <a:pt x="936244" y="692820"/>
                </a:lnTo>
                <a:lnTo>
                  <a:pt x="0" y="6928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6363212" y="3739032"/>
            <a:ext cx="1770686" cy="1252436"/>
          </a:xfrm>
          <a:custGeom>
            <a:avLst/>
            <a:gdLst/>
            <a:ahLst/>
            <a:cxnLst/>
            <a:rect r="r" b="b" t="t" l="l"/>
            <a:pathLst>
              <a:path h="1252436" w="1770686">
                <a:moveTo>
                  <a:pt x="0" y="0"/>
                </a:moveTo>
                <a:lnTo>
                  <a:pt x="1770686" y="0"/>
                </a:lnTo>
                <a:lnTo>
                  <a:pt x="1770686" y="1252437"/>
                </a:lnTo>
                <a:lnTo>
                  <a:pt x="0" y="1252437"/>
                </a:lnTo>
                <a:lnTo>
                  <a:pt x="0" y="0"/>
                </a:lnTo>
                <a:close/>
              </a:path>
            </a:pathLst>
          </a:custGeom>
          <a:blipFill>
            <a:blip r:embed="rId5"/>
            <a:stretch>
              <a:fillRect l="0" t="0" r="0" b="0"/>
            </a:stretch>
          </a:blipFill>
        </p:spPr>
      </p:sp>
      <p:grpSp>
        <p:nvGrpSpPr>
          <p:cNvPr name="Group 20" id="20"/>
          <p:cNvGrpSpPr/>
          <p:nvPr/>
        </p:nvGrpSpPr>
        <p:grpSpPr>
          <a:xfrm rot="0">
            <a:off x="1324562" y="5510881"/>
            <a:ext cx="7239720" cy="1795960"/>
            <a:chOff x="0" y="0"/>
            <a:chExt cx="1906758" cy="473010"/>
          </a:xfrm>
        </p:grpSpPr>
        <p:sp>
          <p:nvSpPr>
            <p:cNvPr name="Freeform 21" id="21"/>
            <p:cNvSpPr/>
            <p:nvPr/>
          </p:nvSpPr>
          <p:spPr>
            <a:xfrm flipH="false" flipV="false" rot="0">
              <a:off x="0" y="0"/>
              <a:ext cx="1906757" cy="473010"/>
            </a:xfrm>
            <a:custGeom>
              <a:avLst/>
              <a:gdLst/>
              <a:ahLst/>
              <a:cxnLst/>
              <a:rect r="r" b="b" t="t" l="l"/>
              <a:pathLst>
                <a:path h="473010" w="1906757">
                  <a:moveTo>
                    <a:pt x="54538" y="0"/>
                  </a:moveTo>
                  <a:lnTo>
                    <a:pt x="1852220" y="0"/>
                  </a:lnTo>
                  <a:cubicBezTo>
                    <a:pt x="1882340" y="0"/>
                    <a:pt x="1906757" y="24417"/>
                    <a:pt x="1906757" y="54538"/>
                  </a:cubicBezTo>
                  <a:lnTo>
                    <a:pt x="1906757" y="418472"/>
                  </a:lnTo>
                  <a:cubicBezTo>
                    <a:pt x="1906757" y="432937"/>
                    <a:pt x="1901011" y="446809"/>
                    <a:pt x="1890784" y="457036"/>
                  </a:cubicBezTo>
                  <a:cubicBezTo>
                    <a:pt x="1880556" y="467264"/>
                    <a:pt x="1866684" y="473010"/>
                    <a:pt x="1852220" y="473010"/>
                  </a:cubicBezTo>
                  <a:lnTo>
                    <a:pt x="54538" y="473010"/>
                  </a:lnTo>
                  <a:cubicBezTo>
                    <a:pt x="24417" y="473010"/>
                    <a:pt x="0" y="448593"/>
                    <a:pt x="0" y="418472"/>
                  </a:cubicBezTo>
                  <a:lnTo>
                    <a:pt x="0" y="54538"/>
                  </a:lnTo>
                  <a:cubicBezTo>
                    <a:pt x="0" y="24417"/>
                    <a:pt x="24417" y="0"/>
                    <a:pt x="54538" y="0"/>
                  </a:cubicBezTo>
                  <a:close/>
                </a:path>
              </a:pathLst>
            </a:custGeom>
            <a:ln w="95250" cap="rnd">
              <a:solidFill>
                <a:srgbClr val="5CA3B2"/>
              </a:solidFill>
              <a:prstDash val="solid"/>
              <a:round/>
            </a:ln>
          </p:spPr>
        </p:sp>
        <p:sp>
          <p:nvSpPr>
            <p:cNvPr name="TextBox 22" id="22"/>
            <p:cNvSpPr txBox="true"/>
            <p:nvPr/>
          </p:nvSpPr>
          <p:spPr>
            <a:xfrm>
              <a:off x="0" y="-66675"/>
              <a:ext cx="1906758" cy="539685"/>
            </a:xfrm>
            <a:prstGeom prst="rect">
              <a:avLst/>
            </a:prstGeom>
          </p:spPr>
          <p:txBody>
            <a:bodyPr anchor="ctr" rtlCol="false" tIns="50800" lIns="50800" bIns="50800" rIns="50800"/>
            <a:lstStyle/>
            <a:p>
              <a:pPr algn="ctr">
                <a:lnSpc>
                  <a:spcPts val="3499"/>
                </a:lnSpc>
              </a:pPr>
            </a:p>
          </p:txBody>
        </p:sp>
      </p:grpSp>
      <p:sp>
        <p:nvSpPr>
          <p:cNvPr name="Freeform 23" id="23"/>
          <p:cNvSpPr/>
          <p:nvPr/>
        </p:nvSpPr>
        <p:spPr>
          <a:xfrm flipH="false" flipV="false" rot="0">
            <a:off x="6754153" y="5679780"/>
            <a:ext cx="988804" cy="1458161"/>
          </a:xfrm>
          <a:custGeom>
            <a:avLst/>
            <a:gdLst/>
            <a:ahLst/>
            <a:cxnLst/>
            <a:rect r="r" b="b" t="t" l="l"/>
            <a:pathLst>
              <a:path h="1458161" w="988804">
                <a:moveTo>
                  <a:pt x="0" y="0"/>
                </a:moveTo>
                <a:lnTo>
                  <a:pt x="988804" y="0"/>
                </a:lnTo>
                <a:lnTo>
                  <a:pt x="988804" y="1458162"/>
                </a:lnTo>
                <a:lnTo>
                  <a:pt x="0" y="1458162"/>
                </a:lnTo>
                <a:lnTo>
                  <a:pt x="0" y="0"/>
                </a:lnTo>
                <a:close/>
              </a:path>
            </a:pathLst>
          </a:custGeom>
          <a:blipFill>
            <a:blip r:embed="rId6"/>
            <a:stretch>
              <a:fillRect l="0" t="0" r="0" b="0"/>
            </a:stretch>
          </a:blipFill>
        </p:spPr>
      </p:sp>
      <p:grpSp>
        <p:nvGrpSpPr>
          <p:cNvPr name="Group 24" id="24"/>
          <p:cNvGrpSpPr/>
          <p:nvPr/>
        </p:nvGrpSpPr>
        <p:grpSpPr>
          <a:xfrm rot="0">
            <a:off x="9760828" y="2523266"/>
            <a:ext cx="7239720" cy="692821"/>
            <a:chOff x="0" y="0"/>
            <a:chExt cx="1906758" cy="182471"/>
          </a:xfrm>
        </p:grpSpPr>
        <p:sp>
          <p:nvSpPr>
            <p:cNvPr name="Freeform 25" id="25"/>
            <p:cNvSpPr/>
            <p:nvPr/>
          </p:nvSpPr>
          <p:spPr>
            <a:xfrm flipH="false" flipV="false" rot="0">
              <a:off x="0" y="0"/>
              <a:ext cx="1906757" cy="182471"/>
            </a:xfrm>
            <a:custGeom>
              <a:avLst/>
              <a:gdLst/>
              <a:ahLst/>
              <a:cxnLst/>
              <a:rect r="r" b="b" t="t" l="l"/>
              <a:pathLst>
                <a:path h="182471" w="1906757">
                  <a:moveTo>
                    <a:pt x="0" y="0"/>
                  </a:moveTo>
                  <a:lnTo>
                    <a:pt x="1906757" y="0"/>
                  </a:lnTo>
                  <a:lnTo>
                    <a:pt x="1906757" y="182471"/>
                  </a:lnTo>
                  <a:lnTo>
                    <a:pt x="0" y="182471"/>
                  </a:lnTo>
                  <a:close/>
                </a:path>
              </a:pathLst>
            </a:custGeom>
            <a:solidFill>
              <a:srgbClr val="B8B745"/>
            </a:solidFill>
          </p:spPr>
        </p:sp>
        <p:sp>
          <p:nvSpPr>
            <p:cNvPr name="TextBox 26" id="26"/>
            <p:cNvSpPr txBox="true"/>
            <p:nvPr/>
          </p:nvSpPr>
          <p:spPr>
            <a:xfrm>
              <a:off x="0" y="-66675"/>
              <a:ext cx="1906758" cy="249146"/>
            </a:xfrm>
            <a:prstGeom prst="rect">
              <a:avLst/>
            </a:prstGeom>
          </p:spPr>
          <p:txBody>
            <a:bodyPr anchor="ctr" rtlCol="false" tIns="50800" lIns="50800" bIns="50800" rIns="50800"/>
            <a:lstStyle/>
            <a:p>
              <a:pPr algn="l">
                <a:lnSpc>
                  <a:spcPts val="3499"/>
                </a:lnSpc>
              </a:pPr>
              <a:r>
                <a:rPr lang="en-US" sz="2499" b="true">
                  <a:solidFill>
                    <a:srgbClr val="FFFFFF"/>
                  </a:solidFill>
                  <a:latin typeface="Poppins Bold"/>
                  <a:ea typeface="Poppins Bold"/>
                  <a:cs typeface="Poppins Bold"/>
                  <a:sym typeface="Poppins Bold"/>
                </a:rPr>
                <a:t>             Work Experience</a:t>
              </a:r>
            </a:p>
          </p:txBody>
        </p:sp>
      </p:grpSp>
      <p:sp>
        <p:nvSpPr>
          <p:cNvPr name="Freeform 27" id="27"/>
          <p:cNvSpPr/>
          <p:nvPr/>
        </p:nvSpPr>
        <p:spPr>
          <a:xfrm flipH="false" flipV="false" rot="0">
            <a:off x="9760828" y="2523266"/>
            <a:ext cx="692821" cy="692821"/>
          </a:xfrm>
          <a:custGeom>
            <a:avLst/>
            <a:gdLst/>
            <a:ahLst/>
            <a:cxnLst/>
            <a:rect r="r" b="b" t="t" l="l"/>
            <a:pathLst>
              <a:path h="692821" w="692821">
                <a:moveTo>
                  <a:pt x="0" y="0"/>
                </a:moveTo>
                <a:lnTo>
                  <a:pt x="692821" y="0"/>
                </a:lnTo>
                <a:lnTo>
                  <a:pt x="692821" y="692820"/>
                </a:lnTo>
                <a:lnTo>
                  <a:pt x="0" y="6928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8" id="28"/>
          <p:cNvGrpSpPr/>
          <p:nvPr/>
        </p:nvGrpSpPr>
        <p:grpSpPr>
          <a:xfrm rot="0">
            <a:off x="9760828" y="3467270"/>
            <a:ext cx="7239720" cy="1795960"/>
            <a:chOff x="0" y="0"/>
            <a:chExt cx="1906758" cy="473010"/>
          </a:xfrm>
        </p:grpSpPr>
        <p:sp>
          <p:nvSpPr>
            <p:cNvPr name="Freeform 29" id="29"/>
            <p:cNvSpPr/>
            <p:nvPr/>
          </p:nvSpPr>
          <p:spPr>
            <a:xfrm flipH="false" flipV="false" rot="0">
              <a:off x="0" y="0"/>
              <a:ext cx="1906757" cy="473010"/>
            </a:xfrm>
            <a:custGeom>
              <a:avLst/>
              <a:gdLst/>
              <a:ahLst/>
              <a:cxnLst/>
              <a:rect r="r" b="b" t="t" l="l"/>
              <a:pathLst>
                <a:path h="473010" w="1906757">
                  <a:moveTo>
                    <a:pt x="54538" y="0"/>
                  </a:moveTo>
                  <a:lnTo>
                    <a:pt x="1852220" y="0"/>
                  </a:lnTo>
                  <a:cubicBezTo>
                    <a:pt x="1882340" y="0"/>
                    <a:pt x="1906757" y="24417"/>
                    <a:pt x="1906757" y="54538"/>
                  </a:cubicBezTo>
                  <a:lnTo>
                    <a:pt x="1906757" y="418472"/>
                  </a:lnTo>
                  <a:cubicBezTo>
                    <a:pt x="1906757" y="432937"/>
                    <a:pt x="1901011" y="446809"/>
                    <a:pt x="1890784" y="457036"/>
                  </a:cubicBezTo>
                  <a:cubicBezTo>
                    <a:pt x="1880556" y="467264"/>
                    <a:pt x="1866684" y="473010"/>
                    <a:pt x="1852220" y="473010"/>
                  </a:cubicBezTo>
                  <a:lnTo>
                    <a:pt x="54538" y="473010"/>
                  </a:lnTo>
                  <a:cubicBezTo>
                    <a:pt x="24417" y="473010"/>
                    <a:pt x="0" y="448593"/>
                    <a:pt x="0" y="418472"/>
                  </a:cubicBezTo>
                  <a:lnTo>
                    <a:pt x="0" y="54538"/>
                  </a:lnTo>
                  <a:cubicBezTo>
                    <a:pt x="0" y="24417"/>
                    <a:pt x="24417" y="0"/>
                    <a:pt x="54538" y="0"/>
                  </a:cubicBezTo>
                  <a:close/>
                </a:path>
              </a:pathLst>
            </a:custGeom>
            <a:ln w="95250" cap="rnd">
              <a:solidFill>
                <a:srgbClr val="F9943B"/>
              </a:solidFill>
              <a:prstDash val="solid"/>
              <a:round/>
            </a:ln>
          </p:spPr>
        </p:sp>
        <p:sp>
          <p:nvSpPr>
            <p:cNvPr name="TextBox 30" id="30"/>
            <p:cNvSpPr txBox="true"/>
            <p:nvPr/>
          </p:nvSpPr>
          <p:spPr>
            <a:xfrm>
              <a:off x="0" y="-66675"/>
              <a:ext cx="1906758" cy="539685"/>
            </a:xfrm>
            <a:prstGeom prst="rect">
              <a:avLst/>
            </a:prstGeom>
          </p:spPr>
          <p:txBody>
            <a:bodyPr anchor="ctr" rtlCol="false" tIns="50800" lIns="50800" bIns="50800" rIns="50800"/>
            <a:lstStyle/>
            <a:p>
              <a:pPr algn="ctr">
                <a:lnSpc>
                  <a:spcPts val="3499"/>
                </a:lnSpc>
              </a:pPr>
            </a:p>
          </p:txBody>
        </p:sp>
      </p:grpSp>
      <p:sp>
        <p:nvSpPr>
          <p:cNvPr name="Freeform 31" id="31"/>
          <p:cNvSpPr/>
          <p:nvPr/>
        </p:nvSpPr>
        <p:spPr>
          <a:xfrm flipH="false" flipV="false" rot="0">
            <a:off x="14086081" y="3671866"/>
            <a:ext cx="2657160" cy="1492986"/>
          </a:xfrm>
          <a:custGeom>
            <a:avLst/>
            <a:gdLst/>
            <a:ahLst/>
            <a:cxnLst/>
            <a:rect r="r" b="b" t="t" l="l"/>
            <a:pathLst>
              <a:path h="1492986" w="2657160">
                <a:moveTo>
                  <a:pt x="0" y="0"/>
                </a:moveTo>
                <a:lnTo>
                  <a:pt x="2657160" y="0"/>
                </a:lnTo>
                <a:lnTo>
                  <a:pt x="2657160" y="1492986"/>
                </a:lnTo>
                <a:lnTo>
                  <a:pt x="0" y="1492986"/>
                </a:lnTo>
                <a:lnTo>
                  <a:pt x="0" y="0"/>
                </a:lnTo>
                <a:close/>
              </a:path>
            </a:pathLst>
          </a:custGeom>
          <a:blipFill>
            <a:blip r:embed="rId9"/>
            <a:stretch>
              <a:fillRect l="0" t="0" r="0" b="0"/>
            </a:stretch>
          </a:blipFill>
        </p:spPr>
      </p:sp>
      <p:grpSp>
        <p:nvGrpSpPr>
          <p:cNvPr name="Group 32" id="32"/>
          <p:cNvGrpSpPr/>
          <p:nvPr/>
        </p:nvGrpSpPr>
        <p:grpSpPr>
          <a:xfrm rot="0">
            <a:off x="9760828" y="5510881"/>
            <a:ext cx="7239720" cy="1795960"/>
            <a:chOff x="0" y="0"/>
            <a:chExt cx="1906758" cy="473010"/>
          </a:xfrm>
        </p:grpSpPr>
        <p:sp>
          <p:nvSpPr>
            <p:cNvPr name="Freeform 33" id="33"/>
            <p:cNvSpPr/>
            <p:nvPr/>
          </p:nvSpPr>
          <p:spPr>
            <a:xfrm flipH="false" flipV="false" rot="0">
              <a:off x="0" y="0"/>
              <a:ext cx="1906757" cy="473010"/>
            </a:xfrm>
            <a:custGeom>
              <a:avLst/>
              <a:gdLst/>
              <a:ahLst/>
              <a:cxnLst/>
              <a:rect r="r" b="b" t="t" l="l"/>
              <a:pathLst>
                <a:path h="473010" w="1906757">
                  <a:moveTo>
                    <a:pt x="54538" y="0"/>
                  </a:moveTo>
                  <a:lnTo>
                    <a:pt x="1852220" y="0"/>
                  </a:lnTo>
                  <a:cubicBezTo>
                    <a:pt x="1882340" y="0"/>
                    <a:pt x="1906757" y="24417"/>
                    <a:pt x="1906757" y="54538"/>
                  </a:cubicBezTo>
                  <a:lnTo>
                    <a:pt x="1906757" y="418472"/>
                  </a:lnTo>
                  <a:cubicBezTo>
                    <a:pt x="1906757" y="432937"/>
                    <a:pt x="1901011" y="446809"/>
                    <a:pt x="1890784" y="457036"/>
                  </a:cubicBezTo>
                  <a:cubicBezTo>
                    <a:pt x="1880556" y="467264"/>
                    <a:pt x="1866684" y="473010"/>
                    <a:pt x="1852220" y="473010"/>
                  </a:cubicBezTo>
                  <a:lnTo>
                    <a:pt x="54538" y="473010"/>
                  </a:lnTo>
                  <a:cubicBezTo>
                    <a:pt x="24417" y="473010"/>
                    <a:pt x="0" y="448593"/>
                    <a:pt x="0" y="418472"/>
                  </a:cubicBezTo>
                  <a:lnTo>
                    <a:pt x="0" y="54538"/>
                  </a:lnTo>
                  <a:cubicBezTo>
                    <a:pt x="0" y="24417"/>
                    <a:pt x="24417" y="0"/>
                    <a:pt x="54538" y="0"/>
                  </a:cubicBezTo>
                  <a:close/>
                </a:path>
              </a:pathLst>
            </a:custGeom>
            <a:ln w="95250" cap="rnd">
              <a:solidFill>
                <a:srgbClr val="F9943B"/>
              </a:solidFill>
              <a:prstDash val="solid"/>
              <a:round/>
            </a:ln>
          </p:spPr>
        </p:sp>
        <p:sp>
          <p:nvSpPr>
            <p:cNvPr name="TextBox 34" id="34"/>
            <p:cNvSpPr txBox="true"/>
            <p:nvPr/>
          </p:nvSpPr>
          <p:spPr>
            <a:xfrm>
              <a:off x="0" y="-66675"/>
              <a:ext cx="1906758" cy="539685"/>
            </a:xfrm>
            <a:prstGeom prst="rect">
              <a:avLst/>
            </a:prstGeom>
          </p:spPr>
          <p:txBody>
            <a:bodyPr anchor="ctr" rtlCol="false" tIns="50800" lIns="50800" bIns="50800" rIns="50800"/>
            <a:lstStyle/>
            <a:p>
              <a:pPr algn="ctr">
                <a:lnSpc>
                  <a:spcPts val="3499"/>
                </a:lnSpc>
              </a:pPr>
            </a:p>
          </p:txBody>
        </p:sp>
      </p:grpSp>
      <p:sp>
        <p:nvSpPr>
          <p:cNvPr name="Freeform 35" id="35"/>
          <p:cNvSpPr/>
          <p:nvPr/>
        </p:nvSpPr>
        <p:spPr>
          <a:xfrm flipH="false" flipV="false" rot="0">
            <a:off x="14578836" y="5526853"/>
            <a:ext cx="1671650" cy="1671650"/>
          </a:xfrm>
          <a:custGeom>
            <a:avLst/>
            <a:gdLst/>
            <a:ahLst/>
            <a:cxnLst/>
            <a:rect r="r" b="b" t="t" l="l"/>
            <a:pathLst>
              <a:path h="1671650" w="1671650">
                <a:moveTo>
                  <a:pt x="0" y="0"/>
                </a:moveTo>
                <a:lnTo>
                  <a:pt x="1671650" y="0"/>
                </a:lnTo>
                <a:lnTo>
                  <a:pt x="1671650" y="1671650"/>
                </a:lnTo>
                <a:lnTo>
                  <a:pt x="0" y="1671650"/>
                </a:lnTo>
                <a:lnTo>
                  <a:pt x="0" y="0"/>
                </a:lnTo>
                <a:close/>
              </a:path>
            </a:pathLst>
          </a:custGeom>
          <a:blipFill>
            <a:blip r:embed="rId10"/>
            <a:stretch>
              <a:fillRect l="0" t="0" r="0" b="0"/>
            </a:stretch>
          </a:blipFill>
        </p:spPr>
      </p:sp>
      <p:grpSp>
        <p:nvGrpSpPr>
          <p:cNvPr name="Group 36" id="36"/>
          <p:cNvGrpSpPr/>
          <p:nvPr/>
        </p:nvGrpSpPr>
        <p:grpSpPr>
          <a:xfrm rot="0">
            <a:off x="767301" y="7962657"/>
            <a:ext cx="16233247" cy="1495075"/>
            <a:chOff x="0" y="0"/>
            <a:chExt cx="1683658" cy="155064"/>
          </a:xfrm>
        </p:grpSpPr>
        <p:sp>
          <p:nvSpPr>
            <p:cNvPr name="Freeform 37" id="37"/>
            <p:cNvSpPr/>
            <p:nvPr/>
          </p:nvSpPr>
          <p:spPr>
            <a:xfrm flipH="false" flipV="false" rot="0">
              <a:off x="0" y="0"/>
              <a:ext cx="1683658" cy="155064"/>
            </a:xfrm>
            <a:custGeom>
              <a:avLst/>
              <a:gdLst/>
              <a:ahLst/>
              <a:cxnLst/>
              <a:rect r="r" b="b" t="t" l="l"/>
              <a:pathLst>
                <a:path h="155064" w="1683658">
                  <a:moveTo>
                    <a:pt x="0" y="0"/>
                  </a:moveTo>
                  <a:lnTo>
                    <a:pt x="1683658" y="0"/>
                  </a:lnTo>
                  <a:lnTo>
                    <a:pt x="1683658" y="155064"/>
                  </a:lnTo>
                  <a:lnTo>
                    <a:pt x="0" y="155064"/>
                  </a:lnTo>
                  <a:close/>
                </a:path>
              </a:pathLst>
            </a:custGeom>
            <a:ln w="142875" cap="sq">
              <a:solidFill>
                <a:srgbClr val="8A7456"/>
              </a:solidFill>
              <a:prstDash val="solid"/>
              <a:miter/>
            </a:ln>
          </p:spPr>
        </p:sp>
        <p:sp>
          <p:nvSpPr>
            <p:cNvPr name="TextBox 38" id="38"/>
            <p:cNvSpPr txBox="true"/>
            <p:nvPr/>
          </p:nvSpPr>
          <p:spPr>
            <a:xfrm>
              <a:off x="0" y="-57150"/>
              <a:ext cx="1683658" cy="212214"/>
            </a:xfrm>
            <a:prstGeom prst="rect">
              <a:avLst/>
            </a:prstGeom>
          </p:spPr>
          <p:txBody>
            <a:bodyPr anchor="ctr" rtlCol="false" tIns="50800" lIns="50800" bIns="50800" rIns="50800"/>
            <a:lstStyle/>
            <a:p>
              <a:pPr algn="l">
                <a:lnSpc>
                  <a:spcPts val="3080"/>
                </a:lnSpc>
              </a:pPr>
            </a:p>
            <a:p>
              <a:pPr algn="l">
                <a:lnSpc>
                  <a:spcPts val="3080"/>
                </a:lnSpc>
              </a:pPr>
            </a:p>
          </p:txBody>
        </p:sp>
      </p:grpSp>
      <p:sp>
        <p:nvSpPr>
          <p:cNvPr name="Freeform 39" id="39"/>
          <p:cNvSpPr/>
          <p:nvPr/>
        </p:nvSpPr>
        <p:spPr>
          <a:xfrm flipH="false" flipV="false" rot="0">
            <a:off x="2818533" y="8075406"/>
            <a:ext cx="1232118" cy="1232118"/>
          </a:xfrm>
          <a:custGeom>
            <a:avLst/>
            <a:gdLst/>
            <a:ahLst/>
            <a:cxnLst/>
            <a:rect r="r" b="b" t="t" l="l"/>
            <a:pathLst>
              <a:path h="1232118" w="1232118">
                <a:moveTo>
                  <a:pt x="0" y="0"/>
                </a:moveTo>
                <a:lnTo>
                  <a:pt x="1232117" y="0"/>
                </a:lnTo>
                <a:lnTo>
                  <a:pt x="1232117" y="1232117"/>
                </a:lnTo>
                <a:lnTo>
                  <a:pt x="0" y="1232117"/>
                </a:lnTo>
                <a:lnTo>
                  <a:pt x="0" y="0"/>
                </a:lnTo>
                <a:close/>
              </a:path>
            </a:pathLst>
          </a:custGeom>
          <a:blipFill>
            <a:blip r:embed="rId11"/>
            <a:stretch>
              <a:fillRect l="0" t="0" r="0" b="0"/>
            </a:stretch>
          </a:blipFill>
        </p:spPr>
      </p:sp>
      <p:sp>
        <p:nvSpPr>
          <p:cNvPr name="Freeform 40" id="40"/>
          <p:cNvSpPr/>
          <p:nvPr/>
        </p:nvSpPr>
        <p:spPr>
          <a:xfrm flipH="false" flipV="false" rot="0">
            <a:off x="4612625" y="8210505"/>
            <a:ext cx="2141527" cy="999379"/>
          </a:xfrm>
          <a:custGeom>
            <a:avLst/>
            <a:gdLst/>
            <a:ahLst/>
            <a:cxnLst/>
            <a:rect r="r" b="b" t="t" l="l"/>
            <a:pathLst>
              <a:path h="999379" w="2141527">
                <a:moveTo>
                  <a:pt x="0" y="0"/>
                </a:moveTo>
                <a:lnTo>
                  <a:pt x="2141528" y="0"/>
                </a:lnTo>
                <a:lnTo>
                  <a:pt x="2141528" y="999379"/>
                </a:lnTo>
                <a:lnTo>
                  <a:pt x="0" y="999379"/>
                </a:lnTo>
                <a:lnTo>
                  <a:pt x="0" y="0"/>
                </a:lnTo>
                <a:close/>
              </a:path>
            </a:pathLst>
          </a:custGeom>
          <a:blipFill>
            <a:blip r:embed="rId12"/>
            <a:stretch>
              <a:fillRect l="0" t="0" r="0" b="0"/>
            </a:stretch>
          </a:blipFill>
        </p:spPr>
      </p:sp>
      <p:sp>
        <p:nvSpPr>
          <p:cNvPr name="Freeform 41" id="41"/>
          <p:cNvSpPr/>
          <p:nvPr/>
        </p:nvSpPr>
        <p:spPr>
          <a:xfrm flipH="false" flipV="false" rot="0">
            <a:off x="7248555" y="8131116"/>
            <a:ext cx="1203433" cy="1120697"/>
          </a:xfrm>
          <a:custGeom>
            <a:avLst/>
            <a:gdLst/>
            <a:ahLst/>
            <a:cxnLst/>
            <a:rect r="r" b="b" t="t" l="l"/>
            <a:pathLst>
              <a:path h="1120697" w="1203433">
                <a:moveTo>
                  <a:pt x="0" y="0"/>
                </a:moveTo>
                <a:lnTo>
                  <a:pt x="1203433" y="0"/>
                </a:lnTo>
                <a:lnTo>
                  <a:pt x="1203433" y="1120697"/>
                </a:lnTo>
                <a:lnTo>
                  <a:pt x="0" y="1120697"/>
                </a:lnTo>
                <a:lnTo>
                  <a:pt x="0" y="0"/>
                </a:lnTo>
                <a:close/>
              </a:path>
            </a:pathLst>
          </a:custGeom>
          <a:blipFill>
            <a:blip r:embed="rId13"/>
            <a:stretch>
              <a:fillRect l="0" t="0" r="0" b="0"/>
            </a:stretch>
          </a:blipFill>
        </p:spPr>
      </p:sp>
      <p:sp>
        <p:nvSpPr>
          <p:cNvPr name="Freeform 42" id="42"/>
          <p:cNvSpPr/>
          <p:nvPr/>
        </p:nvSpPr>
        <p:spPr>
          <a:xfrm flipH="false" flipV="false" rot="0">
            <a:off x="9201794" y="8152080"/>
            <a:ext cx="2508805" cy="1078768"/>
          </a:xfrm>
          <a:custGeom>
            <a:avLst/>
            <a:gdLst/>
            <a:ahLst/>
            <a:cxnLst/>
            <a:rect r="r" b="b" t="t" l="l"/>
            <a:pathLst>
              <a:path h="1078768" w="2508805">
                <a:moveTo>
                  <a:pt x="0" y="0"/>
                </a:moveTo>
                <a:lnTo>
                  <a:pt x="2508805" y="0"/>
                </a:lnTo>
                <a:lnTo>
                  <a:pt x="2508805" y="1078769"/>
                </a:lnTo>
                <a:lnTo>
                  <a:pt x="0" y="1078769"/>
                </a:lnTo>
                <a:lnTo>
                  <a:pt x="0" y="0"/>
                </a:lnTo>
                <a:close/>
              </a:path>
            </a:pathLst>
          </a:custGeom>
          <a:blipFill>
            <a:blip r:embed="rId14"/>
            <a:stretch>
              <a:fillRect l="0" t="0" r="0" b="0"/>
            </a:stretch>
          </a:blipFill>
        </p:spPr>
      </p:sp>
      <p:sp>
        <p:nvSpPr>
          <p:cNvPr name="Freeform 43" id="43"/>
          <p:cNvSpPr/>
          <p:nvPr/>
        </p:nvSpPr>
        <p:spPr>
          <a:xfrm flipH="false" flipV="false" rot="0">
            <a:off x="12342731" y="8099544"/>
            <a:ext cx="1037957" cy="1110340"/>
          </a:xfrm>
          <a:custGeom>
            <a:avLst/>
            <a:gdLst/>
            <a:ahLst/>
            <a:cxnLst/>
            <a:rect r="r" b="b" t="t" l="l"/>
            <a:pathLst>
              <a:path h="1110340" w="1037957">
                <a:moveTo>
                  <a:pt x="0" y="0"/>
                </a:moveTo>
                <a:lnTo>
                  <a:pt x="1037957" y="0"/>
                </a:lnTo>
                <a:lnTo>
                  <a:pt x="1037957" y="1110340"/>
                </a:lnTo>
                <a:lnTo>
                  <a:pt x="0" y="1110340"/>
                </a:lnTo>
                <a:lnTo>
                  <a:pt x="0" y="0"/>
                </a:lnTo>
                <a:close/>
              </a:path>
            </a:pathLst>
          </a:custGeom>
          <a:blipFill>
            <a:blip r:embed="rId15"/>
            <a:stretch>
              <a:fillRect l="-1605" t="0" r="-1605" b="0"/>
            </a:stretch>
          </a:blipFill>
        </p:spPr>
      </p:sp>
      <p:sp>
        <p:nvSpPr>
          <p:cNvPr name="TextBox 44" id="44"/>
          <p:cNvSpPr txBox="true"/>
          <p:nvPr/>
        </p:nvSpPr>
        <p:spPr>
          <a:xfrm rot="0">
            <a:off x="1641663" y="3693554"/>
            <a:ext cx="1188190" cy="283173"/>
          </a:xfrm>
          <a:prstGeom prst="rect">
            <a:avLst/>
          </a:prstGeom>
        </p:spPr>
        <p:txBody>
          <a:bodyPr anchor="t" rtlCol="false" tIns="0" lIns="0" bIns="0" rIns="0">
            <a:spAutoFit/>
          </a:bodyPr>
          <a:lstStyle/>
          <a:p>
            <a:pPr algn="ctr">
              <a:lnSpc>
                <a:spcPts val="2240"/>
              </a:lnSpc>
              <a:spcBef>
                <a:spcPct val="0"/>
              </a:spcBef>
            </a:pPr>
            <a:r>
              <a:rPr lang="en-US" sz="1600">
                <a:solidFill>
                  <a:srgbClr val="FFFFFF"/>
                </a:solidFill>
                <a:latin typeface="Poppins"/>
                <a:ea typeface="Poppins"/>
                <a:cs typeface="Poppins"/>
                <a:sym typeface="Poppins"/>
              </a:rPr>
              <a:t>2022 - 2028</a:t>
            </a:r>
          </a:p>
        </p:txBody>
      </p:sp>
      <p:sp>
        <p:nvSpPr>
          <p:cNvPr name="TextBox 45" id="45"/>
          <p:cNvSpPr txBox="true"/>
          <p:nvPr/>
        </p:nvSpPr>
        <p:spPr>
          <a:xfrm rot="0">
            <a:off x="1602607" y="4043110"/>
            <a:ext cx="2731582" cy="375249"/>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Poppins Bold"/>
                <a:ea typeface="Poppins Bold"/>
                <a:cs typeface="Poppins Bold"/>
                <a:sym typeface="Poppins Bold"/>
              </a:rPr>
              <a:t>Information System</a:t>
            </a:r>
          </a:p>
        </p:txBody>
      </p:sp>
      <p:sp>
        <p:nvSpPr>
          <p:cNvPr name="TextBox 46" id="46"/>
          <p:cNvSpPr txBox="true"/>
          <p:nvPr/>
        </p:nvSpPr>
        <p:spPr>
          <a:xfrm rot="0">
            <a:off x="1602607" y="4484742"/>
            <a:ext cx="2431851" cy="375249"/>
          </a:xfrm>
          <a:prstGeom prst="rect">
            <a:avLst/>
          </a:prstGeom>
        </p:spPr>
        <p:txBody>
          <a:bodyPr anchor="t" rtlCol="false" tIns="0" lIns="0" bIns="0" rIns="0">
            <a:spAutoFit/>
          </a:bodyPr>
          <a:lstStyle/>
          <a:p>
            <a:pPr algn="ctr">
              <a:lnSpc>
                <a:spcPts val="2940"/>
              </a:lnSpc>
              <a:spcBef>
                <a:spcPct val="0"/>
              </a:spcBef>
            </a:pPr>
            <a:r>
              <a:rPr lang="en-US" sz="2100">
                <a:solidFill>
                  <a:srgbClr val="FFFFFF"/>
                </a:solidFill>
                <a:latin typeface="Poppins"/>
                <a:ea typeface="Poppins"/>
                <a:cs typeface="Poppins"/>
                <a:sym typeface="Poppins"/>
              </a:rPr>
              <a:t>Terbuka University</a:t>
            </a:r>
          </a:p>
        </p:txBody>
      </p:sp>
      <p:sp>
        <p:nvSpPr>
          <p:cNvPr name="TextBox 47" id="47"/>
          <p:cNvSpPr txBox="true"/>
          <p:nvPr/>
        </p:nvSpPr>
        <p:spPr>
          <a:xfrm rot="0">
            <a:off x="1641663" y="5777581"/>
            <a:ext cx="2856868" cy="283173"/>
          </a:xfrm>
          <a:prstGeom prst="rect">
            <a:avLst/>
          </a:prstGeom>
        </p:spPr>
        <p:txBody>
          <a:bodyPr anchor="t" rtlCol="false" tIns="0" lIns="0" bIns="0" rIns="0">
            <a:spAutoFit/>
          </a:bodyPr>
          <a:lstStyle/>
          <a:p>
            <a:pPr algn="ctr">
              <a:lnSpc>
                <a:spcPts val="2240"/>
              </a:lnSpc>
              <a:spcBef>
                <a:spcPct val="0"/>
              </a:spcBef>
            </a:pPr>
            <a:r>
              <a:rPr lang="en-US" sz="1600">
                <a:solidFill>
                  <a:srgbClr val="FFFFFF"/>
                </a:solidFill>
                <a:latin typeface="Poppins"/>
                <a:ea typeface="Poppins"/>
                <a:cs typeface="Poppins"/>
                <a:sym typeface="Poppins"/>
              </a:rPr>
              <a:t>January 2026 - August 2026</a:t>
            </a:r>
          </a:p>
        </p:txBody>
      </p:sp>
      <p:sp>
        <p:nvSpPr>
          <p:cNvPr name="TextBox 48" id="48"/>
          <p:cNvSpPr txBox="true"/>
          <p:nvPr/>
        </p:nvSpPr>
        <p:spPr>
          <a:xfrm rot="0">
            <a:off x="1641663" y="6192661"/>
            <a:ext cx="3268987" cy="375249"/>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Poppins Bold"/>
                <a:ea typeface="Poppins Bold"/>
                <a:cs typeface="Poppins Bold"/>
                <a:sym typeface="Poppins Bold"/>
              </a:rPr>
              <a:t>Bootcamp Data Analyst</a:t>
            </a:r>
          </a:p>
        </p:txBody>
      </p:sp>
      <p:sp>
        <p:nvSpPr>
          <p:cNvPr name="TextBox 49" id="49"/>
          <p:cNvSpPr txBox="true"/>
          <p:nvPr/>
        </p:nvSpPr>
        <p:spPr>
          <a:xfrm rot="0">
            <a:off x="1641663" y="6634585"/>
            <a:ext cx="1371654" cy="375249"/>
          </a:xfrm>
          <a:prstGeom prst="rect">
            <a:avLst/>
          </a:prstGeom>
        </p:spPr>
        <p:txBody>
          <a:bodyPr anchor="t" rtlCol="false" tIns="0" lIns="0" bIns="0" rIns="0">
            <a:spAutoFit/>
          </a:bodyPr>
          <a:lstStyle/>
          <a:p>
            <a:pPr algn="ctr">
              <a:lnSpc>
                <a:spcPts val="2940"/>
              </a:lnSpc>
              <a:spcBef>
                <a:spcPct val="0"/>
              </a:spcBef>
            </a:pPr>
            <a:r>
              <a:rPr lang="en-US" sz="2100">
                <a:solidFill>
                  <a:srgbClr val="FFFFFF"/>
                </a:solidFill>
                <a:latin typeface="Poppins"/>
                <a:ea typeface="Poppins"/>
                <a:cs typeface="Poppins"/>
                <a:sym typeface="Poppins"/>
              </a:rPr>
              <a:t>Dibimbing</a:t>
            </a:r>
          </a:p>
        </p:txBody>
      </p:sp>
      <p:sp>
        <p:nvSpPr>
          <p:cNvPr name="TextBox 50" id="50"/>
          <p:cNvSpPr txBox="true"/>
          <p:nvPr/>
        </p:nvSpPr>
        <p:spPr>
          <a:xfrm rot="0">
            <a:off x="10099030" y="3693554"/>
            <a:ext cx="1149133" cy="283173"/>
          </a:xfrm>
          <a:prstGeom prst="rect">
            <a:avLst/>
          </a:prstGeom>
        </p:spPr>
        <p:txBody>
          <a:bodyPr anchor="t" rtlCol="false" tIns="0" lIns="0" bIns="0" rIns="0">
            <a:spAutoFit/>
          </a:bodyPr>
          <a:lstStyle/>
          <a:p>
            <a:pPr algn="ctr">
              <a:lnSpc>
                <a:spcPts val="2240"/>
              </a:lnSpc>
              <a:spcBef>
                <a:spcPct val="0"/>
              </a:spcBef>
            </a:pPr>
            <a:r>
              <a:rPr lang="en-US" sz="1600">
                <a:solidFill>
                  <a:srgbClr val="FFFFFF"/>
                </a:solidFill>
                <a:latin typeface="Poppins"/>
                <a:ea typeface="Poppins"/>
                <a:cs typeface="Poppins"/>
                <a:sym typeface="Poppins"/>
              </a:rPr>
              <a:t>2024 - Now</a:t>
            </a:r>
          </a:p>
        </p:txBody>
      </p:sp>
      <p:sp>
        <p:nvSpPr>
          <p:cNvPr name="TextBox 51" id="51"/>
          <p:cNvSpPr txBox="true"/>
          <p:nvPr/>
        </p:nvSpPr>
        <p:spPr>
          <a:xfrm rot="0">
            <a:off x="10079502" y="4060497"/>
            <a:ext cx="2063479" cy="375249"/>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Poppins Bold"/>
                <a:ea typeface="Poppins Bold"/>
                <a:cs typeface="Poppins Bold"/>
                <a:sym typeface="Poppins Bold"/>
              </a:rPr>
              <a:t>Assistant Cook</a:t>
            </a:r>
          </a:p>
        </p:txBody>
      </p:sp>
      <p:sp>
        <p:nvSpPr>
          <p:cNvPr name="TextBox 52" id="52"/>
          <p:cNvSpPr txBox="true"/>
          <p:nvPr/>
        </p:nvSpPr>
        <p:spPr>
          <a:xfrm rot="0">
            <a:off x="10079502" y="4519515"/>
            <a:ext cx="1753556" cy="375249"/>
          </a:xfrm>
          <a:prstGeom prst="rect">
            <a:avLst/>
          </a:prstGeom>
        </p:spPr>
        <p:txBody>
          <a:bodyPr anchor="t" rtlCol="false" tIns="0" lIns="0" bIns="0" rIns="0">
            <a:spAutoFit/>
          </a:bodyPr>
          <a:lstStyle/>
          <a:p>
            <a:pPr algn="ctr">
              <a:lnSpc>
                <a:spcPts val="2940"/>
              </a:lnSpc>
              <a:spcBef>
                <a:spcPct val="0"/>
              </a:spcBef>
            </a:pPr>
            <a:r>
              <a:rPr lang="en-US" sz="2100">
                <a:solidFill>
                  <a:srgbClr val="FFFFFF"/>
                </a:solidFill>
                <a:latin typeface="Poppins"/>
                <a:ea typeface="Poppins"/>
                <a:cs typeface="Poppins"/>
                <a:sym typeface="Poppins"/>
              </a:rPr>
              <a:t>Yummy Corp</a:t>
            </a:r>
          </a:p>
        </p:txBody>
      </p:sp>
      <p:sp>
        <p:nvSpPr>
          <p:cNvPr name="TextBox 53" id="53"/>
          <p:cNvSpPr txBox="true"/>
          <p:nvPr/>
        </p:nvSpPr>
        <p:spPr>
          <a:xfrm rot="0">
            <a:off x="10086493" y="5777581"/>
            <a:ext cx="1190625" cy="283173"/>
          </a:xfrm>
          <a:prstGeom prst="rect">
            <a:avLst/>
          </a:prstGeom>
        </p:spPr>
        <p:txBody>
          <a:bodyPr anchor="t" rtlCol="false" tIns="0" lIns="0" bIns="0" rIns="0">
            <a:spAutoFit/>
          </a:bodyPr>
          <a:lstStyle/>
          <a:p>
            <a:pPr algn="ctr">
              <a:lnSpc>
                <a:spcPts val="2240"/>
              </a:lnSpc>
              <a:spcBef>
                <a:spcPct val="0"/>
              </a:spcBef>
            </a:pPr>
            <a:r>
              <a:rPr lang="en-US" sz="1600">
                <a:solidFill>
                  <a:srgbClr val="FFFFFF"/>
                </a:solidFill>
                <a:latin typeface="Poppins"/>
                <a:ea typeface="Poppins"/>
                <a:cs typeface="Poppins"/>
                <a:sym typeface="Poppins"/>
              </a:rPr>
              <a:t>2023 - 2024</a:t>
            </a:r>
          </a:p>
        </p:txBody>
      </p:sp>
      <p:sp>
        <p:nvSpPr>
          <p:cNvPr name="TextBox 54" id="54"/>
          <p:cNvSpPr txBox="true"/>
          <p:nvPr/>
        </p:nvSpPr>
        <p:spPr>
          <a:xfrm rot="0">
            <a:off x="10079502" y="6146479"/>
            <a:ext cx="2063479" cy="375249"/>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Poppins Bold"/>
                <a:ea typeface="Poppins Bold"/>
                <a:cs typeface="Poppins Bold"/>
                <a:sym typeface="Poppins Bold"/>
              </a:rPr>
              <a:t>Assistant Cook</a:t>
            </a:r>
          </a:p>
        </p:txBody>
      </p:sp>
      <p:sp>
        <p:nvSpPr>
          <p:cNvPr name="TextBox 55" id="55"/>
          <p:cNvSpPr txBox="true"/>
          <p:nvPr/>
        </p:nvSpPr>
        <p:spPr>
          <a:xfrm rot="0">
            <a:off x="10099030" y="6634585"/>
            <a:ext cx="2020274" cy="375249"/>
          </a:xfrm>
          <a:prstGeom prst="rect">
            <a:avLst/>
          </a:prstGeom>
        </p:spPr>
        <p:txBody>
          <a:bodyPr anchor="t" rtlCol="false" tIns="0" lIns="0" bIns="0" rIns="0">
            <a:spAutoFit/>
          </a:bodyPr>
          <a:lstStyle/>
          <a:p>
            <a:pPr algn="ctr">
              <a:lnSpc>
                <a:spcPts val="2940"/>
              </a:lnSpc>
              <a:spcBef>
                <a:spcPct val="0"/>
              </a:spcBef>
            </a:pPr>
            <a:r>
              <a:rPr lang="en-US" sz="2100">
                <a:solidFill>
                  <a:srgbClr val="FFFFFF"/>
                </a:solidFill>
                <a:latin typeface="Poppins"/>
                <a:ea typeface="Poppins"/>
                <a:cs typeface="Poppins"/>
                <a:sym typeface="Poppins"/>
              </a:rPr>
              <a:t>BKB Restaurant</a:t>
            </a:r>
          </a:p>
        </p:txBody>
      </p:sp>
      <p:sp>
        <p:nvSpPr>
          <p:cNvPr name="TextBox 56" id="56"/>
          <p:cNvSpPr txBox="true"/>
          <p:nvPr/>
        </p:nvSpPr>
        <p:spPr>
          <a:xfrm rot="0">
            <a:off x="1358547" y="8437446"/>
            <a:ext cx="902259" cy="441361"/>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oppins"/>
                <a:ea typeface="Poppins"/>
                <a:cs typeface="Poppins"/>
                <a:sym typeface="Poppins"/>
              </a:rPr>
              <a:t>Skills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962025"/>
            <a:ext cx="5133199" cy="1221770"/>
            <a:chOff x="0" y="0"/>
            <a:chExt cx="1351954" cy="321783"/>
          </a:xfrm>
        </p:grpSpPr>
        <p:sp>
          <p:nvSpPr>
            <p:cNvPr name="Freeform 4" id="4"/>
            <p:cNvSpPr/>
            <p:nvPr/>
          </p:nvSpPr>
          <p:spPr>
            <a:xfrm flipH="false" flipV="false" rot="0">
              <a:off x="0" y="0"/>
              <a:ext cx="1351954" cy="321783"/>
            </a:xfrm>
            <a:custGeom>
              <a:avLst/>
              <a:gdLst/>
              <a:ahLst/>
              <a:cxnLst/>
              <a:rect r="r" b="b" t="t" l="l"/>
              <a:pathLst>
                <a:path h="321783" w="1351954">
                  <a:moveTo>
                    <a:pt x="76918" y="0"/>
                  </a:moveTo>
                  <a:lnTo>
                    <a:pt x="1275035" y="0"/>
                  </a:lnTo>
                  <a:cubicBezTo>
                    <a:pt x="1295435" y="0"/>
                    <a:pt x="1315000" y="8104"/>
                    <a:pt x="1329425" y="22529"/>
                  </a:cubicBezTo>
                  <a:cubicBezTo>
                    <a:pt x="1343850" y="36954"/>
                    <a:pt x="1351954" y="56518"/>
                    <a:pt x="1351954" y="76918"/>
                  </a:cubicBezTo>
                  <a:lnTo>
                    <a:pt x="1351954" y="244865"/>
                  </a:lnTo>
                  <a:cubicBezTo>
                    <a:pt x="1351954" y="287345"/>
                    <a:pt x="1317516" y="321783"/>
                    <a:pt x="1275035" y="321783"/>
                  </a:cubicBezTo>
                  <a:lnTo>
                    <a:pt x="76918" y="321783"/>
                  </a:lnTo>
                  <a:cubicBezTo>
                    <a:pt x="34438" y="321783"/>
                    <a:pt x="0" y="287345"/>
                    <a:pt x="0" y="244865"/>
                  </a:cubicBezTo>
                  <a:lnTo>
                    <a:pt x="0" y="76918"/>
                  </a:lnTo>
                  <a:cubicBezTo>
                    <a:pt x="0" y="56518"/>
                    <a:pt x="8104" y="36954"/>
                    <a:pt x="22529" y="22529"/>
                  </a:cubicBezTo>
                  <a:cubicBezTo>
                    <a:pt x="36954" y="8104"/>
                    <a:pt x="56518" y="0"/>
                    <a:pt x="76918" y="0"/>
                  </a:cubicBezTo>
                  <a:close/>
                </a:path>
              </a:pathLst>
            </a:custGeom>
            <a:ln w="142875" cap="rnd">
              <a:solidFill>
                <a:srgbClr val="9A9ED9"/>
              </a:solidFill>
              <a:prstDash val="solid"/>
              <a:round/>
            </a:ln>
          </p:spPr>
        </p:sp>
        <p:sp>
          <p:nvSpPr>
            <p:cNvPr name="TextBox 5" id="5"/>
            <p:cNvSpPr txBox="true"/>
            <p:nvPr/>
          </p:nvSpPr>
          <p:spPr>
            <a:xfrm>
              <a:off x="0" y="-66675"/>
              <a:ext cx="1351954" cy="388458"/>
            </a:xfrm>
            <a:prstGeom prst="rect">
              <a:avLst/>
            </a:prstGeom>
          </p:spPr>
          <p:txBody>
            <a:bodyPr anchor="ctr" rtlCol="false" tIns="50800" lIns="50800" bIns="50800" rIns="50800"/>
            <a:lstStyle/>
            <a:p>
              <a:pPr algn="ctr">
                <a:lnSpc>
                  <a:spcPts val="3499"/>
                </a:lnSpc>
              </a:pPr>
              <a:r>
                <a:rPr lang="en-US" b="true" sz="2499">
                  <a:solidFill>
                    <a:srgbClr val="FFFFFF"/>
                  </a:solidFill>
                  <a:latin typeface="Poppins Bold"/>
                  <a:ea typeface="Poppins Bold"/>
                  <a:cs typeface="Poppins Bold"/>
                  <a:sym typeface="Poppins Bold"/>
                </a:rPr>
                <a:t>Project Overview</a:t>
              </a:r>
            </a:p>
          </p:txBody>
        </p:sp>
      </p:grpSp>
      <p:grpSp>
        <p:nvGrpSpPr>
          <p:cNvPr name="Group 6" id="6"/>
          <p:cNvGrpSpPr/>
          <p:nvPr/>
        </p:nvGrpSpPr>
        <p:grpSpPr>
          <a:xfrm rot="0">
            <a:off x="1028700" y="2421920"/>
            <a:ext cx="5268413" cy="5270837"/>
            <a:chOff x="0" y="0"/>
            <a:chExt cx="1387566" cy="1388204"/>
          </a:xfrm>
        </p:grpSpPr>
        <p:sp>
          <p:nvSpPr>
            <p:cNvPr name="Freeform 7" id="7"/>
            <p:cNvSpPr/>
            <p:nvPr/>
          </p:nvSpPr>
          <p:spPr>
            <a:xfrm flipH="false" flipV="false" rot="0">
              <a:off x="0" y="0"/>
              <a:ext cx="1387566" cy="1388204"/>
            </a:xfrm>
            <a:custGeom>
              <a:avLst/>
              <a:gdLst/>
              <a:ahLst/>
              <a:cxnLst/>
              <a:rect r="r" b="b" t="t" l="l"/>
              <a:pathLst>
                <a:path h="1388204" w="1387566">
                  <a:moveTo>
                    <a:pt x="0" y="0"/>
                  </a:moveTo>
                  <a:lnTo>
                    <a:pt x="1387566" y="0"/>
                  </a:lnTo>
                  <a:lnTo>
                    <a:pt x="1387566" y="1388204"/>
                  </a:lnTo>
                  <a:lnTo>
                    <a:pt x="0" y="1388204"/>
                  </a:lnTo>
                  <a:close/>
                </a:path>
              </a:pathLst>
            </a:custGeom>
            <a:ln w="95250" cap="sq">
              <a:solidFill>
                <a:srgbClr val="9A9ED9"/>
              </a:solidFill>
              <a:prstDash val="solid"/>
              <a:miter/>
            </a:ln>
          </p:spPr>
        </p:sp>
        <p:sp>
          <p:nvSpPr>
            <p:cNvPr name="TextBox 8" id="8"/>
            <p:cNvSpPr txBox="true"/>
            <p:nvPr/>
          </p:nvSpPr>
          <p:spPr>
            <a:xfrm>
              <a:off x="0" y="-66675"/>
              <a:ext cx="1387566" cy="1454879"/>
            </a:xfrm>
            <a:prstGeom prst="rect">
              <a:avLst/>
            </a:prstGeom>
          </p:spPr>
          <p:txBody>
            <a:bodyPr anchor="ctr" rtlCol="false" tIns="50800" lIns="50800" bIns="50800" rIns="50800"/>
            <a:lstStyle/>
            <a:p>
              <a:pPr algn="ctr">
                <a:lnSpc>
                  <a:spcPts val="3499"/>
                </a:lnSpc>
              </a:pPr>
            </a:p>
          </p:txBody>
        </p:sp>
      </p:grpSp>
      <p:sp>
        <p:nvSpPr>
          <p:cNvPr name="Freeform 9" id="9"/>
          <p:cNvSpPr/>
          <p:nvPr/>
        </p:nvSpPr>
        <p:spPr>
          <a:xfrm flipH="false" flipV="false" rot="0">
            <a:off x="1262765" y="3857854"/>
            <a:ext cx="4800283" cy="2666179"/>
          </a:xfrm>
          <a:custGeom>
            <a:avLst/>
            <a:gdLst/>
            <a:ahLst/>
            <a:cxnLst/>
            <a:rect r="r" b="b" t="t" l="l"/>
            <a:pathLst>
              <a:path h="2666179" w="4800283">
                <a:moveTo>
                  <a:pt x="0" y="0"/>
                </a:moveTo>
                <a:lnTo>
                  <a:pt x="4800283" y="0"/>
                </a:lnTo>
                <a:lnTo>
                  <a:pt x="4800283" y="2666179"/>
                </a:lnTo>
                <a:lnTo>
                  <a:pt x="0" y="2666179"/>
                </a:lnTo>
                <a:lnTo>
                  <a:pt x="0" y="0"/>
                </a:lnTo>
                <a:close/>
              </a:path>
            </a:pathLst>
          </a:custGeom>
          <a:blipFill>
            <a:blip r:embed="rId3"/>
            <a:stretch>
              <a:fillRect l="0" t="-1266" r="0" b="-1266"/>
            </a:stretch>
          </a:blipFill>
        </p:spPr>
      </p:sp>
      <p:grpSp>
        <p:nvGrpSpPr>
          <p:cNvPr name="Group 10" id="10"/>
          <p:cNvGrpSpPr/>
          <p:nvPr/>
        </p:nvGrpSpPr>
        <p:grpSpPr>
          <a:xfrm rot="0">
            <a:off x="6509793" y="2451487"/>
            <a:ext cx="5268413" cy="4072546"/>
            <a:chOff x="0" y="0"/>
            <a:chExt cx="1387566" cy="1072605"/>
          </a:xfrm>
        </p:grpSpPr>
        <p:sp>
          <p:nvSpPr>
            <p:cNvPr name="Freeform 11" id="11"/>
            <p:cNvSpPr/>
            <p:nvPr/>
          </p:nvSpPr>
          <p:spPr>
            <a:xfrm flipH="false" flipV="false" rot="0">
              <a:off x="0" y="0"/>
              <a:ext cx="1387566" cy="1072605"/>
            </a:xfrm>
            <a:custGeom>
              <a:avLst/>
              <a:gdLst/>
              <a:ahLst/>
              <a:cxnLst/>
              <a:rect r="r" b="b" t="t" l="l"/>
              <a:pathLst>
                <a:path h="1072605" w="1387566">
                  <a:moveTo>
                    <a:pt x="0" y="0"/>
                  </a:moveTo>
                  <a:lnTo>
                    <a:pt x="1387566" y="0"/>
                  </a:lnTo>
                  <a:lnTo>
                    <a:pt x="1387566" y="1072605"/>
                  </a:lnTo>
                  <a:lnTo>
                    <a:pt x="0" y="1072605"/>
                  </a:lnTo>
                  <a:close/>
                </a:path>
              </a:pathLst>
            </a:custGeom>
            <a:ln w="95250" cap="sq">
              <a:solidFill>
                <a:srgbClr val="9A9ED9"/>
              </a:solidFill>
              <a:prstDash val="solid"/>
              <a:miter/>
            </a:ln>
          </p:spPr>
        </p:sp>
        <p:sp>
          <p:nvSpPr>
            <p:cNvPr name="TextBox 12" id="12"/>
            <p:cNvSpPr txBox="true"/>
            <p:nvPr/>
          </p:nvSpPr>
          <p:spPr>
            <a:xfrm>
              <a:off x="0" y="-66675"/>
              <a:ext cx="1387566" cy="1139280"/>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2225882" y="2451487"/>
            <a:ext cx="5268413" cy="2739456"/>
            <a:chOff x="0" y="0"/>
            <a:chExt cx="1387566" cy="721503"/>
          </a:xfrm>
        </p:grpSpPr>
        <p:sp>
          <p:nvSpPr>
            <p:cNvPr name="Freeform 14" id="14"/>
            <p:cNvSpPr/>
            <p:nvPr/>
          </p:nvSpPr>
          <p:spPr>
            <a:xfrm flipH="false" flipV="false" rot="0">
              <a:off x="0" y="0"/>
              <a:ext cx="1387566" cy="721503"/>
            </a:xfrm>
            <a:custGeom>
              <a:avLst/>
              <a:gdLst/>
              <a:ahLst/>
              <a:cxnLst/>
              <a:rect r="r" b="b" t="t" l="l"/>
              <a:pathLst>
                <a:path h="721503" w="1387566">
                  <a:moveTo>
                    <a:pt x="0" y="0"/>
                  </a:moveTo>
                  <a:lnTo>
                    <a:pt x="1387566" y="0"/>
                  </a:lnTo>
                  <a:lnTo>
                    <a:pt x="1387566" y="721503"/>
                  </a:lnTo>
                  <a:lnTo>
                    <a:pt x="0" y="721503"/>
                  </a:lnTo>
                  <a:close/>
                </a:path>
              </a:pathLst>
            </a:custGeom>
            <a:ln w="95250" cap="sq">
              <a:solidFill>
                <a:srgbClr val="9A9ED9"/>
              </a:solidFill>
              <a:prstDash val="solid"/>
              <a:miter/>
            </a:ln>
          </p:spPr>
        </p:sp>
        <p:sp>
          <p:nvSpPr>
            <p:cNvPr name="TextBox 15" id="15"/>
            <p:cNvSpPr txBox="true"/>
            <p:nvPr/>
          </p:nvSpPr>
          <p:spPr>
            <a:xfrm>
              <a:off x="0" y="-66675"/>
              <a:ext cx="1387566" cy="788178"/>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12225882" y="5333818"/>
            <a:ext cx="5268413" cy="2358939"/>
            <a:chOff x="0" y="0"/>
            <a:chExt cx="1387566" cy="621284"/>
          </a:xfrm>
        </p:grpSpPr>
        <p:sp>
          <p:nvSpPr>
            <p:cNvPr name="Freeform 17" id="17"/>
            <p:cNvSpPr/>
            <p:nvPr/>
          </p:nvSpPr>
          <p:spPr>
            <a:xfrm flipH="false" flipV="false" rot="0">
              <a:off x="0" y="0"/>
              <a:ext cx="1387566" cy="621284"/>
            </a:xfrm>
            <a:custGeom>
              <a:avLst/>
              <a:gdLst/>
              <a:ahLst/>
              <a:cxnLst/>
              <a:rect r="r" b="b" t="t" l="l"/>
              <a:pathLst>
                <a:path h="621284" w="1387566">
                  <a:moveTo>
                    <a:pt x="0" y="0"/>
                  </a:moveTo>
                  <a:lnTo>
                    <a:pt x="1387566" y="0"/>
                  </a:lnTo>
                  <a:lnTo>
                    <a:pt x="1387566" y="621284"/>
                  </a:lnTo>
                  <a:lnTo>
                    <a:pt x="0" y="621284"/>
                  </a:lnTo>
                  <a:close/>
                </a:path>
              </a:pathLst>
            </a:custGeom>
            <a:ln w="95250" cap="sq">
              <a:solidFill>
                <a:srgbClr val="9A9ED9"/>
              </a:solidFill>
              <a:prstDash val="solid"/>
              <a:miter/>
            </a:ln>
          </p:spPr>
        </p:sp>
        <p:sp>
          <p:nvSpPr>
            <p:cNvPr name="TextBox 18" id="18"/>
            <p:cNvSpPr txBox="true"/>
            <p:nvPr/>
          </p:nvSpPr>
          <p:spPr>
            <a:xfrm>
              <a:off x="0" y="-66675"/>
              <a:ext cx="1387566" cy="687959"/>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28700" y="7920819"/>
            <a:ext cx="10245963" cy="1683620"/>
            <a:chOff x="0" y="0"/>
            <a:chExt cx="2698525" cy="443423"/>
          </a:xfrm>
        </p:grpSpPr>
        <p:sp>
          <p:nvSpPr>
            <p:cNvPr name="Freeform 20" id="20"/>
            <p:cNvSpPr/>
            <p:nvPr/>
          </p:nvSpPr>
          <p:spPr>
            <a:xfrm flipH="false" flipV="false" rot="0">
              <a:off x="0" y="0"/>
              <a:ext cx="2698525" cy="443423"/>
            </a:xfrm>
            <a:custGeom>
              <a:avLst/>
              <a:gdLst/>
              <a:ahLst/>
              <a:cxnLst/>
              <a:rect r="r" b="b" t="t" l="l"/>
              <a:pathLst>
                <a:path h="443423" w="2698525">
                  <a:moveTo>
                    <a:pt x="0" y="0"/>
                  </a:moveTo>
                  <a:lnTo>
                    <a:pt x="2698525" y="0"/>
                  </a:lnTo>
                  <a:lnTo>
                    <a:pt x="2698525" y="443423"/>
                  </a:lnTo>
                  <a:lnTo>
                    <a:pt x="0" y="443423"/>
                  </a:lnTo>
                  <a:close/>
                </a:path>
              </a:pathLst>
            </a:custGeom>
            <a:ln w="95250" cap="sq">
              <a:solidFill>
                <a:srgbClr val="9A9ED9"/>
              </a:solidFill>
              <a:prstDash val="solid"/>
              <a:miter/>
            </a:ln>
          </p:spPr>
        </p:sp>
        <p:sp>
          <p:nvSpPr>
            <p:cNvPr name="TextBox 21" id="21"/>
            <p:cNvSpPr txBox="true"/>
            <p:nvPr/>
          </p:nvSpPr>
          <p:spPr>
            <a:xfrm>
              <a:off x="0" y="-66675"/>
              <a:ext cx="2698525" cy="510098"/>
            </a:xfrm>
            <a:prstGeom prst="rect">
              <a:avLst/>
            </a:prstGeom>
          </p:spPr>
          <p:txBody>
            <a:bodyPr anchor="ctr" rtlCol="false" tIns="50800" lIns="50800" bIns="50800" rIns="50800"/>
            <a:lstStyle/>
            <a:p>
              <a:pPr algn="ctr">
                <a:lnSpc>
                  <a:spcPts val="3499"/>
                </a:lnSpc>
              </a:pPr>
            </a:p>
          </p:txBody>
        </p:sp>
      </p:grpSp>
      <p:sp>
        <p:nvSpPr>
          <p:cNvPr name="Freeform 22" id="22"/>
          <p:cNvSpPr/>
          <p:nvPr/>
        </p:nvSpPr>
        <p:spPr>
          <a:xfrm flipH="false" flipV="false" rot="0">
            <a:off x="3074080" y="8146570"/>
            <a:ext cx="1232118" cy="1232118"/>
          </a:xfrm>
          <a:custGeom>
            <a:avLst/>
            <a:gdLst/>
            <a:ahLst/>
            <a:cxnLst/>
            <a:rect r="r" b="b" t="t" l="l"/>
            <a:pathLst>
              <a:path h="1232118" w="1232118">
                <a:moveTo>
                  <a:pt x="0" y="0"/>
                </a:moveTo>
                <a:lnTo>
                  <a:pt x="1232118" y="0"/>
                </a:lnTo>
                <a:lnTo>
                  <a:pt x="1232118" y="1232118"/>
                </a:lnTo>
                <a:lnTo>
                  <a:pt x="0" y="1232118"/>
                </a:lnTo>
                <a:lnTo>
                  <a:pt x="0" y="0"/>
                </a:lnTo>
                <a:close/>
              </a:path>
            </a:pathLst>
          </a:custGeom>
          <a:blipFill>
            <a:blip r:embed="rId4"/>
            <a:stretch>
              <a:fillRect l="0" t="0" r="0" b="0"/>
            </a:stretch>
          </a:blipFill>
        </p:spPr>
      </p:sp>
      <p:sp>
        <p:nvSpPr>
          <p:cNvPr name="Freeform 23" id="23"/>
          <p:cNvSpPr/>
          <p:nvPr/>
        </p:nvSpPr>
        <p:spPr>
          <a:xfrm flipH="false" flipV="false" rot="0">
            <a:off x="4566858" y="8223245"/>
            <a:ext cx="2508805" cy="1078768"/>
          </a:xfrm>
          <a:custGeom>
            <a:avLst/>
            <a:gdLst/>
            <a:ahLst/>
            <a:cxnLst/>
            <a:rect r="r" b="b" t="t" l="l"/>
            <a:pathLst>
              <a:path h="1078768" w="2508805">
                <a:moveTo>
                  <a:pt x="0" y="0"/>
                </a:moveTo>
                <a:lnTo>
                  <a:pt x="2508805" y="0"/>
                </a:lnTo>
                <a:lnTo>
                  <a:pt x="2508805" y="1078768"/>
                </a:lnTo>
                <a:lnTo>
                  <a:pt x="0" y="1078768"/>
                </a:lnTo>
                <a:lnTo>
                  <a:pt x="0" y="0"/>
                </a:lnTo>
                <a:close/>
              </a:path>
            </a:pathLst>
          </a:custGeom>
          <a:blipFill>
            <a:blip r:embed="rId5"/>
            <a:stretch>
              <a:fillRect l="0" t="0" r="0" b="0"/>
            </a:stretch>
          </a:blipFill>
        </p:spPr>
      </p:sp>
      <p:sp>
        <p:nvSpPr>
          <p:cNvPr name="Freeform 24" id="24"/>
          <p:cNvSpPr/>
          <p:nvPr/>
        </p:nvSpPr>
        <p:spPr>
          <a:xfrm flipH="false" flipV="false" rot="0">
            <a:off x="7721886" y="7806788"/>
            <a:ext cx="1911682" cy="1911682"/>
          </a:xfrm>
          <a:custGeom>
            <a:avLst/>
            <a:gdLst/>
            <a:ahLst/>
            <a:cxnLst/>
            <a:rect r="r" b="b" t="t" l="l"/>
            <a:pathLst>
              <a:path h="1911682" w="1911682">
                <a:moveTo>
                  <a:pt x="0" y="0"/>
                </a:moveTo>
                <a:lnTo>
                  <a:pt x="1911681" y="0"/>
                </a:lnTo>
                <a:lnTo>
                  <a:pt x="1911681" y="1911682"/>
                </a:lnTo>
                <a:lnTo>
                  <a:pt x="0" y="1911682"/>
                </a:lnTo>
                <a:lnTo>
                  <a:pt x="0" y="0"/>
                </a:lnTo>
                <a:close/>
              </a:path>
            </a:pathLst>
          </a:custGeom>
          <a:blipFill>
            <a:blip r:embed="rId6"/>
            <a:stretch>
              <a:fillRect l="0" t="0" r="0" b="0"/>
            </a:stretch>
          </a:blipFill>
        </p:spPr>
      </p:sp>
      <p:sp>
        <p:nvSpPr>
          <p:cNvPr name="TextBox 25" id="25"/>
          <p:cNvSpPr txBox="true"/>
          <p:nvPr/>
        </p:nvSpPr>
        <p:spPr>
          <a:xfrm rot="0">
            <a:off x="6773418" y="3015447"/>
            <a:ext cx="4741163" cy="2175496"/>
          </a:xfrm>
          <a:prstGeom prst="rect">
            <a:avLst/>
          </a:prstGeom>
        </p:spPr>
        <p:txBody>
          <a:bodyPr anchor="t" rtlCol="false" tIns="0" lIns="0" bIns="0" rIns="0">
            <a:spAutoFit/>
          </a:bodyPr>
          <a:lstStyle/>
          <a:p>
            <a:pPr algn="l">
              <a:lnSpc>
                <a:spcPts val="2897"/>
              </a:lnSpc>
              <a:spcBef>
                <a:spcPct val="0"/>
              </a:spcBef>
            </a:pPr>
            <a:r>
              <a:rPr lang="en-US" sz="2069">
                <a:solidFill>
                  <a:srgbClr val="FFFFFF"/>
                </a:solidFill>
                <a:latin typeface="Poppins"/>
                <a:ea typeface="Poppins"/>
                <a:cs typeface="Poppins"/>
                <a:sym typeface="Poppins"/>
              </a:rPr>
              <a:t>The Bank does not yet have a systematic approach to identifying customers at risk of default before it occurs, resulting in reactive mitigation measures that may increase credit losses.</a:t>
            </a:r>
          </a:p>
        </p:txBody>
      </p:sp>
      <p:sp>
        <p:nvSpPr>
          <p:cNvPr name="TextBox 26" id="26"/>
          <p:cNvSpPr txBox="true"/>
          <p:nvPr/>
        </p:nvSpPr>
        <p:spPr>
          <a:xfrm rot="0">
            <a:off x="1335181" y="2673836"/>
            <a:ext cx="3477797" cy="398762"/>
          </a:xfrm>
          <a:prstGeom prst="rect">
            <a:avLst/>
          </a:prstGeom>
        </p:spPr>
        <p:txBody>
          <a:bodyPr anchor="t" rtlCol="false" tIns="0" lIns="0" bIns="0" rIns="0">
            <a:spAutoFit/>
          </a:bodyPr>
          <a:lstStyle/>
          <a:p>
            <a:pPr algn="ctr">
              <a:lnSpc>
                <a:spcPts val="3220"/>
              </a:lnSpc>
              <a:spcBef>
                <a:spcPct val="0"/>
              </a:spcBef>
            </a:pPr>
            <a:r>
              <a:rPr lang="en-US" b="true" sz="2300" u="sng">
                <a:solidFill>
                  <a:srgbClr val="029EC4"/>
                </a:solidFill>
                <a:latin typeface="Poppins Bold"/>
                <a:ea typeface="Poppins Bold"/>
                <a:cs typeface="Poppins Bold"/>
                <a:sym typeface="Poppins Bold"/>
                <a:hlinkClick r:id="rId7" tooltip="https://docs.google.com/presentation/d/1vwzCMvRzX0RskZK09TJZxSwkVlih7778YKU8eaYo6B4/edit?usp=sharing"/>
              </a:rPr>
              <a:t>Final Project Dibimbing</a:t>
            </a:r>
          </a:p>
        </p:txBody>
      </p:sp>
      <p:sp>
        <p:nvSpPr>
          <p:cNvPr name="TextBox 27" id="27"/>
          <p:cNvSpPr txBox="true"/>
          <p:nvPr/>
        </p:nvSpPr>
        <p:spPr>
          <a:xfrm rot="0">
            <a:off x="1252528" y="3244047"/>
            <a:ext cx="4669775" cy="375681"/>
          </a:xfrm>
          <a:prstGeom prst="rect">
            <a:avLst/>
          </a:prstGeom>
        </p:spPr>
        <p:txBody>
          <a:bodyPr anchor="t" rtlCol="false" tIns="0" lIns="0" bIns="0" rIns="0">
            <a:spAutoFit/>
          </a:bodyPr>
          <a:lstStyle/>
          <a:p>
            <a:pPr algn="ctr">
              <a:lnSpc>
                <a:spcPts val="2919"/>
              </a:lnSpc>
              <a:spcBef>
                <a:spcPct val="0"/>
              </a:spcBef>
            </a:pPr>
            <a:r>
              <a:rPr lang="en-US" b="true" sz="2085">
                <a:solidFill>
                  <a:srgbClr val="FFFFFF"/>
                </a:solidFill>
                <a:latin typeface="Poppins Bold"/>
                <a:ea typeface="Poppins Bold"/>
                <a:cs typeface="Poppins Bold"/>
                <a:sym typeface="Poppins Bold"/>
              </a:rPr>
              <a:t>Domain </a:t>
            </a:r>
            <a:r>
              <a:rPr lang="en-US" sz="2085">
                <a:solidFill>
                  <a:srgbClr val="FFFFFF"/>
                </a:solidFill>
                <a:latin typeface="Poppins"/>
                <a:ea typeface="Poppins"/>
                <a:cs typeface="Poppins"/>
                <a:sym typeface="Poppins"/>
              </a:rPr>
              <a:t>: Credit Analytics / Banking</a:t>
            </a:r>
          </a:p>
        </p:txBody>
      </p:sp>
      <p:sp>
        <p:nvSpPr>
          <p:cNvPr name="TextBox 28" id="28"/>
          <p:cNvSpPr txBox="true"/>
          <p:nvPr/>
        </p:nvSpPr>
        <p:spPr>
          <a:xfrm rot="0">
            <a:off x="5225639" y="2518723"/>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Background :</a:t>
            </a:r>
          </a:p>
        </p:txBody>
      </p:sp>
      <p:sp>
        <p:nvSpPr>
          <p:cNvPr name="TextBox 29" id="29"/>
          <p:cNvSpPr txBox="true"/>
          <p:nvPr/>
        </p:nvSpPr>
        <p:spPr>
          <a:xfrm rot="0">
            <a:off x="10995291" y="2518723"/>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Methodology:</a:t>
            </a:r>
          </a:p>
        </p:txBody>
      </p:sp>
      <p:sp>
        <p:nvSpPr>
          <p:cNvPr name="TextBox 30" id="30"/>
          <p:cNvSpPr txBox="true"/>
          <p:nvPr/>
        </p:nvSpPr>
        <p:spPr>
          <a:xfrm rot="0">
            <a:off x="12368757" y="2996442"/>
            <a:ext cx="4187762" cy="2060896"/>
          </a:xfrm>
          <a:prstGeom prst="rect">
            <a:avLst/>
          </a:prstGeom>
        </p:spPr>
        <p:txBody>
          <a:bodyPr anchor="t" rtlCol="false" tIns="0" lIns="0" bIns="0" rIns="0">
            <a:spAutoFit/>
          </a:bodyPr>
          <a:lstStyle/>
          <a:p>
            <a:pPr algn="l" marL="429037" indent="-214519" lvl="1">
              <a:lnSpc>
                <a:spcPts val="2782"/>
              </a:lnSpc>
              <a:buFont typeface="Arial"/>
              <a:buChar char="•"/>
            </a:pPr>
            <a:r>
              <a:rPr lang="en-US" sz="1987">
                <a:solidFill>
                  <a:srgbClr val="FFFFFF"/>
                </a:solidFill>
                <a:latin typeface="Poppins"/>
                <a:ea typeface="Poppins"/>
                <a:cs typeface="Poppins"/>
                <a:sym typeface="Poppins"/>
              </a:rPr>
              <a:t>Conduct 3 statistical hypothesis tests</a:t>
            </a:r>
          </a:p>
          <a:p>
            <a:pPr algn="l" marL="429037" indent="-214519" lvl="1">
              <a:lnSpc>
                <a:spcPts val="2782"/>
              </a:lnSpc>
              <a:buFont typeface="Arial"/>
              <a:buChar char="•"/>
            </a:pPr>
            <a:r>
              <a:rPr lang="en-US" sz="1987">
                <a:solidFill>
                  <a:srgbClr val="FFFFFF"/>
                </a:solidFill>
                <a:latin typeface="Poppins"/>
                <a:ea typeface="Poppins"/>
                <a:cs typeface="Poppins"/>
                <a:sym typeface="Poppins"/>
              </a:rPr>
              <a:t>Analyze the strongest predictors of default</a:t>
            </a:r>
          </a:p>
          <a:p>
            <a:pPr algn="l" marL="429037" indent="-214519" lvl="1">
              <a:lnSpc>
                <a:spcPts val="2782"/>
              </a:lnSpc>
              <a:buFont typeface="Arial"/>
              <a:buChar char="•"/>
            </a:pPr>
            <a:r>
              <a:rPr lang="en-US" sz="1987">
                <a:solidFill>
                  <a:srgbClr val="FFFFFF"/>
                </a:solidFill>
                <a:latin typeface="Poppins"/>
                <a:ea typeface="Poppins"/>
                <a:cs typeface="Poppins"/>
                <a:sym typeface="Poppins"/>
              </a:rPr>
              <a:t>Develop an interactive Power BI dashboard</a:t>
            </a:r>
          </a:p>
        </p:txBody>
      </p:sp>
      <p:sp>
        <p:nvSpPr>
          <p:cNvPr name="TextBox 31" id="31"/>
          <p:cNvSpPr txBox="true"/>
          <p:nvPr/>
        </p:nvSpPr>
        <p:spPr>
          <a:xfrm rot="0">
            <a:off x="10678580" y="5494044"/>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Impact :</a:t>
            </a:r>
          </a:p>
        </p:txBody>
      </p:sp>
      <p:sp>
        <p:nvSpPr>
          <p:cNvPr name="TextBox 32" id="32"/>
          <p:cNvSpPr txBox="true"/>
          <p:nvPr/>
        </p:nvSpPr>
        <p:spPr>
          <a:xfrm rot="0">
            <a:off x="12557557" y="5970165"/>
            <a:ext cx="4187762" cy="1342715"/>
          </a:xfrm>
          <a:prstGeom prst="rect">
            <a:avLst/>
          </a:prstGeom>
        </p:spPr>
        <p:txBody>
          <a:bodyPr anchor="t" rtlCol="false" tIns="0" lIns="0" bIns="0" rIns="0">
            <a:spAutoFit/>
          </a:bodyPr>
          <a:lstStyle/>
          <a:p>
            <a:pPr algn="l">
              <a:lnSpc>
                <a:spcPts val="2642"/>
              </a:lnSpc>
            </a:pPr>
            <a:r>
              <a:rPr lang="en-US" sz="1887">
                <a:solidFill>
                  <a:srgbClr val="FFFFFF"/>
                </a:solidFill>
                <a:latin typeface="Poppins"/>
                <a:ea typeface="Poppins"/>
                <a:cs typeface="Poppins"/>
                <a:sym typeface="Poppins"/>
              </a:rPr>
              <a:t>The</a:t>
            </a:r>
            <a:r>
              <a:rPr lang="en-US" sz="1887">
                <a:solidFill>
                  <a:srgbClr val="FFFFFF"/>
                </a:solidFill>
                <a:latin typeface="Poppins"/>
                <a:ea typeface="Poppins"/>
                <a:cs typeface="Poppins"/>
                <a:sym typeface="Poppins"/>
              </a:rPr>
              <a:t> Bank can better understand customer behavioral patterns and implement preventive measures to minimize potential credit losses.</a:t>
            </a:r>
          </a:p>
        </p:txBody>
      </p:sp>
      <p:sp>
        <p:nvSpPr>
          <p:cNvPr name="TextBox 33" id="33"/>
          <p:cNvSpPr txBox="true"/>
          <p:nvPr/>
        </p:nvSpPr>
        <p:spPr>
          <a:xfrm rot="0">
            <a:off x="-425635" y="8534094"/>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Tools Used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62117" y="809625"/>
            <a:ext cx="5133199" cy="1221770"/>
            <a:chOff x="0" y="0"/>
            <a:chExt cx="1351954" cy="321783"/>
          </a:xfrm>
        </p:grpSpPr>
        <p:sp>
          <p:nvSpPr>
            <p:cNvPr name="Freeform 4" id="4"/>
            <p:cNvSpPr/>
            <p:nvPr/>
          </p:nvSpPr>
          <p:spPr>
            <a:xfrm flipH="false" flipV="false" rot="0">
              <a:off x="0" y="0"/>
              <a:ext cx="1351954" cy="321783"/>
            </a:xfrm>
            <a:custGeom>
              <a:avLst/>
              <a:gdLst/>
              <a:ahLst/>
              <a:cxnLst/>
              <a:rect r="r" b="b" t="t" l="l"/>
              <a:pathLst>
                <a:path h="321783" w="1351954">
                  <a:moveTo>
                    <a:pt x="76918" y="0"/>
                  </a:moveTo>
                  <a:lnTo>
                    <a:pt x="1275035" y="0"/>
                  </a:lnTo>
                  <a:cubicBezTo>
                    <a:pt x="1295435" y="0"/>
                    <a:pt x="1315000" y="8104"/>
                    <a:pt x="1329425" y="22529"/>
                  </a:cubicBezTo>
                  <a:cubicBezTo>
                    <a:pt x="1343850" y="36954"/>
                    <a:pt x="1351954" y="56518"/>
                    <a:pt x="1351954" y="76918"/>
                  </a:cubicBezTo>
                  <a:lnTo>
                    <a:pt x="1351954" y="244865"/>
                  </a:lnTo>
                  <a:cubicBezTo>
                    <a:pt x="1351954" y="287345"/>
                    <a:pt x="1317516" y="321783"/>
                    <a:pt x="1275035" y="321783"/>
                  </a:cubicBezTo>
                  <a:lnTo>
                    <a:pt x="76918" y="321783"/>
                  </a:lnTo>
                  <a:cubicBezTo>
                    <a:pt x="34438" y="321783"/>
                    <a:pt x="0" y="287345"/>
                    <a:pt x="0" y="244865"/>
                  </a:cubicBezTo>
                  <a:lnTo>
                    <a:pt x="0" y="76918"/>
                  </a:lnTo>
                  <a:cubicBezTo>
                    <a:pt x="0" y="56518"/>
                    <a:pt x="8104" y="36954"/>
                    <a:pt x="22529" y="22529"/>
                  </a:cubicBezTo>
                  <a:cubicBezTo>
                    <a:pt x="36954" y="8104"/>
                    <a:pt x="56518" y="0"/>
                    <a:pt x="76918" y="0"/>
                  </a:cubicBezTo>
                  <a:close/>
                </a:path>
              </a:pathLst>
            </a:custGeom>
            <a:ln w="142875" cap="rnd">
              <a:solidFill>
                <a:srgbClr val="9A9ED9"/>
              </a:solidFill>
              <a:prstDash val="solid"/>
              <a:round/>
            </a:ln>
          </p:spPr>
        </p:sp>
        <p:sp>
          <p:nvSpPr>
            <p:cNvPr name="TextBox 5" id="5"/>
            <p:cNvSpPr txBox="true"/>
            <p:nvPr/>
          </p:nvSpPr>
          <p:spPr>
            <a:xfrm>
              <a:off x="0" y="-66675"/>
              <a:ext cx="1351954" cy="388458"/>
            </a:xfrm>
            <a:prstGeom prst="rect">
              <a:avLst/>
            </a:prstGeom>
          </p:spPr>
          <p:txBody>
            <a:bodyPr anchor="ctr" rtlCol="false" tIns="50800" lIns="50800" bIns="50800" rIns="50800"/>
            <a:lstStyle/>
            <a:p>
              <a:pPr algn="ctr">
                <a:lnSpc>
                  <a:spcPts val="3499"/>
                </a:lnSpc>
              </a:pPr>
              <a:r>
                <a:rPr lang="en-US" b="true" sz="2499">
                  <a:solidFill>
                    <a:srgbClr val="FFFFFF"/>
                  </a:solidFill>
                  <a:latin typeface="Poppins Bold"/>
                  <a:ea typeface="Poppins Bold"/>
                  <a:cs typeface="Poppins Bold"/>
                  <a:sym typeface="Poppins Bold"/>
                </a:rPr>
                <a:t>Project Overview</a:t>
              </a:r>
            </a:p>
          </p:txBody>
        </p:sp>
      </p:grpSp>
      <p:grpSp>
        <p:nvGrpSpPr>
          <p:cNvPr name="Group 6" id="6"/>
          <p:cNvGrpSpPr/>
          <p:nvPr/>
        </p:nvGrpSpPr>
        <p:grpSpPr>
          <a:xfrm rot="0">
            <a:off x="962117" y="2269520"/>
            <a:ext cx="5268413" cy="5270837"/>
            <a:chOff x="0" y="0"/>
            <a:chExt cx="1387566" cy="1388204"/>
          </a:xfrm>
        </p:grpSpPr>
        <p:sp>
          <p:nvSpPr>
            <p:cNvPr name="Freeform 7" id="7"/>
            <p:cNvSpPr/>
            <p:nvPr/>
          </p:nvSpPr>
          <p:spPr>
            <a:xfrm flipH="false" flipV="false" rot="0">
              <a:off x="0" y="0"/>
              <a:ext cx="1387566" cy="1388204"/>
            </a:xfrm>
            <a:custGeom>
              <a:avLst/>
              <a:gdLst/>
              <a:ahLst/>
              <a:cxnLst/>
              <a:rect r="r" b="b" t="t" l="l"/>
              <a:pathLst>
                <a:path h="1388204" w="1387566">
                  <a:moveTo>
                    <a:pt x="0" y="0"/>
                  </a:moveTo>
                  <a:lnTo>
                    <a:pt x="1387566" y="0"/>
                  </a:lnTo>
                  <a:lnTo>
                    <a:pt x="1387566" y="1388204"/>
                  </a:lnTo>
                  <a:lnTo>
                    <a:pt x="0" y="1388204"/>
                  </a:lnTo>
                  <a:close/>
                </a:path>
              </a:pathLst>
            </a:custGeom>
            <a:ln w="95250" cap="sq">
              <a:solidFill>
                <a:srgbClr val="9A9ED9"/>
              </a:solidFill>
              <a:prstDash val="solid"/>
              <a:miter/>
            </a:ln>
          </p:spPr>
        </p:sp>
        <p:sp>
          <p:nvSpPr>
            <p:cNvPr name="TextBox 8" id="8"/>
            <p:cNvSpPr txBox="true"/>
            <p:nvPr/>
          </p:nvSpPr>
          <p:spPr>
            <a:xfrm>
              <a:off x="0" y="-66675"/>
              <a:ext cx="1387566" cy="1454879"/>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6443210" y="2299087"/>
            <a:ext cx="5268413" cy="4072546"/>
            <a:chOff x="0" y="0"/>
            <a:chExt cx="1387566" cy="1072605"/>
          </a:xfrm>
        </p:grpSpPr>
        <p:sp>
          <p:nvSpPr>
            <p:cNvPr name="Freeform 10" id="10"/>
            <p:cNvSpPr/>
            <p:nvPr/>
          </p:nvSpPr>
          <p:spPr>
            <a:xfrm flipH="false" flipV="false" rot="0">
              <a:off x="0" y="0"/>
              <a:ext cx="1387566" cy="1072605"/>
            </a:xfrm>
            <a:custGeom>
              <a:avLst/>
              <a:gdLst/>
              <a:ahLst/>
              <a:cxnLst/>
              <a:rect r="r" b="b" t="t" l="l"/>
              <a:pathLst>
                <a:path h="1072605" w="1387566">
                  <a:moveTo>
                    <a:pt x="0" y="0"/>
                  </a:moveTo>
                  <a:lnTo>
                    <a:pt x="1387566" y="0"/>
                  </a:lnTo>
                  <a:lnTo>
                    <a:pt x="1387566" y="1072605"/>
                  </a:lnTo>
                  <a:lnTo>
                    <a:pt x="0" y="1072605"/>
                  </a:lnTo>
                  <a:close/>
                </a:path>
              </a:pathLst>
            </a:custGeom>
            <a:ln w="95250" cap="sq">
              <a:solidFill>
                <a:srgbClr val="9A9ED9"/>
              </a:solidFill>
              <a:prstDash val="solid"/>
              <a:miter/>
            </a:ln>
          </p:spPr>
        </p:sp>
        <p:sp>
          <p:nvSpPr>
            <p:cNvPr name="TextBox 11" id="11"/>
            <p:cNvSpPr txBox="true"/>
            <p:nvPr/>
          </p:nvSpPr>
          <p:spPr>
            <a:xfrm>
              <a:off x="0" y="-66675"/>
              <a:ext cx="1387566" cy="1139280"/>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12159298" y="2299087"/>
            <a:ext cx="5472790" cy="2487722"/>
            <a:chOff x="0" y="0"/>
            <a:chExt cx="1441393" cy="655202"/>
          </a:xfrm>
        </p:grpSpPr>
        <p:sp>
          <p:nvSpPr>
            <p:cNvPr name="Freeform 13" id="13"/>
            <p:cNvSpPr/>
            <p:nvPr/>
          </p:nvSpPr>
          <p:spPr>
            <a:xfrm flipH="false" flipV="false" rot="0">
              <a:off x="0" y="0"/>
              <a:ext cx="1441393" cy="655202"/>
            </a:xfrm>
            <a:custGeom>
              <a:avLst/>
              <a:gdLst/>
              <a:ahLst/>
              <a:cxnLst/>
              <a:rect r="r" b="b" t="t" l="l"/>
              <a:pathLst>
                <a:path h="655202" w="1441393">
                  <a:moveTo>
                    <a:pt x="0" y="0"/>
                  </a:moveTo>
                  <a:lnTo>
                    <a:pt x="1441393" y="0"/>
                  </a:lnTo>
                  <a:lnTo>
                    <a:pt x="1441393" y="655202"/>
                  </a:lnTo>
                  <a:lnTo>
                    <a:pt x="0" y="655202"/>
                  </a:lnTo>
                  <a:close/>
                </a:path>
              </a:pathLst>
            </a:custGeom>
            <a:ln w="95250" cap="sq">
              <a:solidFill>
                <a:srgbClr val="9A9ED9"/>
              </a:solidFill>
              <a:prstDash val="solid"/>
              <a:miter/>
            </a:ln>
          </p:spPr>
        </p:sp>
        <p:sp>
          <p:nvSpPr>
            <p:cNvPr name="TextBox 14" id="14"/>
            <p:cNvSpPr txBox="true"/>
            <p:nvPr/>
          </p:nvSpPr>
          <p:spPr>
            <a:xfrm>
              <a:off x="0" y="-66675"/>
              <a:ext cx="1441393" cy="721877"/>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12159298" y="4904939"/>
            <a:ext cx="5472790" cy="4244675"/>
            <a:chOff x="0" y="0"/>
            <a:chExt cx="1441393" cy="1117939"/>
          </a:xfrm>
        </p:grpSpPr>
        <p:sp>
          <p:nvSpPr>
            <p:cNvPr name="Freeform 16" id="16"/>
            <p:cNvSpPr/>
            <p:nvPr/>
          </p:nvSpPr>
          <p:spPr>
            <a:xfrm flipH="false" flipV="false" rot="0">
              <a:off x="0" y="0"/>
              <a:ext cx="1441393" cy="1117939"/>
            </a:xfrm>
            <a:custGeom>
              <a:avLst/>
              <a:gdLst/>
              <a:ahLst/>
              <a:cxnLst/>
              <a:rect r="r" b="b" t="t" l="l"/>
              <a:pathLst>
                <a:path h="1117939" w="1441393">
                  <a:moveTo>
                    <a:pt x="0" y="0"/>
                  </a:moveTo>
                  <a:lnTo>
                    <a:pt x="1441393" y="0"/>
                  </a:lnTo>
                  <a:lnTo>
                    <a:pt x="1441393" y="1117939"/>
                  </a:lnTo>
                  <a:lnTo>
                    <a:pt x="0" y="1117939"/>
                  </a:lnTo>
                  <a:close/>
                </a:path>
              </a:pathLst>
            </a:custGeom>
            <a:ln w="95250" cap="sq">
              <a:solidFill>
                <a:srgbClr val="9A9ED9"/>
              </a:solidFill>
              <a:prstDash val="solid"/>
              <a:miter/>
            </a:ln>
          </p:spPr>
        </p:sp>
        <p:sp>
          <p:nvSpPr>
            <p:cNvPr name="TextBox 17" id="17"/>
            <p:cNvSpPr txBox="true"/>
            <p:nvPr/>
          </p:nvSpPr>
          <p:spPr>
            <a:xfrm>
              <a:off x="0" y="-66675"/>
              <a:ext cx="1441393" cy="1184614"/>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962117" y="7768419"/>
            <a:ext cx="9189432" cy="1683620"/>
            <a:chOff x="0" y="0"/>
            <a:chExt cx="2420262" cy="443423"/>
          </a:xfrm>
        </p:grpSpPr>
        <p:sp>
          <p:nvSpPr>
            <p:cNvPr name="Freeform 19" id="19"/>
            <p:cNvSpPr/>
            <p:nvPr/>
          </p:nvSpPr>
          <p:spPr>
            <a:xfrm flipH="false" flipV="false" rot="0">
              <a:off x="0" y="0"/>
              <a:ext cx="2420262" cy="443423"/>
            </a:xfrm>
            <a:custGeom>
              <a:avLst/>
              <a:gdLst/>
              <a:ahLst/>
              <a:cxnLst/>
              <a:rect r="r" b="b" t="t" l="l"/>
              <a:pathLst>
                <a:path h="443423" w="2420262">
                  <a:moveTo>
                    <a:pt x="0" y="0"/>
                  </a:moveTo>
                  <a:lnTo>
                    <a:pt x="2420262" y="0"/>
                  </a:lnTo>
                  <a:lnTo>
                    <a:pt x="2420262" y="443423"/>
                  </a:lnTo>
                  <a:lnTo>
                    <a:pt x="0" y="443423"/>
                  </a:lnTo>
                  <a:close/>
                </a:path>
              </a:pathLst>
            </a:custGeom>
            <a:ln w="95250" cap="sq">
              <a:solidFill>
                <a:srgbClr val="9A9ED9"/>
              </a:solidFill>
              <a:prstDash val="solid"/>
              <a:miter/>
            </a:ln>
          </p:spPr>
        </p:sp>
        <p:sp>
          <p:nvSpPr>
            <p:cNvPr name="TextBox 20" id="20"/>
            <p:cNvSpPr txBox="true"/>
            <p:nvPr/>
          </p:nvSpPr>
          <p:spPr>
            <a:xfrm>
              <a:off x="0" y="-66675"/>
              <a:ext cx="2420262" cy="510098"/>
            </a:xfrm>
            <a:prstGeom prst="rect">
              <a:avLst/>
            </a:prstGeom>
          </p:spPr>
          <p:txBody>
            <a:bodyPr anchor="ctr" rtlCol="false" tIns="50800" lIns="50800" bIns="50800" rIns="50800"/>
            <a:lstStyle/>
            <a:p>
              <a:pPr algn="ctr">
                <a:lnSpc>
                  <a:spcPts val="3499"/>
                </a:lnSpc>
              </a:pPr>
            </a:p>
          </p:txBody>
        </p:sp>
      </p:grpSp>
      <p:sp>
        <p:nvSpPr>
          <p:cNvPr name="Freeform 21" id="21"/>
          <p:cNvSpPr/>
          <p:nvPr/>
        </p:nvSpPr>
        <p:spPr>
          <a:xfrm flipH="false" flipV="false" rot="0">
            <a:off x="3007497" y="7994170"/>
            <a:ext cx="1232118" cy="1232118"/>
          </a:xfrm>
          <a:custGeom>
            <a:avLst/>
            <a:gdLst/>
            <a:ahLst/>
            <a:cxnLst/>
            <a:rect r="r" b="b" t="t" l="l"/>
            <a:pathLst>
              <a:path h="1232118" w="1232118">
                <a:moveTo>
                  <a:pt x="0" y="0"/>
                </a:moveTo>
                <a:lnTo>
                  <a:pt x="1232118" y="0"/>
                </a:lnTo>
                <a:lnTo>
                  <a:pt x="1232118" y="1232118"/>
                </a:lnTo>
                <a:lnTo>
                  <a:pt x="0" y="1232118"/>
                </a:lnTo>
                <a:lnTo>
                  <a:pt x="0" y="0"/>
                </a:lnTo>
                <a:close/>
              </a:path>
            </a:pathLst>
          </a:custGeom>
          <a:blipFill>
            <a:blip r:embed="rId3"/>
            <a:stretch>
              <a:fillRect l="0" t="0" r="0" b="0"/>
            </a:stretch>
          </a:blipFill>
        </p:spPr>
      </p:sp>
      <p:sp>
        <p:nvSpPr>
          <p:cNvPr name="Freeform 22" id="22"/>
          <p:cNvSpPr/>
          <p:nvPr/>
        </p:nvSpPr>
        <p:spPr>
          <a:xfrm flipH="false" flipV="false" rot="0">
            <a:off x="4500275" y="8070845"/>
            <a:ext cx="2508805" cy="1078768"/>
          </a:xfrm>
          <a:custGeom>
            <a:avLst/>
            <a:gdLst/>
            <a:ahLst/>
            <a:cxnLst/>
            <a:rect r="r" b="b" t="t" l="l"/>
            <a:pathLst>
              <a:path h="1078768" w="2508805">
                <a:moveTo>
                  <a:pt x="0" y="0"/>
                </a:moveTo>
                <a:lnTo>
                  <a:pt x="2508805" y="0"/>
                </a:lnTo>
                <a:lnTo>
                  <a:pt x="2508805" y="1078768"/>
                </a:lnTo>
                <a:lnTo>
                  <a:pt x="0" y="1078768"/>
                </a:lnTo>
                <a:lnTo>
                  <a:pt x="0" y="0"/>
                </a:lnTo>
                <a:close/>
              </a:path>
            </a:pathLst>
          </a:custGeom>
          <a:blipFill>
            <a:blip r:embed="rId4"/>
            <a:stretch>
              <a:fillRect l="0" t="0" r="0" b="0"/>
            </a:stretch>
          </a:blipFill>
        </p:spPr>
      </p:sp>
      <p:sp>
        <p:nvSpPr>
          <p:cNvPr name="Freeform 23" id="23"/>
          <p:cNvSpPr/>
          <p:nvPr/>
        </p:nvSpPr>
        <p:spPr>
          <a:xfrm flipH="false" flipV="false" rot="0">
            <a:off x="1158245" y="4067422"/>
            <a:ext cx="4910636" cy="3093058"/>
          </a:xfrm>
          <a:custGeom>
            <a:avLst/>
            <a:gdLst/>
            <a:ahLst/>
            <a:cxnLst/>
            <a:rect r="r" b="b" t="t" l="l"/>
            <a:pathLst>
              <a:path h="3093058" w="4910636">
                <a:moveTo>
                  <a:pt x="0" y="0"/>
                </a:moveTo>
                <a:lnTo>
                  <a:pt x="4910636" y="0"/>
                </a:lnTo>
                <a:lnTo>
                  <a:pt x="4910636" y="3093058"/>
                </a:lnTo>
                <a:lnTo>
                  <a:pt x="0" y="3093058"/>
                </a:lnTo>
                <a:lnTo>
                  <a:pt x="0" y="0"/>
                </a:lnTo>
                <a:close/>
              </a:path>
            </a:pathLst>
          </a:custGeom>
          <a:blipFill>
            <a:blip r:embed="rId5"/>
            <a:stretch>
              <a:fillRect l="-4968" t="0" r="-4968" b="0"/>
            </a:stretch>
          </a:blipFill>
        </p:spPr>
      </p:sp>
      <p:sp>
        <p:nvSpPr>
          <p:cNvPr name="TextBox 24" id="24"/>
          <p:cNvSpPr txBox="true"/>
          <p:nvPr/>
        </p:nvSpPr>
        <p:spPr>
          <a:xfrm rot="0">
            <a:off x="6706835" y="2872572"/>
            <a:ext cx="5004788" cy="3144864"/>
          </a:xfrm>
          <a:prstGeom prst="rect">
            <a:avLst/>
          </a:prstGeom>
        </p:spPr>
        <p:txBody>
          <a:bodyPr anchor="t" rtlCol="false" tIns="0" lIns="0" bIns="0" rIns="0">
            <a:spAutoFit/>
          </a:bodyPr>
          <a:lstStyle/>
          <a:p>
            <a:pPr algn="l" marL="392629" indent="-196315" lvl="1">
              <a:lnSpc>
                <a:spcPts val="2545"/>
              </a:lnSpc>
              <a:buFont typeface="Arial"/>
              <a:buChar char="•"/>
            </a:pPr>
            <a:r>
              <a:rPr lang="en-US" sz="1818">
                <a:solidFill>
                  <a:srgbClr val="FFFFFF"/>
                </a:solidFill>
                <a:latin typeface="Poppins"/>
                <a:ea typeface="Poppins"/>
                <a:cs typeface="Poppins"/>
                <a:sym typeface="Poppins"/>
              </a:rPr>
              <a:t>Low Conversion Rate </a:t>
            </a:r>
            <a:r>
              <a:rPr lang="en-US" b="true" sz="1818">
                <a:solidFill>
                  <a:srgbClr val="FFFFFF"/>
                </a:solidFill>
                <a:latin typeface="Poppins Bold"/>
                <a:ea typeface="Poppins Bold"/>
                <a:cs typeface="Poppins Bold"/>
                <a:sym typeface="Poppins Bold"/>
              </a:rPr>
              <a:t>(36.7%)</a:t>
            </a:r>
            <a:r>
              <a:rPr lang="en-US" sz="1818">
                <a:solidFill>
                  <a:srgbClr val="FFFFFF"/>
                </a:solidFill>
                <a:latin typeface="Poppins"/>
                <a:ea typeface="Poppins"/>
                <a:cs typeface="Poppins"/>
                <a:sym typeface="Poppins"/>
              </a:rPr>
              <a:t>: Heavily impacted by a </a:t>
            </a:r>
            <a:r>
              <a:rPr lang="en-US" b="true" sz="1818">
                <a:solidFill>
                  <a:srgbClr val="FFFFFF"/>
                </a:solidFill>
                <a:latin typeface="Poppins Bold"/>
                <a:ea typeface="Poppins Bold"/>
                <a:cs typeface="Poppins Bold"/>
                <a:sym typeface="Poppins Bold"/>
              </a:rPr>
              <a:t>47.7%</a:t>
            </a:r>
            <a:r>
              <a:rPr lang="en-US" sz="1818">
                <a:solidFill>
                  <a:srgbClr val="FFFFFF"/>
                </a:solidFill>
                <a:latin typeface="Poppins"/>
                <a:ea typeface="Poppins"/>
                <a:cs typeface="Poppins"/>
                <a:sym typeface="Poppins"/>
              </a:rPr>
              <a:t> cart abandonment rate.</a:t>
            </a:r>
          </a:p>
          <a:p>
            <a:pPr algn="l" marL="392629" indent="-196315" lvl="1">
              <a:lnSpc>
                <a:spcPts val="2545"/>
              </a:lnSpc>
              <a:buFont typeface="Arial"/>
              <a:buChar char="•"/>
            </a:pPr>
            <a:r>
              <a:rPr lang="en-US" sz="1818">
                <a:solidFill>
                  <a:srgbClr val="FFFFFF"/>
                </a:solidFill>
                <a:latin typeface="Poppins"/>
                <a:ea typeface="Poppins"/>
                <a:cs typeface="Poppins"/>
                <a:sym typeface="Poppins"/>
              </a:rPr>
              <a:t>Funnel Bottleneck: The largest drop-off occurs between ‘Add to Cart’ to ‘Checkout’ </a:t>
            </a:r>
            <a:r>
              <a:rPr lang="en-US" b="true" sz="1818">
                <a:solidFill>
                  <a:srgbClr val="FFFFFF"/>
                </a:solidFill>
                <a:latin typeface="Poppins Bold"/>
                <a:ea typeface="Poppins Bold"/>
                <a:cs typeface="Poppins Bold"/>
                <a:sym typeface="Poppins Bold"/>
              </a:rPr>
              <a:t>(27.4%)</a:t>
            </a:r>
            <a:r>
              <a:rPr lang="en-US" sz="1818">
                <a:solidFill>
                  <a:srgbClr val="FFFFFF"/>
                </a:solidFill>
                <a:latin typeface="Poppins"/>
                <a:ea typeface="Poppins"/>
                <a:cs typeface="Poppins"/>
                <a:sym typeface="Poppins"/>
              </a:rPr>
              <a:t>.</a:t>
            </a:r>
          </a:p>
          <a:p>
            <a:pPr algn="l" marL="392629" indent="-196315" lvl="1">
              <a:lnSpc>
                <a:spcPts val="2545"/>
              </a:lnSpc>
              <a:buFont typeface="Arial"/>
              <a:buChar char="•"/>
            </a:pPr>
            <a:r>
              <a:rPr lang="en-US" sz="1818">
                <a:solidFill>
                  <a:srgbClr val="FFFFFF"/>
                </a:solidFill>
                <a:latin typeface="Poppins"/>
                <a:ea typeface="Poppins"/>
                <a:cs typeface="Poppins"/>
                <a:sym typeface="Poppins"/>
              </a:rPr>
              <a:t>Retention Challenge: </a:t>
            </a:r>
            <a:r>
              <a:rPr lang="en-US" b="true" sz="1818">
                <a:solidFill>
                  <a:srgbClr val="FFFFFF"/>
                </a:solidFill>
                <a:latin typeface="Poppins Bold"/>
                <a:ea typeface="Poppins Bold"/>
                <a:cs typeface="Poppins Bold"/>
                <a:sym typeface="Poppins Bold"/>
              </a:rPr>
              <a:t>83.3%</a:t>
            </a:r>
            <a:r>
              <a:rPr lang="en-US" sz="1818">
                <a:solidFill>
                  <a:srgbClr val="FFFFFF"/>
                </a:solidFill>
                <a:latin typeface="Poppins"/>
                <a:ea typeface="Poppins"/>
                <a:cs typeface="Poppins"/>
                <a:sym typeface="Poppins"/>
              </a:rPr>
              <a:t> of customers are one time visitors, despite visit frequency positively correlating with higher total spend.</a:t>
            </a:r>
          </a:p>
        </p:txBody>
      </p:sp>
      <p:sp>
        <p:nvSpPr>
          <p:cNvPr name="Freeform 25" id="25"/>
          <p:cNvSpPr/>
          <p:nvPr/>
        </p:nvSpPr>
        <p:spPr>
          <a:xfrm flipH="false" flipV="false" rot="0">
            <a:off x="7655302" y="7654388"/>
            <a:ext cx="1911682" cy="1911682"/>
          </a:xfrm>
          <a:custGeom>
            <a:avLst/>
            <a:gdLst/>
            <a:ahLst/>
            <a:cxnLst/>
            <a:rect r="r" b="b" t="t" l="l"/>
            <a:pathLst>
              <a:path h="1911682" w="1911682">
                <a:moveTo>
                  <a:pt x="0" y="0"/>
                </a:moveTo>
                <a:lnTo>
                  <a:pt x="1911682" y="0"/>
                </a:lnTo>
                <a:lnTo>
                  <a:pt x="1911682" y="1911682"/>
                </a:lnTo>
                <a:lnTo>
                  <a:pt x="0" y="1911682"/>
                </a:lnTo>
                <a:lnTo>
                  <a:pt x="0" y="0"/>
                </a:lnTo>
                <a:close/>
              </a:path>
            </a:pathLst>
          </a:custGeom>
          <a:blipFill>
            <a:blip r:embed="rId6"/>
            <a:stretch>
              <a:fillRect l="0" t="0" r="0" b="0"/>
            </a:stretch>
          </a:blipFill>
        </p:spPr>
      </p:sp>
      <p:sp>
        <p:nvSpPr>
          <p:cNvPr name="TextBox 26" id="26"/>
          <p:cNvSpPr txBox="true"/>
          <p:nvPr/>
        </p:nvSpPr>
        <p:spPr>
          <a:xfrm rot="0">
            <a:off x="1185945" y="2521436"/>
            <a:ext cx="2697307" cy="398762"/>
          </a:xfrm>
          <a:prstGeom prst="rect">
            <a:avLst/>
          </a:prstGeom>
        </p:spPr>
        <p:txBody>
          <a:bodyPr anchor="t" rtlCol="false" tIns="0" lIns="0" bIns="0" rIns="0">
            <a:spAutoFit/>
          </a:bodyPr>
          <a:lstStyle/>
          <a:p>
            <a:pPr algn="ctr">
              <a:lnSpc>
                <a:spcPts val="3220"/>
              </a:lnSpc>
              <a:spcBef>
                <a:spcPct val="0"/>
              </a:spcBef>
            </a:pPr>
            <a:r>
              <a:rPr lang="en-US" sz="2300" u="sng">
                <a:solidFill>
                  <a:srgbClr val="029EC4"/>
                </a:solidFill>
                <a:latin typeface="Poppins"/>
                <a:ea typeface="Poppins"/>
                <a:cs typeface="Poppins"/>
                <a:sym typeface="Poppins"/>
                <a:hlinkClick r:id="rId7" tooltip="https://docs.google.com/presentation/d/1clNjjUquH47OBG0muxLQnDQlszbZJYlGSxsAaO9vxRU/edit?usp=sharing"/>
              </a:rPr>
              <a:t>Customer Journey</a:t>
            </a:r>
          </a:p>
        </p:txBody>
      </p:sp>
      <p:sp>
        <p:nvSpPr>
          <p:cNvPr name="TextBox 27" id="27"/>
          <p:cNvSpPr txBox="true"/>
          <p:nvPr/>
        </p:nvSpPr>
        <p:spPr>
          <a:xfrm rot="0">
            <a:off x="776370" y="3091647"/>
            <a:ext cx="4809591" cy="737649"/>
          </a:xfrm>
          <a:prstGeom prst="rect">
            <a:avLst/>
          </a:prstGeom>
        </p:spPr>
        <p:txBody>
          <a:bodyPr anchor="t" rtlCol="false" tIns="0" lIns="0" bIns="0" rIns="0">
            <a:spAutoFit/>
          </a:bodyPr>
          <a:lstStyle/>
          <a:p>
            <a:pPr algn="ctr">
              <a:lnSpc>
                <a:spcPts val="2919"/>
              </a:lnSpc>
              <a:spcBef>
                <a:spcPct val="0"/>
              </a:spcBef>
            </a:pPr>
            <a:r>
              <a:rPr lang="en-US" b="true" sz="2085">
                <a:solidFill>
                  <a:srgbClr val="FFFFFF"/>
                </a:solidFill>
                <a:latin typeface="Poppins Bold"/>
                <a:ea typeface="Poppins Bold"/>
                <a:cs typeface="Poppins Bold"/>
                <a:sym typeface="Poppins Bold"/>
              </a:rPr>
              <a:t>Domain </a:t>
            </a:r>
            <a:r>
              <a:rPr lang="en-US" sz="2085">
                <a:solidFill>
                  <a:srgbClr val="FFFFFF"/>
                </a:solidFill>
                <a:latin typeface="Poppins"/>
                <a:ea typeface="Poppins"/>
                <a:cs typeface="Poppins"/>
                <a:sym typeface="Poppins"/>
              </a:rPr>
              <a:t>: E-Commerce /</a:t>
            </a:r>
            <a:r>
              <a:rPr lang="en-US" sz="2085">
                <a:solidFill>
                  <a:srgbClr val="FFFFFF"/>
                </a:solidFill>
                <a:latin typeface="Poppins"/>
                <a:ea typeface="Poppins"/>
                <a:cs typeface="Poppins"/>
                <a:sym typeface="Poppins"/>
              </a:rPr>
              <a:t>Retail Analytics</a:t>
            </a:r>
          </a:p>
        </p:txBody>
      </p:sp>
      <p:sp>
        <p:nvSpPr>
          <p:cNvPr name="TextBox 28" id="28"/>
          <p:cNvSpPr txBox="true"/>
          <p:nvPr/>
        </p:nvSpPr>
        <p:spPr>
          <a:xfrm rot="0">
            <a:off x="5159056" y="2366323"/>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Background :</a:t>
            </a:r>
          </a:p>
        </p:txBody>
      </p:sp>
      <p:sp>
        <p:nvSpPr>
          <p:cNvPr name="TextBox 29" id="29"/>
          <p:cNvSpPr txBox="true"/>
          <p:nvPr/>
        </p:nvSpPr>
        <p:spPr>
          <a:xfrm rot="0">
            <a:off x="10928708" y="2366323"/>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Methodology:</a:t>
            </a:r>
          </a:p>
        </p:txBody>
      </p:sp>
      <p:sp>
        <p:nvSpPr>
          <p:cNvPr name="TextBox 30" id="30"/>
          <p:cNvSpPr txBox="true"/>
          <p:nvPr/>
        </p:nvSpPr>
        <p:spPr>
          <a:xfrm rot="0">
            <a:off x="12302173" y="2853567"/>
            <a:ext cx="3619027" cy="1779245"/>
          </a:xfrm>
          <a:prstGeom prst="rect">
            <a:avLst/>
          </a:prstGeom>
        </p:spPr>
        <p:txBody>
          <a:bodyPr anchor="t" rtlCol="false" tIns="0" lIns="0" bIns="0" rIns="0">
            <a:spAutoFit/>
          </a:bodyPr>
          <a:lstStyle/>
          <a:p>
            <a:pPr algn="l" marL="370770" indent="-185385" lvl="1">
              <a:lnSpc>
                <a:spcPts val="2404"/>
              </a:lnSpc>
              <a:buFont typeface="Arial"/>
              <a:buChar char="•"/>
            </a:pPr>
            <a:r>
              <a:rPr lang="en-US" sz="1717">
                <a:solidFill>
                  <a:srgbClr val="FFFFFF"/>
                </a:solidFill>
                <a:latin typeface="Poppins"/>
                <a:ea typeface="Poppins"/>
                <a:cs typeface="Poppins"/>
                <a:sym typeface="Poppins"/>
              </a:rPr>
              <a:t>Data driven promotional timing and channel selection</a:t>
            </a:r>
          </a:p>
          <a:p>
            <a:pPr algn="l" marL="370770" indent="-185385" lvl="1">
              <a:lnSpc>
                <a:spcPts val="2404"/>
              </a:lnSpc>
              <a:buFont typeface="Arial"/>
              <a:buChar char="•"/>
            </a:pPr>
            <a:r>
              <a:rPr lang="en-US" sz="1717">
                <a:solidFill>
                  <a:srgbClr val="FFFFFF"/>
                </a:solidFill>
                <a:latin typeface="Poppins"/>
                <a:ea typeface="Poppins"/>
                <a:cs typeface="Poppins"/>
                <a:sym typeface="Poppins"/>
              </a:rPr>
              <a:t>Resolving checkout funnel friction</a:t>
            </a:r>
          </a:p>
          <a:p>
            <a:pPr algn="l" marL="370770" indent="-185385" lvl="1">
              <a:lnSpc>
                <a:spcPts val="2404"/>
              </a:lnSpc>
              <a:buFont typeface="Arial"/>
              <a:buChar char="•"/>
            </a:pPr>
            <a:r>
              <a:rPr lang="en-US" sz="1717">
                <a:solidFill>
                  <a:srgbClr val="FFFFFF"/>
                </a:solidFill>
                <a:latin typeface="Poppins"/>
                <a:ea typeface="Poppins"/>
                <a:cs typeface="Poppins"/>
                <a:sym typeface="Poppins"/>
              </a:rPr>
              <a:t>Strategic resource allocation to high value categories</a:t>
            </a:r>
          </a:p>
        </p:txBody>
      </p:sp>
      <p:sp>
        <p:nvSpPr>
          <p:cNvPr name="TextBox 31" id="31"/>
          <p:cNvSpPr txBox="true"/>
          <p:nvPr/>
        </p:nvSpPr>
        <p:spPr>
          <a:xfrm rot="0">
            <a:off x="10486130" y="5102326"/>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Impact :</a:t>
            </a:r>
          </a:p>
        </p:txBody>
      </p:sp>
      <p:sp>
        <p:nvSpPr>
          <p:cNvPr name="TextBox 32" id="32"/>
          <p:cNvSpPr txBox="true"/>
          <p:nvPr/>
        </p:nvSpPr>
        <p:spPr>
          <a:xfrm rot="0">
            <a:off x="12349798" y="5556801"/>
            <a:ext cx="5062023" cy="3262130"/>
          </a:xfrm>
          <a:prstGeom prst="rect">
            <a:avLst/>
          </a:prstGeom>
        </p:spPr>
        <p:txBody>
          <a:bodyPr anchor="t" rtlCol="false" tIns="0" lIns="0" bIns="0" rIns="0">
            <a:spAutoFit/>
          </a:bodyPr>
          <a:lstStyle/>
          <a:p>
            <a:pPr algn="l" marL="369252" indent="-184626" lvl="1">
              <a:lnSpc>
                <a:spcPts val="2394"/>
              </a:lnSpc>
              <a:buFont typeface="Arial"/>
              <a:buChar char="•"/>
            </a:pPr>
            <a:r>
              <a:rPr lang="en-US" sz="1710">
                <a:solidFill>
                  <a:srgbClr val="FFFFFF"/>
                </a:solidFill>
                <a:latin typeface="Poppins"/>
                <a:ea typeface="Poppins"/>
                <a:cs typeface="Poppins"/>
                <a:sym typeface="Poppins"/>
              </a:rPr>
              <a:t>Cart</a:t>
            </a:r>
            <a:r>
              <a:rPr lang="en-US" sz="1710">
                <a:solidFill>
                  <a:srgbClr val="FFFFFF"/>
                </a:solidFill>
                <a:latin typeface="Poppins"/>
                <a:ea typeface="Poppins"/>
                <a:cs typeface="Poppins"/>
                <a:sym typeface="Poppins"/>
              </a:rPr>
              <a:t> Abadonment : Decreased via scheduled push notifications </a:t>
            </a:r>
            <a:r>
              <a:rPr lang="en-US" b="true" sz="1710">
                <a:solidFill>
                  <a:srgbClr val="FFFFFF"/>
                </a:solidFill>
                <a:latin typeface="Poppins Bold"/>
                <a:ea typeface="Poppins Bold"/>
                <a:cs typeface="Poppins Bold"/>
                <a:sym typeface="Poppins Bold"/>
              </a:rPr>
              <a:t>(19:00–21:00)</a:t>
            </a:r>
            <a:r>
              <a:rPr lang="en-US" sz="1710">
                <a:solidFill>
                  <a:srgbClr val="FFFFFF"/>
                </a:solidFill>
                <a:latin typeface="Poppins"/>
                <a:ea typeface="Poppins"/>
                <a:cs typeface="Poppins"/>
                <a:sym typeface="Poppins"/>
              </a:rPr>
              <a:t> and a streamlined checkout flow.</a:t>
            </a:r>
          </a:p>
          <a:p>
            <a:pPr algn="l" marL="369252" indent="-184626" lvl="1">
              <a:lnSpc>
                <a:spcPts val="2394"/>
              </a:lnSpc>
              <a:buFont typeface="Arial"/>
              <a:buChar char="•"/>
            </a:pPr>
            <a:r>
              <a:rPr lang="en-US" sz="1710">
                <a:solidFill>
                  <a:srgbClr val="FFFFFF"/>
                </a:solidFill>
                <a:latin typeface="Poppins"/>
                <a:ea typeface="Poppins"/>
                <a:cs typeface="Poppins"/>
                <a:sym typeface="Poppins"/>
              </a:rPr>
              <a:t>One Time Customers : Reduced through recurring re engagement programs.</a:t>
            </a:r>
          </a:p>
          <a:p>
            <a:pPr algn="l" marL="369252" indent="-184626" lvl="1">
              <a:lnSpc>
                <a:spcPts val="2394"/>
              </a:lnSpc>
              <a:buFont typeface="Arial"/>
              <a:buChar char="•"/>
            </a:pPr>
            <a:r>
              <a:rPr lang="en-US" sz="1710">
                <a:solidFill>
                  <a:srgbClr val="FFFFFF"/>
                </a:solidFill>
                <a:latin typeface="Poppins"/>
                <a:ea typeface="Poppins"/>
                <a:cs typeface="Poppins"/>
                <a:sym typeface="Poppins"/>
              </a:rPr>
              <a:t>Kids &amp; Toys Category : Revenue growth driven by leveraging its high conversion rate </a:t>
            </a:r>
            <a:r>
              <a:rPr lang="en-US" b="true" sz="1710">
                <a:solidFill>
                  <a:srgbClr val="FFFFFF"/>
                </a:solidFill>
                <a:latin typeface="Poppins Bold"/>
                <a:ea typeface="Poppins Bold"/>
                <a:cs typeface="Poppins Bold"/>
                <a:sym typeface="Poppins Bold"/>
              </a:rPr>
              <a:t>(57.1%)</a:t>
            </a:r>
          </a:p>
          <a:p>
            <a:pPr algn="l" marL="369252" indent="-184626" lvl="1">
              <a:lnSpc>
                <a:spcPts val="2394"/>
              </a:lnSpc>
              <a:buFont typeface="Arial"/>
              <a:buChar char="•"/>
            </a:pPr>
            <a:r>
              <a:rPr lang="en-US" sz="1710">
                <a:solidFill>
                  <a:srgbClr val="FFFFFF"/>
                </a:solidFill>
                <a:latin typeface="Poppins"/>
                <a:ea typeface="Poppins"/>
                <a:cs typeface="Poppins"/>
                <a:sym typeface="Poppins"/>
              </a:rPr>
              <a:t>Ad Efficiency : Optimized ad spend through peak-hour targeting rather than day based allocation</a:t>
            </a:r>
          </a:p>
        </p:txBody>
      </p:sp>
      <p:sp>
        <p:nvSpPr>
          <p:cNvPr name="TextBox 33" id="33"/>
          <p:cNvSpPr txBox="true"/>
          <p:nvPr/>
        </p:nvSpPr>
        <p:spPr>
          <a:xfrm rot="0">
            <a:off x="-492218" y="8381694"/>
            <a:ext cx="4992493" cy="390396"/>
          </a:xfrm>
          <a:prstGeom prst="rect">
            <a:avLst/>
          </a:prstGeom>
        </p:spPr>
        <p:txBody>
          <a:bodyPr anchor="t" rtlCol="false" tIns="0" lIns="0" bIns="0" rIns="0">
            <a:spAutoFit/>
          </a:bodyPr>
          <a:lstStyle/>
          <a:p>
            <a:pPr algn="ctr">
              <a:lnSpc>
                <a:spcPts val="3051"/>
              </a:lnSpc>
              <a:spcBef>
                <a:spcPct val="0"/>
              </a:spcBef>
            </a:pPr>
            <a:r>
              <a:rPr lang="en-US" b="true" sz="2179">
                <a:solidFill>
                  <a:srgbClr val="FFFFFF"/>
                </a:solidFill>
                <a:latin typeface="Poppins Bold"/>
                <a:ea typeface="Poppins Bold"/>
                <a:cs typeface="Poppins Bold"/>
                <a:sym typeface="Poppins Bold"/>
              </a:rPr>
              <a:t>Tools Used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7" id="7"/>
          <p:cNvGraphicFramePr>
            <a:graphicFrameLocks noGrp="true"/>
          </p:cNvGraphicFramePr>
          <p:nvPr/>
        </p:nvGraphicFramePr>
        <p:xfrm>
          <a:off x="3367630" y="2192941"/>
          <a:ext cx="11952239" cy="6631660"/>
        </p:xfrm>
        <a:graphic>
          <a:graphicData uri="http://schemas.openxmlformats.org/drawingml/2006/table">
            <a:tbl>
              <a:tblPr/>
              <a:tblGrid>
                <a:gridCol w="5545068"/>
                <a:gridCol w="6407171"/>
              </a:tblGrid>
              <a:tr h="900524">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Project Background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O</a:t>
                      </a:r>
                      <a:r>
                        <a:rPr lang="en-US" sz="1899">
                          <a:solidFill>
                            <a:srgbClr val="FFFFFF"/>
                          </a:solidFill>
                          <a:latin typeface="Poppins"/>
                          <a:ea typeface="Poppins"/>
                          <a:cs typeface="Poppins"/>
                          <a:sym typeface="Poppins"/>
                        </a:rPr>
                        <a:t>bjective, scope, and benefits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0524">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Business Problems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Business problems to be solved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0524">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Data Understanding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D</a:t>
                      </a:r>
                      <a:r>
                        <a:rPr lang="en-US" sz="1899">
                          <a:solidFill>
                            <a:srgbClr val="FFFFFF"/>
                          </a:solidFill>
                          <a:latin typeface="Poppins"/>
                          <a:ea typeface="Poppins"/>
                          <a:cs typeface="Poppins"/>
                          <a:sym typeface="Poppins"/>
                        </a:rPr>
                        <a:t>ata sources, quality, and structure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0524">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EDA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Analysis methods and key findings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28518">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Hypothesis Testing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Chi Square, Mann Whitney, Spearman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0524">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Dashboard and Visualizations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Power BI dashboard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0524">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R</a:t>
                      </a:r>
                      <a:r>
                        <a:rPr lang="en-US" sz="1899" b="true">
                          <a:solidFill>
                            <a:srgbClr val="FFFFFF"/>
                          </a:solidFill>
                          <a:latin typeface="Poppins Bold"/>
                          <a:ea typeface="Poppins Bold"/>
                          <a:cs typeface="Poppins Bold"/>
                          <a:sym typeface="Poppins Bold"/>
                        </a:rPr>
                        <a:t>ecomendations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A</a:t>
                      </a:r>
                      <a:r>
                        <a:rPr lang="en-US" sz="1899">
                          <a:solidFill>
                            <a:srgbClr val="FFFFFF"/>
                          </a:solidFill>
                          <a:latin typeface="Poppins"/>
                          <a:ea typeface="Poppins"/>
                          <a:cs typeface="Poppins"/>
                          <a:sym typeface="Poppins"/>
                        </a:rPr>
                        <a:t>ctionable business recommendations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8" id="8"/>
          <p:cNvSpPr txBox="true"/>
          <p:nvPr/>
        </p:nvSpPr>
        <p:spPr>
          <a:xfrm rot="0">
            <a:off x="5473099" y="866775"/>
            <a:ext cx="7332185" cy="701241"/>
          </a:xfrm>
          <a:prstGeom prst="rect">
            <a:avLst/>
          </a:prstGeom>
        </p:spPr>
        <p:txBody>
          <a:bodyPr anchor="t" rtlCol="false" tIns="0" lIns="0" bIns="0" rIns="0">
            <a:spAutoFit/>
          </a:bodyPr>
          <a:lstStyle/>
          <a:p>
            <a:pPr algn="ctr">
              <a:lnSpc>
                <a:spcPts val="5447"/>
              </a:lnSpc>
              <a:spcBef>
                <a:spcPct val="0"/>
              </a:spcBef>
            </a:pPr>
            <a:r>
              <a:rPr lang="en-US" b="true" sz="3891">
                <a:solidFill>
                  <a:srgbClr val="FFFFFF"/>
                </a:solidFill>
                <a:latin typeface="Poppins Bold"/>
                <a:ea typeface="Poppins Bold"/>
                <a:cs typeface="Poppins Bold"/>
                <a:sym typeface="Poppins Bold"/>
              </a:rPr>
              <a:t>Table of Contents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772088" y="2353685"/>
            <a:ext cx="3839002" cy="4625303"/>
          </a:xfrm>
          <a:custGeom>
            <a:avLst/>
            <a:gdLst/>
            <a:ahLst/>
            <a:cxnLst/>
            <a:rect r="r" b="b" t="t" l="l"/>
            <a:pathLst>
              <a:path h="4625303" w="3839002">
                <a:moveTo>
                  <a:pt x="0" y="0"/>
                </a:moveTo>
                <a:lnTo>
                  <a:pt x="3839002" y="0"/>
                </a:lnTo>
                <a:lnTo>
                  <a:pt x="3839002" y="4625303"/>
                </a:lnTo>
                <a:lnTo>
                  <a:pt x="0" y="46253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3393737"/>
            <a:ext cx="10341665" cy="1128355"/>
          </a:xfrm>
          <a:prstGeom prst="rect">
            <a:avLst/>
          </a:prstGeom>
        </p:spPr>
        <p:txBody>
          <a:bodyPr anchor="t" rtlCol="false" tIns="0" lIns="0" bIns="0" rIns="0">
            <a:spAutoFit/>
          </a:bodyPr>
          <a:lstStyle/>
          <a:p>
            <a:pPr algn="l" marL="0" indent="0" lvl="0">
              <a:lnSpc>
                <a:spcPts val="7839"/>
              </a:lnSpc>
            </a:pPr>
            <a:r>
              <a:rPr lang="en-US" b="true" sz="7999">
                <a:solidFill>
                  <a:srgbClr val="FFFFFF"/>
                </a:solidFill>
                <a:latin typeface="Poppins Bold"/>
                <a:ea typeface="Poppins Bold"/>
                <a:cs typeface="Poppins Bold"/>
                <a:sym typeface="Poppins Bold"/>
              </a:rPr>
              <a:t>Project Background</a:t>
            </a:r>
          </a:p>
        </p:txBody>
      </p:sp>
      <p:sp>
        <p:nvSpPr>
          <p:cNvPr name="TextBox 9" id="9"/>
          <p:cNvSpPr txBox="true"/>
          <p:nvPr/>
        </p:nvSpPr>
        <p:spPr>
          <a:xfrm rot="0">
            <a:off x="1028700" y="5613738"/>
            <a:ext cx="9584216" cy="2127143"/>
          </a:xfrm>
          <a:prstGeom prst="rect">
            <a:avLst/>
          </a:prstGeom>
        </p:spPr>
        <p:txBody>
          <a:bodyPr anchor="t" rtlCol="false" tIns="0" lIns="0" bIns="0" rIns="0">
            <a:spAutoFit/>
          </a:bodyPr>
          <a:lstStyle/>
          <a:p>
            <a:pPr algn="just" marL="863591" indent="-431796" lvl="1">
              <a:lnSpc>
                <a:spcPts val="5599"/>
              </a:lnSpc>
              <a:buFont typeface="Arial"/>
              <a:buChar char="•"/>
            </a:pPr>
            <a:r>
              <a:rPr lang="en-US" sz="3999">
                <a:solidFill>
                  <a:srgbClr val="FFFFFF"/>
                </a:solidFill>
                <a:latin typeface="Poppins"/>
                <a:ea typeface="Poppins"/>
                <a:cs typeface="Poppins"/>
                <a:sym typeface="Poppins"/>
              </a:rPr>
              <a:t>Background</a:t>
            </a:r>
          </a:p>
          <a:p>
            <a:pPr algn="just" marL="863591" indent="-431796" lvl="1">
              <a:lnSpc>
                <a:spcPts val="5599"/>
              </a:lnSpc>
              <a:buFont typeface="Arial"/>
              <a:buChar char="•"/>
            </a:pPr>
            <a:r>
              <a:rPr lang="en-US" sz="3999">
                <a:solidFill>
                  <a:srgbClr val="FFFFFF"/>
                </a:solidFill>
                <a:latin typeface="Poppins"/>
                <a:ea typeface="Poppins"/>
                <a:cs typeface="Poppins"/>
                <a:sym typeface="Poppins"/>
              </a:rPr>
              <a:t>Objectives</a:t>
            </a:r>
          </a:p>
          <a:p>
            <a:pPr algn="just" marL="863591" indent="-431796" lvl="1">
              <a:lnSpc>
                <a:spcPts val="5599"/>
              </a:lnSpc>
              <a:spcBef>
                <a:spcPct val="0"/>
              </a:spcBef>
              <a:buFont typeface="Arial"/>
              <a:buChar char="•"/>
            </a:pPr>
            <a:r>
              <a:rPr lang="en-US" sz="3999">
                <a:solidFill>
                  <a:srgbClr val="FFFFFF"/>
                </a:solidFill>
                <a:latin typeface="Poppins"/>
                <a:ea typeface="Poppins"/>
                <a:cs typeface="Poppins"/>
                <a:sym typeface="Poppins"/>
              </a:rPr>
              <a:t>Results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58500" y="1028700"/>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35181" y="3377603"/>
            <a:ext cx="5093371" cy="5630057"/>
            <a:chOff x="0" y="0"/>
            <a:chExt cx="1341464" cy="1482813"/>
          </a:xfrm>
        </p:grpSpPr>
        <p:sp>
          <p:nvSpPr>
            <p:cNvPr name="Freeform 8" id="8"/>
            <p:cNvSpPr/>
            <p:nvPr/>
          </p:nvSpPr>
          <p:spPr>
            <a:xfrm flipH="false" flipV="false" rot="0">
              <a:off x="0" y="0"/>
              <a:ext cx="1341464" cy="1482813"/>
            </a:xfrm>
            <a:custGeom>
              <a:avLst/>
              <a:gdLst/>
              <a:ahLst/>
              <a:cxnLst/>
              <a:rect r="r" b="b" t="t" l="l"/>
              <a:pathLst>
                <a:path h="1482813" w="1341464">
                  <a:moveTo>
                    <a:pt x="77520" y="0"/>
                  </a:moveTo>
                  <a:lnTo>
                    <a:pt x="1263944" y="0"/>
                  </a:lnTo>
                  <a:cubicBezTo>
                    <a:pt x="1306757" y="0"/>
                    <a:pt x="1341464" y="34707"/>
                    <a:pt x="1341464" y="77520"/>
                  </a:cubicBezTo>
                  <a:lnTo>
                    <a:pt x="1341464" y="1405293"/>
                  </a:lnTo>
                  <a:cubicBezTo>
                    <a:pt x="1341464" y="1425853"/>
                    <a:pt x="1333297" y="1445571"/>
                    <a:pt x="1318759" y="1460108"/>
                  </a:cubicBezTo>
                  <a:cubicBezTo>
                    <a:pt x="1304221" y="1474646"/>
                    <a:pt x="1284504" y="1482813"/>
                    <a:pt x="1263944" y="1482813"/>
                  </a:cubicBezTo>
                  <a:lnTo>
                    <a:pt x="77520" y="1482813"/>
                  </a:lnTo>
                  <a:cubicBezTo>
                    <a:pt x="34707" y="1482813"/>
                    <a:pt x="0" y="1448107"/>
                    <a:pt x="0" y="1405293"/>
                  </a:cubicBezTo>
                  <a:lnTo>
                    <a:pt x="0" y="77520"/>
                  </a:lnTo>
                  <a:cubicBezTo>
                    <a:pt x="0" y="56960"/>
                    <a:pt x="8167" y="37243"/>
                    <a:pt x="22705" y="22705"/>
                  </a:cubicBezTo>
                  <a:cubicBezTo>
                    <a:pt x="37243" y="8167"/>
                    <a:pt x="56960" y="0"/>
                    <a:pt x="77520" y="0"/>
                  </a:cubicBezTo>
                  <a:close/>
                </a:path>
              </a:pathLst>
            </a:custGeom>
            <a:ln w="66675" cap="rnd">
              <a:solidFill>
                <a:srgbClr val="5CA3B2"/>
              </a:solidFill>
              <a:prstDash val="solid"/>
              <a:round/>
            </a:ln>
          </p:spPr>
        </p:sp>
        <p:sp>
          <p:nvSpPr>
            <p:cNvPr name="TextBox 9" id="9"/>
            <p:cNvSpPr txBox="true"/>
            <p:nvPr/>
          </p:nvSpPr>
          <p:spPr>
            <a:xfrm>
              <a:off x="0" y="-66675"/>
              <a:ext cx="1341464" cy="1549488"/>
            </a:xfrm>
            <a:prstGeom prst="rect">
              <a:avLst/>
            </a:prstGeom>
          </p:spPr>
          <p:txBody>
            <a:bodyPr anchor="ctr" rtlCol="false" tIns="50800" lIns="50800" bIns="50800" rIns="50800"/>
            <a:lstStyle/>
            <a:p>
              <a:pPr algn="ctr">
                <a:lnSpc>
                  <a:spcPts val="3499"/>
                </a:lnSpc>
              </a:pPr>
            </a:p>
          </p:txBody>
        </p:sp>
      </p:grpSp>
      <p:sp>
        <p:nvSpPr>
          <p:cNvPr name="AutoShape 10" id="10"/>
          <p:cNvSpPr/>
          <p:nvPr/>
        </p:nvSpPr>
        <p:spPr>
          <a:xfrm>
            <a:off x="1335580" y="4724294"/>
            <a:ext cx="5093371" cy="0"/>
          </a:xfrm>
          <a:prstGeom prst="line">
            <a:avLst/>
          </a:prstGeom>
          <a:ln cap="flat" w="66675">
            <a:solidFill>
              <a:srgbClr val="5CA3B2"/>
            </a:solidFill>
            <a:prstDash val="solid"/>
            <a:headEnd type="none" len="sm" w="sm"/>
            <a:tailEnd type="none" len="sm" w="sm"/>
          </a:ln>
        </p:spPr>
      </p:sp>
      <p:grpSp>
        <p:nvGrpSpPr>
          <p:cNvPr name="Group 11" id="11"/>
          <p:cNvGrpSpPr/>
          <p:nvPr/>
        </p:nvGrpSpPr>
        <p:grpSpPr>
          <a:xfrm rot="0">
            <a:off x="12128942" y="3409864"/>
            <a:ext cx="5129957" cy="5597796"/>
            <a:chOff x="0" y="0"/>
            <a:chExt cx="1351100" cy="1474317"/>
          </a:xfrm>
        </p:grpSpPr>
        <p:sp>
          <p:nvSpPr>
            <p:cNvPr name="Freeform 12" id="12"/>
            <p:cNvSpPr/>
            <p:nvPr/>
          </p:nvSpPr>
          <p:spPr>
            <a:xfrm flipH="false" flipV="false" rot="0">
              <a:off x="0" y="0"/>
              <a:ext cx="1351100" cy="1474317"/>
            </a:xfrm>
            <a:custGeom>
              <a:avLst/>
              <a:gdLst/>
              <a:ahLst/>
              <a:cxnLst/>
              <a:rect r="r" b="b" t="t" l="l"/>
              <a:pathLst>
                <a:path h="1474317" w="1351100">
                  <a:moveTo>
                    <a:pt x="76967" y="0"/>
                  </a:moveTo>
                  <a:lnTo>
                    <a:pt x="1274133" y="0"/>
                  </a:lnTo>
                  <a:cubicBezTo>
                    <a:pt x="1316640" y="0"/>
                    <a:pt x="1351100" y="34459"/>
                    <a:pt x="1351100" y="76967"/>
                  </a:cubicBezTo>
                  <a:lnTo>
                    <a:pt x="1351100" y="1397350"/>
                  </a:lnTo>
                  <a:cubicBezTo>
                    <a:pt x="1351100" y="1417763"/>
                    <a:pt x="1342991" y="1437339"/>
                    <a:pt x="1328557" y="1451774"/>
                  </a:cubicBezTo>
                  <a:cubicBezTo>
                    <a:pt x="1314122" y="1466208"/>
                    <a:pt x="1294545" y="1474317"/>
                    <a:pt x="1274133" y="1474317"/>
                  </a:cubicBezTo>
                  <a:lnTo>
                    <a:pt x="76967" y="1474317"/>
                  </a:lnTo>
                  <a:cubicBezTo>
                    <a:pt x="56554" y="1474317"/>
                    <a:pt x="36977" y="1466208"/>
                    <a:pt x="22543" y="1451774"/>
                  </a:cubicBezTo>
                  <a:cubicBezTo>
                    <a:pt x="8109" y="1437339"/>
                    <a:pt x="0" y="1417763"/>
                    <a:pt x="0" y="1397350"/>
                  </a:cubicBezTo>
                  <a:lnTo>
                    <a:pt x="0" y="76967"/>
                  </a:lnTo>
                  <a:cubicBezTo>
                    <a:pt x="0" y="56554"/>
                    <a:pt x="8109" y="36977"/>
                    <a:pt x="22543" y="22543"/>
                  </a:cubicBezTo>
                  <a:cubicBezTo>
                    <a:pt x="36977" y="8109"/>
                    <a:pt x="56554" y="0"/>
                    <a:pt x="76967" y="0"/>
                  </a:cubicBezTo>
                  <a:close/>
                </a:path>
              </a:pathLst>
            </a:custGeom>
            <a:ln w="66675" cap="rnd">
              <a:solidFill>
                <a:srgbClr val="5CA3B2"/>
              </a:solidFill>
              <a:prstDash val="solid"/>
              <a:round/>
            </a:ln>
          </p:spPr>
        </p:sp>
        <p:sp>
          <p:nvSpPr>
            <p:cNvPr name="TextBox 13" id="13"/>
            <p:cNvSpPr txBox="true"/>
            <p:nvPr/>
          </p:nvSpPr>
          <p:spPr>
            <a:xfrm>
              <a:off x="0" y="-66675"/>
              <a:ext cx="1351100" cy="1540992"/>
            </a:xfrm>
            <a:prstGeom prst="rect">
              <a:avLst/>
            </a:prstGeom>
          </p:spPr>
          <p:txBody>
            <a:bodyPr anchor="ctr" rtlCol="false" tIns="50800" lIns="50800" bIns="50800" rIns="50800"/>
            <a:lstStyle/>
            <a:p>
              <a:pPr algn="ctr">
                <a:lnSpc>
                  <a:spcPts val="3499"/>
                </a:lnSpc>
              </a:pPr>
            </a:p>
          </p:txBody>
        </p:sp>
      </p:grpSp>
      <p:sp>
        <p:nvSpPr>
          <p:cNvPr name="AutoShape 14" id="14"/>
          <p:cNvSpPr/>
          <p:nvPr/>
        </p:nvSpPr>
        <p:spPr>
          <a:xfrm>
            <a:off x="12129343" y="4876694"/>
            <a:ext cx="5129957" cy="0"/>
          </a:xfrm>
          <a:prstGeom prst="line">
            <a:avLst/>
          </a:prstGeom>
          <a:ln cap="flat" w="66675">
            <a:solidFill>
              <a:srgbClr val="5CA3B2"/>
            </a:solidFill>
            <a:prstDash val="solid"/>
            <a:headEnd type="none" len="sm" w="sm"/>
            <a:tailEnd type="none" len="sm" w="sm"/>
          </a:ln>
        </p:spPr>
      </p:sp>
      <p:grpSp>
        <p:nvGrpSpPr>
          <p:cNvPr name="Group 15" id="15"/>
          <p:cNvGrpSpPr/>
          <p:nvPr/>
        </p:nvGrpSpPr>
        <p:grpSpPr>
          <a:xfrm rot="0">
            <a:off x="6730373" y="3409864"/>
            <a:ext cx="5093371" cy="5630057"/>
            <a:chOff x="0" y="0"/>
            <a:chExt cx="1341464" cy="1482813"/>
          </a:xfrm>
        </p:grpSpPr>
        <p:sp>
          <p:nvSpPr>
            <p:cNvPr name="Freeform 16" id="16"/>
            <p:cNvSpPr/>
            <p:nvPr/>
          </p:nvSpPr>
          <p:spPr>
            <a:xfrm flipH="false" flipV="false" rot="0">
              <a:off x="0" y="0"/>
              <a:ext cx="1341464" cy="1482813"/>
            </a:xfrm>
            <a:custGeom>
              <a:avLst/>
              <a:gdLst/>
              <a:ahLst/>
              <a:cxnLst/>
              <a:rect r="r" b="b" t="t" l="l"/>
              <a:pathLst>
                <a:path h="1482813" w="1341464">
                  <a:moveTo>
                    <a:pt x="77520" y="0"/>
                  </a:moveTo>
                  <a:lnTo>
                    <a:pt x="1263944" y="0"/>
                  </a:lnTo>
                  <a:cubicBezTo>
                    <a:pt x="1306757" y="0"/>
                    <a:pt x="1341464" y="34707"/>
                    <a:pt x="1341464" y="77520"/>
                  </a:cubicBezTo>
                  <a:lnTo>
                    <a:pt x="1341464" y="1405293"/>
                  </a:lnTo>
                  <a:cubicBezTo>
                    <a:pt x="1341464" y="1425853"/>
                    <a:pt x="1333297" y="1445571"/>
                    <a:pt x="1318759" y="1460108"/>
                  </a:cubicBezTo>
                  <a:cubicBezTo>
                    <a:pt x="1304221" y="1474646"/>
                    <a:pt x="1284504" y="1482813"/>
                    <a:pt x="1263944" y="1482813"/>
                  </a:cubicBezTo>
                  <a:lnTo>
                    <a:pt x="77520" y="1482813"/>
                  </a:lnTo>
                  <a:cubicBezTo>
                    <a:pt x="34707" y="1482813"/>
                    <a:pt x="0" y="1448107"/>
                    <a:pt x="0" y="1405293"/>
                  </a:cubicBezTo>
                  <a:lnTo>
                    <a:pt x="0" y="77520"/>
                  </a:lnTo>
                  <a:cubicBezTo>
                    <a:pt x="0" y="56960"/>
                    <a:pt x="8167" y="37243"/>
                    <a:pt x="22705" y="22705"/>
                  </a:cubicBezTo>
                  <a:cubicBezTo>
                    <a:pt x="37243" y="8167"/>
                    <a:pt x="56960" y="0"/>
                    <a:pt x="77520" y="0"/>
                  </a:cubicBezTo>
                  <a:close/>
                </a:path>
              </a:pathLst>
            </a:custGeom>
            <a:ln w="66675" cap="rnd">
              <a:solidFill>
                <a:srgbClr val="5CA3B2"/>
              </a:solidFill>
              <a:prstDash val="solid"/>
              <a:round/>
            </a:ln>
          </p:spPr>
        </p:sp>
        <p:sp>
          <p:nvSpPr>
            <p:cNvPr name="TextBox 17" id="17"/>
            <p:cNvSpPr txBox="true"/>
            <p:nvPr/>
          </p:nvSpPr>
          <p:spPr>
            <a:xfrm>
              <a:off x="0" y="-66675"/>
              <a:ext cx="1341464" cy="1549488"/>
            </a:xfrm>
            <a:prstGeom prst="rect">
              <a:avLst/>
            </a:prstGeom>
          </p:spPr>
          <p:txBody>
            <a:bodyPr anchor="ctr" rtlCol="false" tIns="50800" lIns="50800" bIns="50800" rIns="50800"/>
            <a:lstStyle/>
            <a:p>
              <a:pPr algn="ctr">
                <a:lnSpc>
                  <a:spcPts val="3499"/>
                </a:lnSpc>
              </a:pPr>
            </a:p>
          </p:txBody>
        </p:sp>
      </p:grpSp>
      <p:sp>
        <p:nvSpPr>
          <p:cNvPr name="AutoShape 18" id="18"/>
          <p:cNvSpPr/>
          <p:nvPr/>
        </p:nvSpPr>
        <p:spPr>
          <a:xfrm>
            <a:off x="6730771" y="4756555"/>
            <a:ext cx="5093371" cy="0"/>
          </a:xfrm>
          <a:prstGeom prst="line">
            <a:avLst/>
          </a:prstGeom>
          <a:ln cap="flat" w="66675">
            <a:solidFill>
              <a:srgbClr val="5CA3B2"/>
            </a:solidFill>
            <a:prstDash val="solid"/>
            <a:headEnd type="none" len="sm" w="sm"/>
            <a:tailEnd type="none" len="sm" w="sm"/>
          </a:ln>
        </p:spPr>
      </p:sp>
      <p:sp>
        <p:nvSpPr>
          <p:cNvPr name="Freeform 19" id="19"/>
          <p:cNvSpPr/>
          <p:nvPr/>
        </p:nvSpPr>
        <p:spPr>
          <a:xfrm flipH="false" flipV="false" rot="0">
            <a:off x="1657866" y="3583318"/>
            <a:ext cx="898088" cy="898088"/>
          </a:xfrm>
          <a:custGeom>
            <a:avLst/>
            <a:gdLst/>
            <a:ahLst/>
            <a:cxnLst/>
            <a:rect r="r" b="b" t="t" l="l"/>
            <a:pathLst>
              <a:path h="898088" w="898088">
                <a:moveTo>
                  <a:pt x="0" y="0"/>
                </a:moveTo>
                <a:lnTo>
                  <a:pt x="898088" y="0"/>
                </a:lnTo>
                <a:lnTo>
                  <a:pt x="898088" y="898088"/>
                </a:lnTo>
                <a:lnTo>
                  <a:pt x="0" y="898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7255524" y="3570992"/>
            <a:ext cx="826719" cy="1014379"/>
          </a:xfrm>
          <a:custGeom>
            <a:avLst/>
            <a:gdLst/>
            <a:ahLst/>
            <a:cxnLst/>
            <a:rect r="r" b="b" t="t" l="l"/>
            <a:pathLst>
              <a:path h="1014379" w="826719">
                <a:moveTo>
                  <a:pt x="0" y="0"/>
                </a:moveTo>
                <a:lnTo>
                  <a:pt x="826719" y="0"/>
                </a:lnTo>
                <a:lnTo>
                  <a:pt x="826719" y="1014378"/>
                </a:lnTo>
                <a:lnTo>
                  <a:pt x="0" y="10143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12652419" y="3596205"/>
            <a:ext cx="1021475" cy="1098360"/>
          </a:xfrm>
          <a:custGeom>
            <a:avLst/>
            <a:gdLst/>
            <a:ahLst/>
            <a:cxnLst/>
            <a:rect r="r" b="b" t="t" l="l"/>
            <a:pathLst>
              <a:path h="1098360" w="1021475">
                <a:moveTo>
                  <a:pt x="0" y="0"/>
                </a:moveTo>
                <a:lnTo>
                  <a:pt x="1021475" y="0"/>
                </a:lnTo>
                <a:lnTo>
                  <a:pt x="1021475" y="1098360"/>
                </a:lnTo>
                <a:lnTo>
                  <a:pt x="0" y="10983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2" id="22"/>
          <p:cNvSpPr txBox="true"/>
          <p:nvPr/>
        </p:nvSpPr>
        <p:spPr>
          <a:xfrm rot="0">
            <a:off x="0" y="1076325"/>
            <a:ext cx="11583573" cy="976666"/>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Project Background</a:t>
            </a:r>
          </a:p>
        </p:txBody>
      </p:sp>
      <p:sp>
        <p:nvSpPr>
          <p:cNvPr name="TextBox 23" id="23"/>
          <p:cNvSpPr txBox="true"/>
          <p:nvPr/>
        </p:nvSpPr>
        <p:spPr>
          <a:xfrm rot="0">
            <a:off x="1335181" y="2205374"/>
            <a:ext cx="15884153" cy="972204"/>
          </a:xfrm>
          <a:prstGeom prst="rect">
            <a:avLst/>
          </a:prstGeom>
        </p:spPr>
        <p:txBody>
          <a:bodyPr anchor="t" rtlCol="false" tIns="0" lIns="0" bIns="0" rIns="0">
            <a:spAutoFit/>
          </a:bodyPr>
          <a:lstStyle/>
          <a:p>
            <a:pPr algn="l">
              <a:lnSpc>
                <a:spcPts val="2582"/>
              </a:lnSpc>
              <a:spcBef>
                <a:spcPct val="0"/>
              </a:spcBef>
            </a:pPr>
            <a:r>
              <a:rPr lang="en-US" sz="1844">
                <a:solidFill>
                  <a:srgbClr val="FFFFFF"/>
                </a:solidFill>
                <a:latin typeface="Poppins"/>
                <a:ea typeface="Poppins"/>
                <a:cs typeface="Poppins"/>
                <a:sym typeface="Poppins"/>
              </a:rPr>
              <a:t>The banking industry faces a major challenge in managing credit risk, the possibility that borrowers fail to meet their payment obligations( default). Without an accurate assessment system, financial institutions risk significant losses from poorly targeted credit approvals.</a:t>
            </a:r>
          </a:p>
        </p:txBody>
      </p:sp>
      <p:sp>
        <p:nvSpPr>
          <p:cNvPr name="TextBox 24" id="24"/>
          <p:cNvSpPr txBox="true"/>
          <p:nvPr/>
        </p:nvSpPr>
        <p:spPr>
          <a:xfrm rot="0">
            <a:off x="1983396" y="3859106"/>
            <a:ext cx="3796941" cy="441361"/>
          </a:xfrm>
          <a:prstGeom prst="rect">
            <a:avLst/>
          </a:prstGeom>
        </p:spPr>
        <p:txBody>
          <a:bodyPr anchor="t" rtlCol="false" tIns="0" lIns="0" bIns="0" rIns="0">
            <a:spAutoFit/>
          </a:bodyPr>
          <a:lstStyle/>
          <a:p>
            <a:pPr algn="ctr">
              <a:lnSpc>
                <a:spcPts val="3499"/>
              </a:lnSpc>
            </a:pPr>
            <a:r>
              <a:rPr lang="en-US" b="true" sz="2499">
                <a:solidFill>
                  <a:srgbClr val="FFFFFF"/>
                </a:solidFill>
                <a:latin typeface="Poppins Bold"/>
                <a:ea typeface="Poppins Bold"/>
                <a:cs typeface="Poppins Bold"/>
                <a:sym typeface="Poppins Bold"/>
              </a:rPr>
              <a:t>Objectives</a:t>
            </a:r>
          </a:p>
        </p:txBody>
      </p:sp>
      <p:sp>
        <p:nvSpPr>
          <p:cNvPr name="TextBox 25" id="25"/>
          <p:cNvSpPr txBox="true"/>
          <p:nvPr/>
        </p:nvSpPr>
        <p:spPr>
          <a:xfrm rot="0">
            <a:off x="1657866" y="4911321"/>
            <a:ext cx="4448003" cy="3891514"/>
          </a:xfrm>
          <a:prstGeom prst="rect">
            <a:avLst/>
          </a:prstGeom>
        </p:spPr>
        <p:txBody>
          <a:bodyPr anchor="t" rtlCol="false" tIns="0" lIns="0" bIns="0" rIns="0">
            <a:spAutoFit/>
          </a:bodyPr>
          <a:lstStyle/>
          <a:p>
            <a:pPr algn="l" marL="442290" indent="-221145" lvl="1">
              <a:lnSpc>
                <a:spcPts val="2868"/>
              </a:lnSpc>
              <a:buFont typeface="Arial"/>
              <a:buChar char="•"/>
            </a:pPr>
            <a:r>
              <a:rPr lang="en-US" sz="2048">
                <a:solidFill>
                  <a:srgbClr val="FFFFFF"/>
                </a:solidFill>
                <a:latin typeface="Poppins"/>
                <a:ea typeface="Poppins"/>
                <a:cs typeface="Poppins"/>
                <a:sym typeface="Poppins"/>
              </a:rPr>
              <a:t>Identify default triggering factors</a:t>
            </a:r>
          </a:p>
          <a:p>
            <a:pPr algn="l">
              <a:lnSpc>
                <a:spcPts val="2869"/>
              </a:lnSpc>
            </a:pPr>
          </a:p>
          <a:p>
            <a:pPr algn="l" marL="442594" indent="-221297" lvl="1">
              <a:lnSpc>
                <a:spcPts val="2869"/>
              </a:lnSpc>
              <a:buFont typeface="Arial"/>
              <a:buChar char="•"/>
            </a:pPr>
            <a:r>
              <a:rPr lang="en-US" sz="2049">
                <a:solidFill>
                  <a:srgbClr val="FFFFFF"/>
                </a:solidFill>
                <a:latin typeface="Poppins"/>
                <a:ea typeface="Poppins"/>
                <a:cs typeface="Poppins"/>
                <a:sym typeface="Poppins"/>
              </a:rPr>
              <a:t>Build </a:t>
            </a:r>
            <a:r>
              <a:rPr lang="en-US" sz="2049">
                <a:solidFill>
                  <a:srgbClr val="FFFFFF"/>
                </a:solidFill>
                <a:latin typeface="Poppins"/>
                <a:ea typeface="Poppins"/>
                <a:cs typeface="Poppins"/>
                <a:sym typeface="Poppins"/>
              </a:rPr>
              <a:t>composite risk scoring system</a:t>
            </a:r>
          </a:p>
          <a:p>
            <a:pPr algn="l">
              <a:lnSpc>
                <a:spcPts val="2868"/>
              </a:lnSpc>
            </a:pPr>
          </a:p>
          <a:p>
            <a:pPr algn="l" marL="442290" indent="-221145" lvl="1">
              <a:lnSpc>
                <a:spcPts val="2868"/>
              </a:lnSpc>
              <a:buFont typeface="Arial"/>
              <a:buChar char="•"/>
            </a:pPr>
            <a:r>
              <a:rPr lang="en-US" sz="2048">
                <a:solidFill>
                  <a:srgbClr val="FFFFFF"/>
                </a:solidFill>
                <a:latin typeface="Poppins"/>
                <a:ea typeface="Poppins"/>
                <a:cs typeface="Poppins"/>
                <a:sym typeface="Poppins"/>
              </a:rPr>
              <a:t>Segment borrowers based on risk profile</a:t>
            </a:r>
          </a:p>
          <a:p>
            <a:pPr algn="l">
              <a:lnSpc>
                <a:spcPts val="2168"/>
              </a:lnSpc>
            </a:pPr>
          </a:p>
          <a:p>
            <a:pPr algn="l" marL="442290" indent="-221145" lvl="1">
              <a:lnSpc>
                <a:spcPts val="2868"/>
              </a:lnSpc>
              <a:buFont typeface="Arial"/>
              <a:buChar char="•"/>
            </a:pPr>
            <a:r>
              <a:rPr lang="en-US" sz="2048">
                <a:solidFill>
                  <a:srgbClr val="FFFFFF"/>
                </a:solidFill>
                <a:latin typeface="Poppins"/>
                <a:ea typeface="Poppins"/>
                <a:cs typeface="Poppins"/>
                <a:sym typeface="Poppins"/>
              </a:rPr>
              <a:t>Provied credit policy recommendations</a:t>
            </a:r>
            <a:r>
              <a:rPr lang="en-US" sz="2048">
                <a:solidFill>
                  <a:srgbClr val="FFFFFF"/>
                </a:solidFill>
                <a:latin typeface="Poppins"/>
                <a:ea typeface="Poppins"/>
                <a:cs typeface="Poppins"/>
                <a:sym typeface="Poppins"/>
              </a:rPr>
              <a:t> </a:t>
            </a:r>
          </a:p>
        </p:txBody>
      </p:sp>
      <p:sp>
        <p:nvSpPr>
          <p:cNvPr name="TextBox 26" id="26"/>
          <p:cNvSpPr txBox="true"/>
          <p:nvPr/>
        </p:nvSpPr>
        <p:spPr>
          <a:xfrm rot="0">
            <a:off x="12781813" y="4011506"/>
            <a:ext cx="3824214" cy="441361"/>
          </a:xfrm>
          <a:prstGeom prst="rect">
            <a:avLst/>
          </a:prstGeom>
        </p:spPr>
        <p:txBody>
          <a:bodyPr anchor="t" rtlCol="false" tIns="0" lIns="0" bIns="0" rIns="0">
            <a:spAutoFit/>
          </a:bodyPr>
          <a:lstStyle/>
          <a:p>
            <a:pPr algn="ctr">
              <a:lnSpc>
                <a:spcPts val="3499"/>
              </a:lnSpc>
            </a:pPr>
            <a:r>
              <a:rPr lang="en-US" b="true" sz="2499">
                <a:solidFill>
                  <a:srgbClr val="FFFFFF"/>
                </a:solidFill>
                <a:latin typeface="Poppins Bold"/>
                <a:ea typeface="Poppins Bold"/>
                <a:cs typeface="Poppins Bold"/>
                <a:sym typeface="Poppins Bold"/>
              </a:rPr>
              <a:t>Results</a:t>
            </a:r>
          </a:p>
        </p:txBody>
      </p:sp>
      <p:sp>
        <p:nvSpPr>
          <p:cNvPr name="TextBox 27" id="27"/>
          <p:cNvSpPr txBox="true"/>
          <p:nvPr/>
        </p:nvSpPr>
        <p:spPr>
          <a:xfrm rot="0">
            <a:off x="12453944" y="5063721"/>
            <a:ext cx="4479953" cy="3986764"/>
          </a:xfrm>
          <a:prstGeom prst="rect">
            <a:avLst/>
          </a:prstGeom>
        </p:spPr>
        <p:txBody>
          <a:bodyPr anchor="t" rtlCol="false" tIns="0" lIns="0" bIns="0" rIns="0">
            <a:spAutoFit/>
          </a:bodyPr>
          <a:lstStyle/>
          <a:p>
            <a:pPr algn="l" marL="442290" indent="-221145" lvl="1">
              <a:lnSpc>
                <a:spcPts val="2868"/>
              </a:lnSpc>
              <a:buFont typeface="Arial"/>
              <a:buChar char="•"/>
            </a:pPr>
            <a:r>
              <a:rPr lang="en-US" sz="2048">
                <a:solidFill>
                  <a:srgbClr val="FFFFFF"/>
                </a:solidFill>
                <a:latin typeface="Poppins"/>
                <a:ea typeface="Poppins"/>
                <a:cs typeface="Poppins"/>
                <a:sym typeface="Poppins"/>
              </a:rPr>
              <a:t>Dashboard Power BI (Overview, Risk Analysis,  Segmentation)</a:t>
            </a:r>
          </a:p>
          <a:p>
            <a:pPr algn="l">
              <a:lnSpc>
                <a:spcPts val="2868"/>
              </a:lnSpc>
            </a:pPr>
          </a:p>
          <a:p>
            <a:pPr algn="l" marL="442290" indent="-221145" lvl="1">
              <a:lnSpc>
                <a:spcPts val="2868"/>
              </a:lnSpc>
              <a:buFont typeface="Arial"/>
              <a:buChar char="•"/>
            </a:pPr>
            <a:r>
              <a:rPr lang="en-US" sz="2048">
                <a:solidFill>
                  <a:srgbClr val="FFFFFF"/>
                </a:solidFill>
                <a:latin typeface="Poppins"/>
                <a:ea typeface="Poppins"/>
                <a:cs typeface="Poppins"/>
                <a:sym typeface="Poppins"/>
              </a:rPr>
              <a:t>Four well defined borrower segments</a:t>
            </a:r>
          </a:p>
          <a:p>
            <a:pPr algn="l">
              <a:lnSpc>
                <a:spcPts val="2868"/>
              </a:lnSpc>
            </a:pPr>
          </a:p>
          <a:p>
            <a:pPr algn="l" marL="442290" indent="-221145" lvl="1">
              <a:lnSpc>
                <a:spcPts val="2868"/>
              </a:lnSpc>
              <a:buFont typeface="Arial"/>
              <a:buChar char="•"/>
            </a:pPr>
            <a:r>
              <a:rPr lang="en-US" sz="2048">
                <a:solidFill>
                  <a:srgbClr val="FFFFFF"/>
                </a:solidFill>
                <a:latin typeface="Poppins"/>
                <a:ea typeface="Poppins"/>
                <a:cs typeface="Poppins"/>
                <a:sym typeface="Poppins"/>
              </a:rPr>
              <a:t>Statistically validated hypothesis tests as the foundation for business recommendations</a:t>
            </a:r>
          </a:p>
          <a:p>
            <a:pPr algn="l">
              <a:lnSpc>
                <a:spcPts val="2868"/>
              </a:lnSpc>
            </a:pPr>
          </a:p>
        </p:txBody>
      </p:sp>
      <p:sp>
        <p:nvSpPr>
          <p:cNvPr name="TextBox 28" id="28"/>
          <p:cNvSpPr txBox="true"/>
          <p:nvPr/>
        </p:nvSpPr>
        <p:spPr>
          <a:xfrm rot="0">
            <a:off x="7378588" y="3891367"/>
            <a:ext cx="3796941" cy="441361"/>
          </a:xfrm>
          <a:prstGeom prst="rect">
            <a:avLst/>
          </a:prstGeom>
        </p:spPr>
        <p:txBody>
          <a:bodyPr anchor="t" rtlCol="false" tIns="0" lIns="0" bIns="0" rIns="0">
            <a:spAutoFit/>
          </a:bodyPr>
          <a:lstStyle/>
          <a:p>
            <a:pPr algn="ctr">
              <a:lnSpc>
                <a:spcPts val="3499"/>
              </a:lnSpc>
            </a:pPr>
            <a:r>
              <a:rPr lang="en-US" b="true" sz="2499">
                <a:solidFill>
                  <a:srgbClr val="FFFFFF"/>
                </a:solidFill>
                <a:latin typeface="Poppins Bold"/>
                <a:ea typeface="Poppins Bold"/>
                <a:cs typeface="Poppins Bold"/>
                <a:sym typeface="Poppins Bold"/>
              </a:rPr>
              <a:t>Benefits</a:t>
            </a:r>
          </a:p>
        </p:txBody>
      </p:sp>
      <p:sp>
        <p:nvSpPr>
          <p:cNvPr name="TextBox 29" id="29"/>
          <p:cNvSpPr txBox="true"/>
          <p:nvPr/>
        </p:nvSpPr>
        <p:spPr>
          <a:xfrm rot="0">
            <a:off x="7053057" y="4943582"/>
            <a:ext cx="4448003" cy="2538892"/>
          </a:xfrm>
          <a:prstGeom prst="rect">
            <a:avLst/>
          </a:prstGeom>
        </p:spPr>
        <p:txBody>
          <a:bodyPr anchor="t" rtlCol="false" tIns="0" lIns="0" bIns="0" rIns="0">
            <a:spAutoFit/>
          </a:bodyPr>
          <a:lstStyle/>
          <a:p>
            <a:pPr algn="l" marL="442290" indent="-221145" lvl="1">
              <a:lnSpc>
                <a:spcPts val="2868"/>
              </a:lnSpc>
              <a:buFont typeface="Arial"/>
              <a:buChar char="•"/>
            </a:pPr>
            <a:r>
              <a:rPr lang="en-US" sz="2048">
                <a:solidFill>
                  <a:srgbClr val="FFFFFF"/>
                </a:solidFill>
                <a:latin typeface="Poppins"/>
                <a:ea typeface="Poppins"/>
                <a:cs typeface="Poppins"/>
                <a:sym typeface="Poppins"/>
              </a:rPr>
              <a:t>More accurate credit decisions</a:t>
            </a:r>
          </a:p>
          <a:p>
            <a:pPr algn="l">
              <a:lnSpc>
                <a:spcPts val="2868"/>
              </a:lnSpc>
            </a:pPr>
          </a:p>
          <a:p>
            <a:pPr algn="l" marL="442290" indent="-221145" lvl="1">
              <a:lnSpc>
                <a:spcPts val="2868"/>
              </a:lnSpc>
              <a:buFont typeface="Arial"/>
              <a:buChar char="•"/>
            </a:pPr>
            <a:r>
              <a:rPr lang="en-US" sz="2048">
                <a:solidFill>
                  <a:srgbClr val="FFFFFF"/>
                </a:solidFill>
                <a:latin typeface="Poppins"/>
                <a:ea typeface="Poppins"/>
                <a:cs typeface="Poppins"/>
                <a:sym typeface="Poppins"/>
              </a:rPr>
              <a:t>More effectives customer portfolio monitoring</a:t>
            </a:r>
          </a:p>
          <a:p>
            <a:pPr algn="l">
              <a:lnSpc>
                <a:spcPts val="2868"/>
              </a:lnSpc>
            </a:pPr>
          </a:p>
          <a:p>
            <a:pPr algn="l" marL="442290" indent="-221145" lvl="1">
              <a:lnSpc>
                <a:spcPts val="2868"/>
              </a:lnSpc>
              <a:buFont typeface="Arial"/>
              <a:buChar char="•"/>
            </a:pPr>
            <a:r>
              <a:rPr lang="en-US" sz="2048">
                <a:solidFill>
                  <a:srgbClr val="FFFFFF"/>
                </a:solidFill>
                <a:latin typeface="Poppins"/>
                <a:ea typeface="Poppins"/>
                <a:cs typeface="Poppins"/>
                <a:sym typeface="Poppins"/>
              </a:rPr>
              <a:t>Minimize default losses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283666" y="283363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3393737"/>
            <a:ext cx="10341665" cy="1128355"/>
          </a:xfrm>
          <a:prstGeom prst="rect">
            <a:avLst/>
          </a:prstGeom>
        </p:spPr>
        <p:txBody>
          <a:bodyPr anchor="t" rtlCol="false" tIns="0" lIns="0" bIns="0" rIns="0">
            <a:spAutoFit/>
          </a:bodyPr>
          <a:lstStyle/>
          <a:p>
            <a:pPr algn="l" marL="0" indent="0" lvl="0">
              <a:lnSpc>
                <a:spcPts val="7839"/>
              </a:lnSpc>
            </a:pPr>
            <a:r>
              <a:rPr lang="en-US" b="true" sz="7999">
                <a:solidFill>
                  <a:srgbClr val="FFFFFF"/>
                </a:solidFill>
                <a:latin typeface="Poppins Bold"/>
                <a:ea typeface="Poppins Bold"/>
                <a:cs typeface="Poppins Bold"/>
                <a:sym typeface="Poppins Bold"/>
              </a:rPr>
              <a:t>Business Problems</a:t>
            </a:r>
          </a:p>
        </p:txBody>
      </p:sp>
      <p:sp>
        <p:nvSpPr>
          <p:cNvPr name="TextBox 9" id="9"/>
          <p:cNvSpPr txBox="true"/>
          <p:nvPr/>
        </p:nvSpPr>
        <p:spPr>
          <a:xfrm rot="0">
            <a:off x="1028700" y="5613738"/>
            <a:ext cx="10341665" cy="677510"/>
          </a:xfrm>
          <a:prstGeom prst="rect">
            <a:avLst/>
          </a:prstGeom>
        </p:spPr>
        <p:txBody>
          <a:bodyPr anchor="t" rtlCol="false" tIns="0" lIns="0" bIns="0" rIns="0">
            <a:spAutoFit/>
          </a:bodyPr>
          <a:lstStyle/>
          <a:p>
            <a:pPr algn="l">
              <a:lnSpc>
                <a:spcPts val="5179"/>
              </a:lnSpc>
              <a:spcBef>
                <a:spcPct val="0"/>
              </a:spcBef>
            </a:pPr>
            <a:r>
              <a:rPr lang="en-US" sz="3699">
                <a:solidFill>
                  <a:srgbClr val="FFFFFF"/>
                </a:solidFill>
                <a:latin typeface="Poppins"/>
                <a:ea typeface="Poppins"/>
                <a:cs typeface="Poppins"/>
                <a:sym typeface="Poppins"/>
              </a:rPr>
              <a:t>6 Business Questions to Be Addressed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58500" y="1028700"/>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028700" y="3240632"/>
            <a:ext cx="7882259" cy="1543050"/>
            <a:chOff x="0" y="0"/>
            <a:chExt cx="2075986" cy="406400"/>
          </a:xfrm>
        </p:grpSpPr>
        <p:sp>
          <p:nvSpPr>
            <p:cNvPr name="Freeform 8" id="8"/>
            <p:cNvSpPr/>
            <p:nvPr/>
          </p:nvSpPr>
          <p:spPr>
            <a:xfrm flipH="false" flipV="false" rot="0">
              <a:off x="0" y="0"/>
              <a:ext cx="2075986" cy="406400"/>
            </a:xfrm>
            <a:custGeom>
              <a:avLst/>
              <a:gdLst/>
              <a:ahLst/>
              <a:cxnLst/>
              <a:rect r="r" b="b" t="t" l="l"/>
              <a:pathLst>
                <a:path h="406400" w="2075986">
                  <a:moveTo>
                    <a:pt x="50092" y="0"/>
                  </a:moveTo>
                  <a:lnTo>
                    <a:pt x="2025894" y="0"/>
                  </a:lnTo>
                  <a:cubicBezTo>
                    <a:pt x="2053559" y="0"/>
                    <a:pt x="2075986" y="22427"/>
                    <a:pt x="2075986" y="50092"/>
                  </a:cubicBezTo>
                  <a:lnTo>
                    <a:pt x="2075986" y="356308"/>
                  </a:lnTo>
                  <a:cubicBezTo>
                    <a:pt x="2075986" y="383973"/>
                    <a:pt x="2053559" y="406400"/>
                    <a:pt x="2025894" y="406400"/>
                  </a:cubicBezTo>
                  <a:lnTo>
                    <a:pt x="50092" y="406400"/>
                  </a:lnTo>
                  <a:cubicBezTo>
                    <a:pt x="22427" y="406400"/>
                    <a:pt x="0" y="383973"/>
                    <a:pt x="0" y="356308"/>
                  </a:cubicBezTo>
                  <a:lnTo>
                    <a:pt x="0" y="50092"/>
                  </a:lnTo>
                  <a:cubicBezTo>
                    <a:pt x="0" y="22427"/>
                    <a:pt x="22427" y="0"/>
                    <a:pt x="50092" y="0"/>
                  </a:cubicBezTo>
                  <a:close/>
                </a:path>
              </a:pathLst>
            </a:custGeom>
            <a:solidFill>
              <a:srgbClr val="5CA3B2"/>
            </a:solidFill>
          </p:spPr>
        </p:sp>
        <p:sp>
          <p:nvSpPr>
            <p:cNvPr name="TextBox 9" id="9"/>
            <p:cNvSpPr txBox="true"/>
            <p:nvPr/>
          </p:nvSpPr>
          <p:spPr>
            <a:xfrm>
              <a:off x="0" y="-66675"/>
              <a:ext cx="2075986" cy="47307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28700" y="5355182"/>
            <a:ext cx="7882259" cy="1164910"/>
            <a:chOff x="0" y="0"/>
            <a:chExt cx="2075986" cy="306807"/>
          </a:xfrm>
        </p:grpSpPr>
        <p:sp>
          <p:nvSpPr>
            <p:cNvPr name="Freeform 11" id="11"/>
            <p:cNvSpPr/>
            <p:nvPr/>
          </p:nvSpPr>
          <p:spPr>
            <a:xfrm flipH="false" flipV="false" rot="0">
              <a:off x="0" y="0"/>
              <a:ext cx="2075986" cy="306807"/>
            </a:xfrm>
            <a:custGeom>
              <a:avLst/>
              <a:gdLst/>
              <a:ahLst/>
              <a:cxnLst/>
              <a:rect r="r" b="b" t="t" l="l"/>
              <a:pathLst>
                <a:path h="306807" w="2075986">
                  <a:moveTo>
                    <a:pt x="50092" y="0"/>
                  </a:moveTo>
                  <a:lnTo>
                    <a:pt x="2025894" y="0"/>
                  </a:lnTo>
                  <a:cubicBezTo>
                    <a:pt x="2053559" y="0"/>
                    <a:pt x="2075986" y="22427"/>
                    <a:pt x="2075986" y="50092"/>
                  </a:cubicBezTo>
                  <a:lnTo>
                    <a:pt x="2075986" y="256716"/>
                  </a:lnTo>
                  <a:cubicBezTo>
                    <a:pt x="2075986" y="284381"/>
                    <a:pt x="2053559" y="306807"/>
                    <a:pt x="2025894" y="306807"/>
                  </a:cubicBezTo>
                  <a:lnTo>
                    <a:pt x="50092" y="306807"/>
                  </a:lnTo>
                  <a:cubicBezTo>
                    <a:pt x="22427" y="306807"/>
                    <a:pt x="0" y="284381"/>
                    <a:pt x="0" y="256716"/>
                  </a:cubicBezTo>
                  <a:lnTo>
                    <a:pt x="0" y="50092"/>
                  </a:lnTo>
                  <a:cubicBezTo>
                    <a:pt x="0" y="22427"/>
                    <a:pt x="22427" y="0"/>
                    <a:pt x="50092" y="0"/>
                  </a:cubicBezTo>
                  <a:close/>
                </a:path>
              </a:pathLst>
            </a:custGeom>
            <a:solidFill>
              <a:srgbClr val="5CA3B2"/>
            </a:solidFill>
          </p:spPr>
        </p:sp>
        <p:sp>
          <p:nvSpPr>
            <p:cNvPr name="TextBox 12" id="12"/>
            <p:cNvSpPr txBox="true"/>
            <p:nvPr/>
          </p:nvSpPr>
          <p:spPr>
            <a:xfrm>
              <a:off x="0" y="-66675"/>
              <a:ext cx="2075986" cy="373482"/>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9277258" y="3240632"/>
            <a:ext cx="6570558" cy="1052758"/>
            <a:chOff x="0" y="0"/>
            <a:chExt cx="1730517" cy="277270"/>
          </a:xfrm>
        </p:grpSpPr>
        <p:sp>
          <p:nvSpPr>
            <p:cNvPr name="Freeform 14" id="14"/>
            <p:cNvSpPr/>
            <p:nvPr/>
          </p:nvSpPr>
          <p:spPr>
            <a:xfrm flipH="false" flipV="false" rot="0">
              <a:off x="0" y="0"/>
              <a:ext cx="1730517" cy="277270"/>
            </a:xfrm>
            <a:custGeom>
              <a:avLst/>
              <a:gdLst/>
              <a:ahLst/>
              <a:cxnLst/>
              <a:rect r="r" b="b" t="t" l="l"/>
              <a:pathLst>
                <a:path h="277270" w="1730517">
                  <a:moveTo>
                    <a:pt x="60092" y="0"/>
                  </a:moveTo>
                  <a:lnTo>
                    <a:pt x="1670425" y="0"/>
                  </a:lnTo>
                  <a:cubicBezTo>
                    <a:pt x="1686363" y="0"/>
                    <a:pt x="1701647" y="6331"/>
                    <a:pt x="1712917" y="17601"/>
                  </a:cubicBezTo>
                  <a:cubicBezTo>
                    <a:pt x="1724186" y="28870"/>
                    <a:pt x="1730517" y="44155"/>
                    <a:pt x="1730517" y="60092"/>
                  </a:cubicBezTo>
                  <a:lnTo>
                    <a:pt x="1730517" y="217178"/>
                  </a:lnTo>
                  <a:cubicBezTo>
                    <a:pt x="1730517" y="233115"/>
                    <a:pt x="1724186" y="248400"/>
                    <a:pt x="1712917" y="259669"/>
                  </a:cubicBezTo>
                  <a:cubicBezTo>
                    <a:pt x="1701647" y="270939"/>
                    <a:pt x="1686363" y="277270"/>
                    <a:pt x="1670425" y="277270"/>
                  </a:cubicBezTo>
                  <a:lnTo>
                    <a:pt x="60092" y="277270"/>
                  </a:lnTo>
                  <a:cubicBezTo>
                    <a:pt x="44155" y="277270"/>
                    <a:pt x="28870" y="270939"/>
                    <a:pt x="17601" y="259669"/>
                  </a:cubicBezTo>
                  <a:cubicBezTo>
                    <a:pt x="6331" y="248400"/>
                    <a:pt x="0" y="233115"/>
                    <a:pt x="0" y="217178"/>
                  </a:cubicBezTo>
                  <a:lnTo>
                    <a:pt x="0" y="60092"/>
                  </a:lnTo>
                  <a:cubicBezTo>
                    <a:pt x="0" y="44155"/>
                    <a:pt x="6331" y="28870"/>
                    <a:pt x="17601" y="17601"/>
                  </a:cubicBezTo>
                  <a:cubicBezTo>
                    <a:pt x="28870" y="6331"/>
                    <a:pt x="44155" y="0"/>
                    <a:pt x="60092" y="0"/>
                  </a:cubicBezTo>
                  <a:close/>
                </a:path>
              </a:pathLst>
            </a:custGeom>
            <a:solidFill>
              <a:srgbClr val="5CA3B2"/>
            </a:solidFill>
          </p:spPr>
        </p:sp>
        <p:sp>
          <p:nvSpPr>
            <p:cNvPr name="TextBox 15" id="15"/>
            <p:cNvSpPr txBox="true"/>
            <p:nvPr/>
          </p:nvSpPr>
          <p:spPr>
            <a:xfrm>
              <a:off x="0" y="-66675"/>
              <a:ext cx="1730517" cy="343945"/>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9277258" y="5355182"/>
            <a:ext cx="7942076" cy="1164910"/>
            <a:chOff x="0" y="0"/>
            <a:chExt cx="2091740" cy="306807"/>
          </a:xfrm>
        </p:grpSpPr>
        <p:sp>
          <p:nvSpPr>
            <p:cNvPr name="Freeform 17" id="17"/>
            <p:cNvSpPr/>
            <p:nvPr/>
          </p:nvSpPr>
          <p:spPr>
            <a:xfrm flipH="false" flipV="false" rot="0">
              <a:off x="0" y="0"/>
              <a:ext cx="2091740" cy="306807"/>
            </a:xfrm>
            <a:custGeom>
              <a:avLst/>
              <a:gdLst/>
              <a:ahLst/>
              <a:cxnLst/>
              <a:rect r="r" b="b" t="t" l="l"/>
              <a:pathLst>
                <a:path h="306807" w="2091740">
                  <a:moveTo>
                    <a:pt x="49715" y="0"/>
                  </a:moveTo>
                  <a:lnTo>
                    <a:pt x="2042026" y="0"/>
                  </a:lnTo>
                  <a:cubicBezTo>
                    <a:pt x="2069482" y="0"/>
                    <a:pt x="2091740" y="22258"/>
                    <a:pt x="2091740" y="49715"/>
                  </a:cubicBezTo>
                  <a:lnTo>
                    <a:pt x="2091740" y="257093"/>
                  </a:lnTo>
                  <a:cubicBezTo>
                    <a:pt x="2091740" y="284549"/>
                    <a:pt x="2069482" y="306807"/>
                    <a:pt x="2042026" y="306807"/>
                  </a:cubicBezTo>
                  <a:lnTo>
                    <a:pt x="49715" y="306807"/>
                  </a:lnTo>
                  <a:cubicBezTo>
                    <a:pt x="22258" y="306807"/>
                    <a:pt x="0" y="284549"/>
                    <a:pt x="0" y="257093"/>
                  </a:cubicBezTo>
                  <a:lnTo>
                    <a:pt x="0" y="49715"/>
                  </a:lnTo>
                  <a:cubicBezTo>
                    <a:pt x="0" y="22258"/>
                    <a:pt x="22258" y="0"/>
                    <a:pt x="49715" y="0"/>
                  </a:cubicBezTo>
                  <a:close/>
                </a:path>
              </a:pathLst>
            </a:custGeom>
            <a:solidFill>
              <a:srgbClr val="5CA3B2"/>
            </a:solidFill>
          </p:spPr>
        </p:sp>
        <p:sp>
          <p:nvSpPr>
            <p:cNvPr name="TextBox 18" id="18"/>
            <p:cNvSpPr txBox="true"/>
            <p:nvPr/>
          </p:nvSpPr>
          <p:spPr>
            <a:xfrm>
              <a:off x="0" y="-66675"/>
              <a:ext cx="2091740" cy="373482"/>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28700" y="7282092"/>
            <a:ext cx="7882259" cy="1353872"/>
            <a:chOff x="0" y="0"/>
            <a:chExt cx="2075986" cy="356575"/>
          </a:xfrm>
        </p:grpSpPr>
        <p:sp>
          <p:nvSpPr>
            <p:cNvPr name="Freeform 20" id="20"/>
            <p:cNvSpPr/>
            <p:nvPr/>
          </p:nvSpPr>
          <p:spPr>
            <a:xfrm flipH="false" flipV="false" rot="0">
              <a:off x="0" y="0"/>
              <a:ext cx="2075986" cy="356575"/>
            </a:xfrm>
            <a:custGeom>
              <a:avLst/>
              <a:gdLst/>
              <a:ahLst/>
              <a:cxnLst/>
              <a:rect r="r" b="b" t="t" l="l"/>
              <a:pathLst>
                <a:path h="356575" w="2075986">
                  <a:moveTo>
                    <a:pt x="50092" y="0"/>
                  </a:moveTo>
                  <a:lnTo>
                    <a:pt x="2025894" y="0"/>
                  </a:lnTo>
                  <a:cubicBezTo>
                    <a:pt x="2053559" y="0"/>
                    <a:pt x="2075986" y="22427"/>
                    <a:pt x="2075986" y="50092"/>
                  </a:cubicBezTo>
                  <a:lnTo>
                    <a:pt x="2075986" y="306483"/>
                  </a:lnTo>
                  <a:cubicBezTo>
                    <a:pt x="2075986" y="319769"/>
                    <a:pt x="2070708" y="332510"/>
                    <a:pt x="2061314" y="341904"/>
                  </a:cubicBezTo>
                  <a:cubicBezTo>
                    <a:pt x="2051920" y="351298"/>
                    <a:pt x="2039179" y="356575"/>
                    <a:pt x="2025894" y="356575"/>
                  </a:cubicBezTo>
                  <a:lnTo>
                    <a:pt x="50092" y="356575"/>
                  </a:lnTo>
                  <a:cubicBezTo>
                    <a:pt x="22427" y="356575"/>
                    <a:pt x="0" y="334148"/>
                    <a:pt x="0" y="306483"/>
                  </a:cubicBezTo>
                  <a:lnTo>
                    <a:pt x="0" y="50092"/>
                  </a:lnTo>
                  <a:cubicBezTo>
                    <a:pt x="0" y="22427"/>
                    <a:pt x="22427" y="0"/>
                    <a:pt x="50092" y="0"/>
                  </a:cubicBezTo>
                  <a:close/>
                </a:path>
              </a:pathLst>
            </a:custGeom>
            <a:solidFill>
              <a:srgbClr val="5CA3B2"/>
            </a:solidFill>
          </p:spPr>
        </p:sp>
        <p:sp>
          <p:nvSpPr>
            <p:cNvPr name="TextBox 21" id="21"/>
            <p:cNvSpPr txBox="true"/>
            <p:nvPr/>
          </p:nvSpPr>
          <p:spPr>
            <a:xfrm>
              <a:off x="0" y="-66675"/>
              <a:ext cx="2075986" cy="423250"/>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9277258" y="7282092"/>
            <a:ext cx="7982042" cy="1347835"/>
            <a:chOff x="0" y="0"/>
            <a:chExt cx="2102266" cy="354985"/>
          </a:xfrm>
        </p:grpSpPr>
        <p:sp>
          <p:nvSpPr>
            <p:cNvPr name="Freeform 23" id="23"/>
            <p:cNvSpPr/>
            <p:nvPr/>
          </p:nvSpPr>
          <p:spPr>
            <a:xfrm flipH="false" flipV="false" rot="0">
              <a:off x="0" y="0"/>
              <a:ext cx="2102266" cy="354985"/>
            </a:xfrm>
            <a:custGeom>
              <a:avLst/>
              <a:gdLst/>
              <a:ahLst/>
              <a:cxnLst/>
              <a:rect r="r" b="b" t="t" l="l"/>
              <a:pathLst>
                <a:path h="354985" w="2102266">
                  <a:moveTo>
                    <a:pt x="49466" y="0"/>
                  </a:moveTo>
                  <a:lnTo>
                    <a:pt x="2052800" y="0"/>
                  </a:lnTo>
                  <a:cubicBezTo>
                    <a:pt x="2080120" y="0"/>
                    <a:pt x="2102266" y="22147"/>
                    <a:pt x="2102266" y="49466"/>
                  </a:cubicBezTo>
                  <a:lnTo>
                    <a:pt x="2102266" y="305519"/>
                  </a:lnTo>
                  <a:cubicBezTo>
                    <a:pt x="2102266" y="332839"/>
                    <a:pt x="2080120" y="354985"/>
                    <a:pt x="2052800" y="354985"/>
                  </a:cubicBezTo>
                  <a:lnTo>
                    <a:pt x="49466" y="354985"/>
                  </a:lnTo>
                  <a:cubicBezTo>
                    <a:pt x="22147" y="354985"/>
                    <a:pt x="0" y="332839"/>
                    <a:pt x="0" y="305519"/>
                  </a:cubicBezTo>
                  <a:lnTo>
                    <a:pt x="0" y="49466"/>
                  </a:lnTo>
                  <a:cubicBezTo>
                    <a:pt x="0" y="22147"/>
                    <a:pt x="22147" y="0"/>
                    <a:pt x="49466" y="0"/>
                  </a:cubicBezTo>
                  <a:close/>
                </a:path>
              </a:pathLst>
            </a:custGeom>
            <a:solidFill>
              <a:srgbClr val="5CA3B2"/>
            </a:solidFill>
          </p:spPr>
        </p:sp>
        <p:sp>
          <p:nvSpPr>
            <p:cNvPr name="TextBox 24" id="24"/>
            <p:cNvSpPr txBox="true"/>
            <p:nvPr/>
          </p:nvSpPr>
          <p:spPr>
            <a:xfrm>
              <a:off x="0" y="-66675"/>
              <a:ext cx="2102266" cy="421660"/>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238539" y="1693242"/>
            <a:ext cx="11583573" cy="976666"/>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Business Problems</a:t>
            </a:r>
          </a:p>
        </p:txBody>
      </p:sp>
      <p:sp>
        <p:nvSpPr>
          <p:cNvPr name="TextBox 26" id="26"/>
          <p:cNvSpPr txBox="true"/>
          <p:nvPr/>
        </p:nvSpPr>
        <p:spPr>
          <a:xfrm rot="0">
            <a:off x="1335181" y="2612758"/>
            <a:ext cx="15884153" cy="350683"/>
          </a:xfrm>
          <a:prstGeom prst="rect">
            <a:avLst/>
          </a:prstGeom>
        </p:spPr>
        <p:txBody>
          <a:bodyPr anchor="t" rtlCol="false" tIns="0" lIns="0" bIns="0" rIns="0">
            <a:spAutoFit/>
          </a:bodyPr>
          <a:lstStyle/>
          <a:p>
            <a:pPr algn="l">
              <a:lnSpc>
                <a:spcPts val="2722"/>
              </a:lnSpc>
              <a:spcBef>
                <a:spcPct val="0"/>
              </a:spcBef>
            </a:pPr>
            <a:r>
              <a:rPr lang="en-US" sz="1944">
                <a:solidFill>
                  <a:srgbClr val="FFFFFF"/>
                </a:solidFill>
                <a:latin typeface="Poppins"/>
                <a:ea typeface="Poppins"/>
                <a:cs typeface="Poppins"/>
                <a:sym typeface="Poppins"/>
              </a:rPr>
              <a:t>Business questions to be addressed through data analysis:</a:t>
            </a:r>
          </a:p>
        </p:txBody>
      </p:sp>
      <p:sp>
        <p:nvSpPr>
          <p:cNvPr name="TextBox 27" id="27"/>
          <p:cNvSpPr txBox="true"/>
          <p:nvPr/>
        </p:nvSpPr>
        <p:spPr>
          <a:xfrm rot="0">
            <a:off x="1335181" y="3397106"/>
            <a:ext cx="7275443" cy="1172953"/>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Poppins"/>
                <a:ea typeface="Poppins"/>
                <a:cs typeface="Poppins"/>
                <a:sym typeface="Poppins"/>
              </a:rPr>
              <a:t>How is the default rate distributed, and which factors most strongly differentiate defaulting vs non defaulting borrowers ?</a:t>
            </a:r>
          </a:p>
        </p:txBody>
      </p:sp>
      <p:sp>
        <p:nvSpPr>
          <p:cNvPr name="TextBox 28" id="28"/>
          <p:cNvSpPr txBox="true"/>
          <p:nvPr/>
        </p:nvSpPr>
        <p:spPr>
          <a:xfrm rot="0">
            <a:off x="1335181" y="5486677"/>
            <a:ext cx="7275443" cy="782392"/>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Poppins"/>
                <a:ea typeface="Poppins"/>
                <a:cs typeface="Poppins"/>
                <a:sym typeface="Poppins"/>
              </a:rPr>
              <a:t>Is loan grade significantly associated with default status ?</a:t>
            </a:r>
          </a:p>
        </p:txBody>
      </p:sp>
      <p:sp>
        <p:nvSpPr>
          <p:cNvPr name="TextBox 29" id="29"/>
          <p:cNvSpPr txBox="true"/>
          <p:nvPr/>
        </p:nvSpPr>
        <p:spPr>
          <a:xfrm rot="0">
            <a:off x="1335181" y="7572016"/>
            <a:ext cx="7275443" cy="782392"/>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Poppins"/>
                <a:ea typeface="Poppins"/>
                <a:cs typeface="Poppins"/>
                <a:sym typeface="Poppins"/>
              </a:rPr>
              <a:t>Do income. interest rate, and DTI differ significantly between default status?</a:t>
            </a:r>
          </a:p>
        </p:txBody>
      </p:sp>
      <p:sp>
        <p:nvSpPr>
          <p:cNvPr name="TextBox 30" id="30"/>
          <p:cNvSpPr txBox="true"/>
          <p:nvPr/>
        </p:nvSpPr>
        <p:spPr>
          <a:xfrm rot="0">
            <a:off x="9513474" y="3563793"/>
            <a:ext cx="7275443" cy="391831"/>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Poppins"/>
                <a:ea typeface="Poppins"/>
                <a:cs typeface="Poppins"/>
                <a:sym typeface="Poppins"/>
              </a:rPr>
              <a:t>Which loan purposes carry the highest risk ?</a:t>
            </a:r>
          </a:p>
        </p:txBody>
      </p:sp>
      <p:sp>
        <p:nvSpPr>
          <p:cNvPr name="TextBox 31" id="31"/>
          <p:cNvSpPr txBox="true"/>
          <p:nvPr/>
        </p:nvSpPr>
        <p:spPr>
          <a:xfrm rot="0">
            <a:off x="9553440" y="5567905"/>
            <a:ext cx="7705860" cy="391831"/>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Poppins"/>
                <a:ea typeface="Poppins"/>
                <a:cs typeface="Poppins"/>
                <a:sym typeface="Poppins"/>
              </a:rPr>
              <a:t>Does historical default history predict current default ?</a:t>
            </a:r>
          </a:p>
        </p:txBody>
      </p:sp>
      <p:sp>
        <p:nvSpPr>
          <p:cNvPr name="TextBox 32" id="32"/>
          <p:cNvSpPr txBox="true"/>
          <p:nvPr/>
        </p:nvSpPr>
        <p:spPr>
          <a:xfrm rot="0">
            <a:off x="9553440" y="7572016"/>
            <a:ext cx="7705860" cy="782392"/>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Poppins"/>
                <a:ea typeface="Poppins"/>
                <a:cs typeface="Poppins"/>
                <a:sym typeface="Poppins"/>
              </a:rPr>
              <a:t>What are the profiles of the 4 borrower segments, and what policies are appropriate for each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58500" y="419692"/>
            <a:ext cx="860834" cy="1002427"/>
          </a:xfrm>
          <a:custGeom>
            <a:avLst/>
            <a:gdLst/>
            <a:ahLst/>
            <a:cxnLst/>
            <a:rect r="r" b="b" t="t" l="l"/>
            <a:pathLst>
              <a:path h="1002427" w="860834">
                <a:moveTo>
                  <a:pt x="0" y="0"/>
                </a:moveTo>
                <a:lnTo>
                  <a:pt x="860834" y="0"/>
                </a:lnTo>
                <a:lnTo>
                  <a:pt x="860834" y="1002428"/>
                </a:lnTo>
                <a:lnTo>
                  <a:pt x="0" y="1002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028700" y="2260925"/>
            <a:ext cx="3205370" cy="2273567"/>
            <a:chOff x="0" y="0"/>
            <a:chExt cx="844213" cy="598800"/>
          </a:xfrm>
        </p:grpSpPr>
        <p:sp>
          <p:nvSpPr>
            <p:cNvPr name="Freeform 8" id="8"/>
            <p:cNvSpPr/>
            <p:nvPr/>
          </p:nvSpPr>
          <p:spPr>
            <a:xfrm flipH="false" flipV="false" rot="0">
              <a:off x="0" y="0"/>
              <a:ext cx="844213" cy="598800"/>
            </a:xfrm>
            <a:custGeom>
              <a:avLst/>
              <a:gdLst/>
              <a:ahLst/>
              <a:cxnLst/>
              <a:rect r="r" b="b" t="t" l="l"/>
              <a:pathLst>
                <a:path h="598800" w="844213">
                  <a:moveTo>
                    <a:pt x="123180" y="0"/>
                  </a:moveTo>
                  <a:lnTo>
                    <a:pt x="721032" y="0"/>
                  </a:lnTo>
                  <a:cubicBezTo>
                    <a:pt x="753702" y="0"/>
                    <a:pt x="785033" y="12978"/>
                    <a:pt x="808134" y="36079"/>
                  </a:cubicBezTo>
                  <a:cubicBezTo>
                    <a:pt x="831235" y="59179"/>
                    <a:pt x="844213" y="90511"/>
                    <a:pt x="844213" y="123180"/>
                  </a:cubicBezTo>
                  <a:lnTo>
                    <a:pt x="844213" y="475619"/>
                  </a:lnTo>
                  <a:cubicBezTo>
                    <a:pt x="844213" y="508289"/>
                    <a:pt x="831235" y="539620"/>
                    <a:pt x="808134" y="562721"/>
                  </a:cubicBezTo>
                  <a:cubicBezTo>
                    <a:pt x="785033" y="585822"/>
                    <a:pt x="753702" y="598800"/>
                    <a:pt x="721032" y="598800"/>
                  </a:cubicBezTo>
                  <a:lnTo>
                    <a:pt x="123180" y="598800"/>
                  </a:lnTo>
                  <a:cubicBezTo>
                    <a:pt x="90511" y="598800"/>
                    <a:pt x="59179" y="585822"/>
                    <a:pt x="36079" y="562721"/>
                  </a:cubicBezTo>
                  <a:cubicBezTo>
                    <a:pt x="12978" y="539620"/>
                    <a:pt x="0" y="508289"/>
                    <a:pt x="0" y="475619"/>
                  </a:cubicBezTo>
                  <a:lnTo>
                    <a:pt x="0" y="123180"/>
                  </a:lnTo>
                  <a:cubicBezTo>
                    <a:pt x="0" y="90511"/>
                    <a:pt x="12978" y="59179"/>
                    <a:pt x="36079" y="36079"/>
                  </a:cubicBezTo>
                  <a:cubicBezTo>
                    <a:pt x="59179" y="12978"/>
                    <a:pt x="90511" y="0"/>
                    <a:pt x="123180" y="0"/>
                  </a:cubicBezTo>
                  <a:close/>
                </a:path>
              </a:pathLst>
            </a:custGeom>
            <a:ln w="238125" cap="rnd">
              <a:solidFill>
                <a:srgbClr val="5CA3B2"/>
              </a:solidFill>
              <a:prstDash val="solid"/>
              <a:round/>
            </a:ln>
          </p:spPr>
        </p:sp>
        <p:sp>
          <p:nvSpPr>
            <p:cNvPr name="TextBox 9" id="9"/>
            <p:cNvSpPr txBox="true"/>
            <p:nvPr/>
          </p:nvSpPr>
          <p:spPr>
            <a:xfrm>
              <a:off x="0" y="-66675"/>
              <a:ext cx="844213" cy="66547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5400856" y="2280845"/>
            <a:ext cx="3205370" cy="2253647"/>
            <a:chOff x="0" y="0"/>
            <a:chExt cx="844213" cy="593553"/>
          </a:xfrm>
        </p:grpSpPr>
        <p:sp>
          <p:nvSpPr>
            <p:cNvPr name="Freeform 11" id="11"/>
            <p:cNvSpPr/>
            <p:nvPr/>
          </p:nvSpPr>
          <p:spPr>
            <a:xfrm flipH="false" flipV="false" rot="0">
              <a:off x="0" y="0"/>
              <a:ext cx="844213" cy="593553"/>
            </a:xfrm>
            <a:custGeom>
              <a:avLst/>
              <a:gdLst/>
              <a:ahLst/>
              <a:cxnLst/>
              <a:rect r="r" b="b" t="t" l="l"/>
              <a:pathLst>
                <a:path h="593553" w="844213">
                  <a:moveTo>
                    <a:pt x="123180" y="0"/>
                  </a:moveTo>
                  <a:lnTo>
                    <a:pt x="721032" y="0"/>
                  </a:lnTo>
                  <a:cubicBezTo>
                    <a:pt x="753702" y="0"/>
                    <a:pt x="785033" y="12978"/>
                    <a:pt x="808134" y="36079"/>
                  </a:cubicBezTo>
                  <a:cubicBezTo>
                    <a:pt x="831235" y="59179"/>
                    <a:pt x="844213" y="90511"/>
                    <a:pt x="844213" y="123180"/>
                  </a:cubicBezTo>
                  <a:lnTo>
                    <a:pt x="844213" y="470373"/>
                  </a:lnTo>
                  <a:cubicBezTo>
                    <a:pt x="844213" y="503042"/>
                    <a:pt x="831235" y="534374"/>
                    <a:pt x="808134" y="557475"/>
                  </a:cubicBezTo>
                  <a:cubicBezTo>
                    <a:pt x="785033" y="580575"/>
                    <a:pt x="753702" y="593553"/>
                    <a:pt x="721032" y="593553"/>
                  </a:cubicBezTo>
                  <a:lnTo>
                    <a:pt x="123180" y="593553"/>
                  </a:lnTo>
                  <a:cubicBezTo>
                    <a:pt x="90511" y="593553"/>
                    <a:pt x="59179" y="580575"/>
                    <a:pt x="36079" y="557475"/>
                  </a:cubicBezTo>
                  <a:cubicBezTo>
                    <a:pt x="12978" y="534374"/>
                    <a:pt x="0" y="503042"/>
                    <a:pt x="0" y="470373"/>
                  </a:cubicBezTo>
                  <a:lnTo>
                    <a:pt x="0" y="123180"/>
                  </a:lnTo>
                  <a:cubicBezTo>
                    <a:pt x="0" y="90511"/>
                    <a:pt x="12978" y="59179"/>
                    <a:pt x="36079" y="36079"/>
                  </a:cubicBezTo>
                  <a:cubicBezTo>
                    <a:pt x="59179" y="12978"/>
                    <a:pt x="90511" y="0"/>
                    <a:pt x="123180" y="0"/>
                  </a:cubicBezTo>
                  <a:close/>
                </a:path>
              </a:pathLst>
            </a:custGeom>
            <a:ln w="238125" cap="rnd">
              <a:solidFill>
                <a:srgbClr val="5CA3B2"/>
              </a:solidFill>
              <a:prstDash val="solid"/>
              <a:round/>
            </a:ln>
          </p:spPr>
        </p:sp>
        <p:sp>
          <p:nvSpPr>
            <p:cNvPr name="TextBox 12" id="12"/>
            <p:cNvSpPr txBox="true"/>
            <p:nvPr/>
          </p:nvSpPr>
          <p:spPr>
            <a:xfrm>
              <a:off x="0" y="-66675"/>
              <a:ext cx="844213" cy="660228"/>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9742349" y="2280845"/>
            <a:ext cx="3205370" cy="2253647"/>
            <a:chOff x="0" y="0"/>
            <a:chExt cx="844213" cy="593553"/>
          </a:xfrm>
        </p:grpSpPr>
        <p:sp>
          <p:nvSpPr>
            <p:cNvPr name="Freeform 14" id="14"/>
            <p:cNvSpPr/>
            <p:nvPr/>
          </p:nvSpPr>
          <p:spPr>
            <a:xfrm flipH="false" flipV="false" rot="0">
              <a:off x="0" y="0"/>
              <a:ext cx="844213" cy="593553"/>
            </a:xfrm>
            <a:custGeom>
              <a:avLst/>
              <a:gdLst/>
              <a:ahLst/>
              <a:cxnLst/>
              <a:rect r="r" b="b" t="t" l="l"/>
              <a:pathLst>
                <a:path h="593553" w="844213">
                  <a:moveTo>
                    <a:pt x="123180" y="0"/>
                  </a:moveTo>
                  <a:lnTo>
                    <a:pt x="721032" y="0"/>
                  </a:lnTo>
                  <a:cubicBezTo>
                    <a:pt x="753702" y="0"/>
                    <a:pt x="785033" y="12978"/>
                    <a:pt x="808134" y="36079"/>
                  </a:cubicBezTo>
                  <a:cubicBezTo>
                    <a:pt x="831235" y="59179"/>
                    <a:pt x="844213" y="90511"/>
                    <a:pt x="844213" y="123180"/>
                  </a:cubicBezTo>
                  <a:lnTo>
                    <a:pt x="844213" y="470373"/>
                  </a:lnTo>
                  <a:cubicBezTo>
                    <a:pt x="844213" y="503042"/>
                    <a:pt x="831235" y="534374"/>
                    <a:pt x="808134" y="557475"/>
                  </a:cubicBezTo>
                  <a:cubicBezTo>
                    <a:pt x="785033" y="580575"/>
                    <a:pt x="753702" y="593553"/>
                    <a:pt x="721032" y="593553"/>
                  </a:cubicBezTo>
                  <a:lnTo>
                    <a:pt x="123180" y="593553"/>
                  </a:lnTo>
                  <a:cubicBezTo>
                    <a:pt x="90511" y="593553"/>
                    <a:pt x="59179" y="580575"/>
                    <a:pt x="36079" y="557475"/>
                  </a:cubicBezTo>
                  <a:cubicBezTo>
                    <a:pt x="12978" y="534374"/>
                    <a:pt x="0" y="503042"/>
                    <a:pt x="0" y="470373"/>
                  </a:cubicBezTo>
                  <a:lnTo>
                    <a:pt x="0" y="123180"/>
                  </a:lnTo>
                  <a:cubicBezTo>
                    <a:pt x="0" y="90511"/>
                    <a:pt x="12978" y="59179"/>
                    <a:pt x="36079" y="36079"/>
                  </a:cubicBezTo>
                  <a:cubicBezTo>
                    <a:pt x="59179" y="12978"/>
                    <a:pt x="90511" y="0"/>
                    <a:pt x="123180" y="0"/>
                  </a:cubicBezTo>
                  <a:close/>
                </a:path>
              </a:pathLst>
            </a:custGeom>
            <a:ln w="238125" cap="rnd">
              <a:solidFill>
                <a:srgbClr val="5CA3B2"/>
              </a:solidFill>
              <a:prstDash val="solid"/>
              <a:round/>
            </a:ln>
          </p:spPr>
        </p:sp>
        <p:sp>
          <p:nvSpPr>
            <p:cNvPr name="TextBox 15" id="15"/>
            <p:cNvSpPr txBox="true"/>
            <p:nvPr/>
          </p:nvSpPr>
          <p:spPr>
            <a:xfrm>
              <a:off x="0" y="-66675"/>
              <a:ext cx="844213" cy="660228"/>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14366944" y="2280845"/>
            <a:ext cx="3205370" cy="2253647"/>
            <a:chOff x="0" y="0"/>
            <a:chExt cx="844213" cy="593553"/>
          </a:xfrm>
        </p:grpSpPr>
        <p:sp>
          <p:nvSpPr>
            <p:cNvPr name="Freeform 17" id="17"/>
            <p:cNvSpPr/>
            <p:nvPr/>
          </p:nvSpPr>
          <p:spPr>
            <a:xfrm flipH="false" flipV="false" rot="0">
              <a:off x="0" y="0"/>
              <a:ext cx="844213" cy="593553"/>
            </a:xfrm>
            <a:custGeom>
              <a:avLst/>
              <a:gdLst/>
              <a:ahLst/>
              <a:cxnLst/>
              <a:rect r="r" b="b" t="t" l="l"/>
              <a:pathLst>
                <a:path h="593553" w="844213">
                  <a:moveTo>
                    <a:pt x="123180" y="0"/>
                  </a:moveTo>
                  <a:lnTo>
                    <a:pt x="721032" y="0"/>
                  </a:lnTo>
                  <a:cubicBezTo>
                    <a:pt x="753702" y="0"/>
                    <a:pt x="785033" y="12978"/>
                    <a:pt x="808134" y="36079"/>
                  </a:cubicBezTo>
                  <a:cubicBezTo>
                    <a:pt x="831235" y="59179"/>
                    <a:pt x="844213" y="90511"/>
                    <a:pt x="844213" y="123180"/>
                  </a:cubicBezTo>
                  <a:lnTo>
                    <a:pt x="844213" y="470373"/>
                  </a:lnTo>
                  <a:cubicBezTo>
                    <a:pt x="844213" y="503042"/>
                    <a:pt x="831235" y="534374"/>
                    <a:pt x="808134" y="557475"/>
                  </a:cubicBezTo>
                  <a:cubicBezTo>
                    <a:pt x="785033" y="580575"/>
                    <a:pt x="753702" y="593553"/>
                    <a:pt x="721032" y="593553"/>
                  </a:cubicBezTo>
                  <a:lnTo>
                    <a:pt x="123180" y="593553"/>
                  </a:lnTo>
                  <a:cubicBezTo>
                    <a:pt x="90511" y="593553"/>
                    <a:pt x="59179" y="580575"/>
                    <a:pt x="36079" y="557475"/>
                  </a:cubicBezTo>
                  <a:cubicBezTo>
                    <a:pt x="12978" y="534374"/>
                    <a:pt x="0" y="503042"/>
                    <a:pt x="0" y="470373"/>
                  </a:cubicBezTo>
                  <a:lnTo>
                    <a:pt x="0" y="123180"/>
                  </a:lnTo>
                  <a:cubicBezTo>
                    <a:pt x="0" y="90511"/>
                    <a:pt x="12978" y="59179"/>
                    <a:pt x="36079" y="36079"/>
                  </a:cubicBezTo>
                  <a:cubicBezTo>
                    <a:pt x="59179" y="12978"/>
                    <a:pt x="90511" y="0"/>
                    <a:pt x="123180" y="0"/>
                  </a:cubicBezTo>
                  <a:close/>
                </a:path>
              </a:pathLst>
            </a:custGeom>
            <a:ln w="238125" cap="rnd">
              <a:solidFill>
                <a:srgbClr val="5CA3B2"/>
              </a:solidFill>
              <a:prstDash val="solid"/>
              <a:round/>
            </a:ln>
          </p:spPr>
        </p:sp>
        <p:sp>
          <p:nvSpPr>
            <p:cNvPr name="TextBox 18" id="18"/>
            <p:cNvSpPr txBox="true"/>
            <p:nvPr/>
          </p:nvSpPr>
          <p:spPr>
            <a:xfrm>
              <a:off x="0" y="-66675"/>
              <a:ext cx="844213" cy="660228"/>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028700" y="5328278"/>
            <a:ext cx="16543613" cy="3834772"/>
            <a:chOff x="0" y="0"/>
            <a:chExt cx="4357166" cy="1009981"/>
          </a:xfrm>
        </p:grpSpPr>
        <p:sp>
          <p:nvSpPr>
            <p:cNvPr name="Freeform 20" id="20"/>
            <p:cNvSpPr/>
            <p:nvPr/>
          </p:nvSpPr>
          <p:spPr>
            <a:xfrm flipH="false" flipV="false" rot="0">
              <a:off x="0" y="0"/>
              <a:ext cx="4357165" cy="1009981"/>
            </a:xfrm>
            <a:custGeom>
              <a:avLst/>
              <a:gdLst/>
              <a:ahLst/>
              <a:cxnLst/>
              <a:rect r="r" b="b" t="t" l="l"/>
              <a:pathLst>
                <a:path h="1009981" w="4357165">
                  <a:moveTo>
                    <a:pt x="23866" y="0"/>
                  </a:moveTo>
                  <a:lnTo>
                    <a:pt x="4333299" y="0"/>
                  </a:lnTo>
                  <a:cubicBezTo>
                    <a:pt x="4346480" y="0"/>
                    <a:pt x="4357165" y="10685"/>
                    <a:pt x="4357165" y="23866"/>
                  </a:cubicBezTo>
                  <a:lnTo>
                    <a:pt x="4357165" y="986115"/>
                  </a:lnTo>
                  <a:cubicBezTo>
                    <a:pt x="4357165" y="999296"/>
                    <a:pt x="4346480" y="1009981"/>
                    <a:pt x="4333299" y="1009981"/>
                  </a:cubicBezTo>
                  <a:lnTo>
                    <a:pt x="23866" y="1009981"/>
                  </a:lnTo>
                  <a:cubicBezTo>
                    <a:pt x="17537" y="1009981"/>
                    <a:pt x="11466" y="1007467"/>
                    <a:pt x="6990" y="1002991"/>
                  </a:cubicBezTo>
                  <a:cubicBezTo>
                    <a:pt x="2514" y="998515"/>
                    <a:pt x="0" y="992444"/>
                    <a:pt x="0" y="986115"/>
                  </a:cubicBezTo>
                  <a:lnTo>
                    <a:pt x="0" y="23866"/>
                  </a:lnTo>
                  <a:cubicBezTo>
                    <a:pt x="0" y="10685"/>
                    <a:pt x="10685" y="0"/>
                    <a:pt x="23866" y="0"/>
                  </a:cubicBezTo>
                  <a:close/>
                </a:path>
              </a:pathLst>
            </a:custGeom>
            <a:ln w="142875" cap="rnd">
              <a:solidFill>
                <a:srgbClr val="5CA3B2"/>
              </a:solidFill>
              <a:prstDash val="solid"/>
              <a:round/>
            </a:ln>
          </p:spPr>
        </p:sp>
        <p:sp>
          <p:nvSpPr>
            <p:cNvPr name="TextBox 21" id="21"/>
            <p:cNvSpPr txBox="true"/>
            <p:nvPr/>
          </p:nvSpPr>
          <p:spPr>
            <a:xfrm>
              <a:off x="0" y="-57150"/>
              <a:ext cx="4357166" cy="1067131"/>
            </a:xfrm>
            <a:prstGeom prst="rect">
              <a:avLst/>
            </a:prstGeom>
          </p:spPr>
          <p:txBody>
            <a:bodyPr anchor="ctr" rtlCol="false" tIns="50800" lIns="50800" bIns="50800" rIns="50800"/>
            <a:lstStyle/>
            <a:p>
              <a:pPr algn="ctr">
                <a:lnSpc>
                  <a:spcPts val="3220"/>
                </a:lnSpc>
              </a:pPr>
            </a:p>
          </p:txBody>
        </p:sp>
      </p:grpSp>
      <p:grpSp>
        <p:nvGrpSpPr>
          <p:cNvPr name="Group 22" id="22"/>
          <p:cNvGrpSpPr/>
          <p:nvPr/>
        </p:nvGrpSpPr>
        <p:grpSpPr>
          <a:xfrm rot="0">
            <a:off x="4792550" y="5509253"/>
            <a:ext cx="1521394" cy="425432"/>
            <a:chOff x="0" y="0"/>
            <a:chExt cx="400696" cy="112048"/>
          </a:xfrm>
        </p:grpSpPr>
        <p:sp>
          <p:nvSpPr>
            <p:cNvPr name="Freeform 23" id="23"/>
            <p:cNvSpPr/>
            <p:nvPr/>
          </p:nvSpPr>
          <p:spPr>
            <a:xfrm flipH="false" flipV="false" rot="0">
              <a:off x="0" y="0"/>
              <a:ext cx="400696" cy="112048"/>
            </a:xfrm>
            <a:custGeom>
              <a:avLst/>
              <a:gdLst/>
              <a:ahLst/>
              <a:cxnLst/>
              <a:rect r="r" b="b" t="t" l="l"/>
              <a:pathLst>
                <a:path h="112048" w="400696">
                  <a:moveTo>
                    <a:pt x="56024" y="0"/>
                  </a:moveTo>
                  <a:lnTo>
                    <a:pt x="344673" y="0"/>
                  </a:lnTo>
                  <a:cubicBezTo>
                    <a:pt x="375614" y="0"/>
                    <a:pt x="400696" y="25083"/>
                    <a:pt x="400696" y="56024"/>
                  </a:cubicBezTo>
                  <a:lnTo>
                    <a:pt x="400696" y="56024"/>
                  </a:lnTo>
                  <a:cubicBezTo>
                    <a:pt x="400696" y="86965"/>
                    <a:pt x="375614" y="112048"/>
                    <a:pt x="344673" y="112048"/>
                  </a:cubicBezTo>
                  <a:lnTo>
                    <a:pt x="56024" y="112048"/>
                  </a:lnTo>
                  <a:cubicBezTo>
                    <a:pt x="25083" y="112048"/>
                    <a:pt x="0" y="86965"/>
                    <a:pt x="0" y="56024"/>
                  </a:cubicBezTo>
                  <a:lnTo>
                    <a:pt x="0" y="56024"/>
                  </a:lnTo>
                  <a:cubicBezTo>
                    <a:pt x="0" y="25083"/>
                    <a:pt x="25083" y="0"/>
                    <a:pt x="56024" y="0"/>
                  </a:cubicBezTo>
                  <a:close/>
                </a:path>
              </a:pathLst>
            </a:custGeom>
            <a:solidFill>
              <a:srgbClr val="3943C9"/>
            </a:solidFill>
          </p:spPr>
        </p:sp>
        <p:sp>
          <p:nvSpPr>
            <p:cNvPr name="TextBox 24" id="24"/>
            <p:cNvSpPr txBox="true"/>
            <p:nvPr/>
          </p:nvSpPr>
          <p:spPr>
            <a:xfrm>
              <a:off x="0" y="-66675"/>
              <a:ext cx="400696" cy="178723"/>
            </a:xfrm>
            <a:prstGeom prst="rect">
              <a:avLst/>
            </a:prstGeom>
          </p:spPr>
          <p:txBody>
            <a:bodyPr anchor="ctr" rtlCol="false" tIns="50800" lIns="50800" bIns="50800" rIns="50800"/>
            <a:lstStyle/>
            <a:p>
              <a:pPr algn="ctr">
                <a:lnSpc>
                  <a:spcPts val="3499"/>
                </a:lnSpc>
              </a:pPr>
            </a:p>
          </p:txBody>
        </p:sp>
      </p:grpSp>
      <p:grpSp>
        <p:nvGrpSpPr>
          <p:cNvPr name="Group 25" id="25"/>
          <p:cNvGrpSpPr/>
          <p:nvPr/>
        </p:nvGrpSpPr>
        <p:grpSpPr>
          <a:xfrm rot="0">
            <a:off x="4813374" y="6012920"/>
            <a:ext cx="1521394" cy="492848"/>
            <a:chOff x="0" y="0"/>
            <a:chExt cx="400696" cy="129804"/>
          </a:xfrm>
        </p:grpSpPr>
        <p:sp>
          <p:nvSpPr>
            <p:cNvPr name="Freeform 26" id="26"/>
            <p:cNvSpPr/>
            <p:nvPr/>
          </p:nvSpPr>
          <p:spPr>
            <a:xfrm flipH="false" flipV="false" rot="0">
              <a:off x="0" y="0"/>
              <a:ext cx="400696" cy="129804"/>
            </a:xfrm>
            <a:custGeom>
              <a:avLst/>
              <a:gdLst/>
              <a:ahLst/>
              <a:cxnLst/>
              <a:rect r="r" b="b" t="t" l="l"/>
              <a:pathLst>
                <a:path h="129804" w="400696">
                  <a:moveTo>
                    <a:pt x="64902" y="0"/>
                  </a:moveTo>
                  <a:lnTo>
                    <a:pt x="335795" y="0"/>
                  </a:lnTo>
                  <a:cubicBezTo>
                    <a:pt x="353008" y="0"/>
                    <a:pt x="369516" y="6838"/>
                    <a:pt x="381687" y="19009"/>
                  </a:cubicBezTo>
                  <a:cubicBezTo>
                    <a:pt x="393859" y="31181"/>
                    <a:pt x="400696" y="47689"/>
                    <a:pt x="400696" y="64902"/>
                  </a:cubicBezTo>
                  <a:lnTo>
                    <a:pt x="400696" y="64902"/>
                  </a:lnTo>
                  <a:cubicBezTo>
                    <a:pt x="400696" y="100746"/>
                    <a:pt x="371639" y="129804"/>
                    <a:pt x="335795"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B46E26"/>
            </a:solidFill>
          </p:spPr>
        </p:sp>
        <p:sp>
          <p:nvSpPr>
            <p:cNvPr name="TextBox 27" id="27"/>
            <p:cNvSpPr txBox="true"/>
            <p:nvPr/>
          </p:nvSpPr>
          <p:spPr>
            <a:xfrm>
              <a:off x="0" y="-57150"/>
              <a:ext cx="400696"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Kategorikal</a:t>
              </a:r>
            </a:p>
          </p:txBody>
        </p:sp>
      </p:grpSp>
      <p:grpSp>
        <p:nvGrpSpPr>
          <p:cNvPr name="Group 28" id="28"/>
          <p:cNvGrpSpPr/>
          <p:nvPr/>
        </p:nvGrpSpPr>
        <p:grpSpPr>
          <a:xfrm rot="0">
            <a:off x="4813374" y="6606258"/>
            <a:ext cx="1521394" cy="492848"/>
            <a:chOff x="0" y="0"/>
            <a:chExt cx="400696" cy="129804"/>
          </a:xfrm>
        </p:grpSpPr>
        <p:sp>
          <p:nvSpPr>
            <p:cNvPr name="Freeform 29" id="29"/>
            <p:cNvSpPr/>
            <p:nvPr/>
          </p:nvSpPr>
          <p:spPr>
            <a:xfrm flipH="false" flipV="false" rot="0">
              <a:off x="0" y="0"/>
              <a:ext cx="400696" cy="129804"/>
            </a:xfrm>
            <a:custGeom>
              <a:avLst/>
              <a:gdLst/>
              <a:ahLst/>
              <a:cxnLst/>
              <a:rect r="r" b="b" t="t" l="l"/>
              <a:pathLst>
                <a:path h="129804" w="400696">
                  <a:moveTo>
                    <a:pt x="64902" y="0"/>
                  </a:moveTo>
                  <a:lnTo>
                    <a:pt x="335795" y="0"/>
                  </a:lnTo>
                  <a:cubicBezTo>
                    <a:pt x="353008" y="0"/>
                    <a:pt x="369516" y="6838"/>
                    <a:pt x="381687" y="19009"/>
                  </a:cubicBezTo>
                  <a:cubicBezTo>
                    <a:pt x="393859" y="31181"/>
                    <a:pt x="400696" y="47689"/>
                    <a:pt x="400696" y="64902"/>
                  </a:cubicBezTo>
                  <a:lnTo>
                    <a:pt x="400696" y="64902"/>
                  </a:lnTo>
                  <a:cubicBezTo>
                    <a:pt x="400696" y="100746"/>
                    <a:pt x="371639" y="129804"/>
                    <a:pt x="335795"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B46E26"/>
            </a:solidFill>
          </p:spPr>
        </p:sp>
        <p:sp>
          <p:nvSpPr>
            <p:cNvPr name="TextBox 30" id="30"/>
            <p:cNvSpPr txBox="true"/>
            <p:nvPr/>
          </p:nvSpPr>
          <p:spPr>
            <a:xfrm>
              <a:off x="0" y="-57150"/>
              <a:ext cx="400696"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Kategorikal</a:t>
              </a:r>
            </a:p>
          </p:txBody>
        </p:sp>
      </p:grpSp>
      <p:grpSp>
        <p:nvGrpSpPr>
          <p:cNvPr name="Group 31" id="31"/>
          <p:cNvGrpSpPr/>
          <p:nvPr/>
        </p:nvGrpSpPr>
        <p:grpSpPr>
          <a:xfrm rot="0">
            <a:off x="4813374" y="7195197"/>
            <a:ext cx="1500570" cy="492848"/>
            <a:chOff x="0" y="0"/>
            <a:chExt cx="395212" cy="129804"/>
          </a:xfrm>
        </p:grpSpPr>
        <p:sp>
          <p:nvSpPr>
            <p:cNvPr name="Freeform 32" id="32"/>
            <p:cNvSpPr/>
            <p:nvPr/>
          </p:nvSpPr>
          <p:spPr>
            <a:xfrm flipH="false" flipV="false" rot="0">
              <a:off x="0" y="0"/>
              <a:ext cx="395212" cy="129804"/>
            </a:xfrm>
            <a:custGeom>
              <a:avLst/>
              <a:gdLst/>
              <a:ahLst/>
              <a:cxnLst/>
              <a:rect r="r" b="b" t="t" l="l"/>
              <a:pathLst>
                <a:path h="129804" w="395212">
                  <a:moveTo>
                    <a:pt x="64902" y="0"/>
                  </a:moveTo>
                  <a:lnTo>
                    <a:pt x="330310" y="0"/>
                  </a:lnTo>
                  <a:cubicBezTo>
                    <a:pt x="366154" y="0"/>
                    <a:pt x="395212" y="29058"/>
                    <a:pt x="395212" y="64902"/>
                  </a:cubicBezTo>
                  <a:lnTo>
                    <a:pt x="395212" y="64902"/>
                  </a:lnTo>
                  <a:cubicBezTo>
                    <a:pt x="395212" y="82115"/>
                    <a:pt x="388374" y="98623"/>
                    <a:pt x="376203" y="110794"/>
                  </a:cubicBezTo>
                  <a:cubicBezTo>
                    <a:pt x="364031" y="122966"/>
                    <a:pt x="347523" y="129804"/>
                    <a:pt x="330310"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3943C9"/>
            </a:solidFill>
          </p:spPr>
        </p:sp>
        <p:sp>
          <p:nvSpPr>
            <p:cNvPr name="TextBox 33" id="33"/>
            <p:cNvSpPr txBox="true"/>
            <p:nvPr/>
          </p:nvSpPr>
          <p:spPr>
            <a:xfrm>
              <a:off x="0" y="-57150"/>
              <a:ext cx="395212"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Numerik</a:t>
              </a:r>
            </a:p>
          </p:txBody>
        </p:sp>
      </p:grpSp>
      <p:grpSp>
        <p:nvGrpSpPr>
          <p:cNvPr name="Group 34" id="34"/>
          <p:cNvGrpSpPr/>
          <p:nvPr/>
        </p:nvGrpSpPr>
        <p:grpSpPr>
          <a:xfrm rot="0">
            <a:off x="4813374" y="7784137"/>
            <a:ext cx="1521394" cy="492848"/>
            <a:chOff x="0" y="0"/>
            <a:chExt cx="400696" cy="129804"/>
          </a:xfrm>
        </p:grpSpPr>
        <p:sp>
          <p:nvSpPr>
            <p:cNvPr name="Freeform 35" id="35"/>
            <p:cNvSpPr/>
            <p:nvPr/>
          </p:nvSpPr>
          <p:spPr>
            <a:xfrm flipH="false" flipV="false" rot="0">
              <a:off x="0" y="0"/>
              <a:ext cx="400696" cy="129804"/>
            </a:xfrm>
            <a:custGeom>
              <a:avLst/>
              <a:gdLst/>
              <a:ahLst/>
              <a:cxnLst/>
              <a:rect r="r" b="b" t="t" l="l"/>
              <a:pathLst>
                <a:path h="129804" w="400696">
                  <a:moveTo>
                    <a:pt x="64902" y="0"/>
                  </a:moveTo>
                  <a:lnTo>
                    <a:pt x="335795" y="0"/>
                  </a:lnTo>
                  <a:cubicBezTo>
                    <a:pt x="353008" y="0"/>
                    <a:pt x="369516" y="6838"/>
                    <a:pt x="381687" y="19009"/>
                  </a:cubicBezTo>
                  <a:cubicBezTo>
                    <a:pt x="393859" y="31181"/>
                    <a:pt x="400696" y="47689"/>
                    <a:pt x="400696" y="64902"/>
                  </a:cubicBezTo>
                  <a:lnTo>
                    <a:pt x="400696" y="64902"/>
                  </a:lnTo>
                  <a:cubicBezTo>
                    <a:pt x="400696" y="100746"/>
                    <a:pt x="371639" y="129804"/>
                    <a:pt x="335795"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B8B745"/>
            </a:solidFill>
          </p:spPr>
        </p:sp>
        <p:sp>
          <p:nvSpPr>
            <p:cNvPr name="TextBox 36" id="36"/>
            <p:cNvSpPr txBox="true"/>
            <p:nvPr/>
          </p:nvSpPr>
          <p:spPr>
            <a:xfrm>
              <a:off x="0" y="-57150"/>
              <a:ext cx="400696"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Biner</a:t>
              </a:r>
            </a:p>
          </p:txBody>
        </p:sp>
      </p:grpSp>
      <p:grpSp>
        <p:nvGrpSpPr>
          <p:cNvPr name="Group 37" id="37"/>
          <p:cNvGrpSpPr/>
          <p:nvPr/>
        </p:nvGrpSpPr>
        <p:grpSpPr>
          <a:xfrm rot="0">
            <a:off x="4813374" y="8390424"/>
            <a:ext cx="1521394" cy="492848"/>
            <a:chOff x="0" y="0"/>
            <a:chExt cx="400696" cy="129804"/>
          </a:xfrm>
        </p:grpSpPr>
        <p:sp>
          <p:nvSpPr>
            <p:cNvPr name="Freeform 38" id="38"/>
            <p:cNvSpPr/>
            <p:nvPr/>
          </p:nvSpPr>
          <p:spPr>
            <a:xfrm flipH="false" flipV="false" rot="0">
              <a:off x="0" y="0"/>
              <a:ext cx="400696" cy="129804"/>
            </a:xfrm>
            <a:custGeom>
              <a:avLst/>
              <a:gdLst/>
              <a:ahLst/>
              <a:cxnLst/>
              <a:rect r="r" b="b" t="t" l="l"/>
              <a:pathLst>
                <a:path h="129804" w="400696">
                  <a:moveTo>
                    <a:pt x="64902" y="0"/>
                  </a:moveTo>
                  <a:lnTo>
                    <a:pt x="335795" y="0"/>
                  </a:lnTo>
                  <a:cubicBezTo>
                    <a:pt x="353008" y="0"/>
                    <a:pt x="369516" y="6838"/>
                    <a:pt x="381687" y="19009"/>
                  </a:cubicBezTo>
                  <a:cubicBezTo>
                    <a:pt x="393859" y="31181"/>
                    <a:pt x="400696" y="47689"/>
                    <a:pt x="400696" y="64902"/>
                  </a:cubicBezTo>
                  <a:lnTo>
                    <a:pt x="400696" y="64902"/>
                  </a:lnTo>
                  <a:cubicBezTo>
                    <a:pt x="400696" y="100746"/>
                    <a:pt x="371639" y="129804"/>
                    <a:pt x="335795"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B46E26"/>
            </a:solidFill>
          </p:spPr>
        </p:sp>
        <p:sp>
          <p:nvSpPr>
            <p:cNvPr name="TextBox 39" id="39"/>
            <p:cNvSpPr txBox="true"/>
            <p:nvPr/>
          </p:nvSpPr>
          <p:spPr>
            <a:xfrm>
              <a:off x="0" y="-57150"/>
              <a:ext cx="400696"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Kategorikal</a:t>
              </a:r>
            </a:p>
          </p:txBody>
        </p:sp>
      </p:grpSp>
      <p:sp>
        <p:nvSpPr>
          <p:cNvPr name="TextBox 40" id="40"/>
          <p:cNvSpPr txBox="true"/>
          <p:nvPr/>
        </p:nvSpPr>
        <p:spPr>
          <a:xfrm rot="0">
            <a:off x="-238539" y="1084234"/>
            <a:ext cx="11583573" cy="976666"/>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Data Understanding</a:t>
            </a:r>
          </a:p>
        </p:txBody>
      </p:sp>
      <p:sp>
        <p:nvSpPr>
          <p:cNvPr name="TextBox 41" id="41"/>
          <p:cNvSpPr txBox="true"/>
          <p:nvPr/>
        </p:nvSpPr>
        <p:spPr>
          <a:xfrm rot="0">
            <a:off x="1335181" y="2463279"/>
            <a:ext cx="2639167" cy="1533507"/>
          </a:xfrm>
          <a:prstGeom prst="rect">
            <a:avLst/>
          </a:prstGeom>
        </p:spPr>
        <p:txBody>
          <a:bodyPr anchor="t" rtlCol="false" tIns="0" lIns="0" bIns="0" rIns="0">
            <a:spAutoFit/>
          </a:bodyPr>
          <a:lstStyle/>
          <a:p>
            <a:pPr algn="ctr">
              <a:lnSpc>
                <a:spcPts val="5599"/>
              </a:lnSpc>
            </a:pPr>
            <a:r>
              <a:rPr lang="en-US" sz="3999" b="true">
                <a:solidFill>
                  <a:srgbClr val="FFFFFF"/>
                </a:solidFill>
                <a:latin typeface="Poppins Bold"/>
                <a:ea typeface="Poppins Bold"/>
                <a:cs typeface="Poppins Bold"/>
                <a:sym typeface="Poppins Bold"/>
              </a:rPr>
              <a:t>32.581</a:t>
            </a:r>
          </a:p>
          <a:p>
            <a:pPr algn="ctr">
              <a:lnSpc>
                <a:spcPts val="3499"/>
              </a:lnSpc>
            </a:pPr>
          </a:p>
          <a:p>
            <a:pPr algn="ctr">
              <a:lnSpc>
                <a:spcPts val="2800"/>
              </a:lnSpc>
              <a:spcBef>
                <a:spcPct val="0"/>
              </a:spcBef>
            </a:pPr>
            <a:r>
              <a:rPr lang="en-US" sz="2000">
                <a:solidFill>
                  <a:srgbClr val="FFFFFF"/>
                </a:solidFill>
                <a:latin typeface="Poppins"/>
                <a:ea typeface="Poppins"/>
                <a:cs typeface="Poppins"/>
                <a:sym typeface="Poppins"/>
              </a:rPr>
              <a:t>Original Data Rows</a:t>
            </a:r>
          </a:p>
        </p:txBody>
      </p:sp>
      <p:sp>
        <p:nvSpPr>
          <p:cNvPr name="TextBox 42" id="42"/>
          <p:cNvSpPr txBox="true"/>
          <p:nvPr/>
        </p:nvSpPr>
        <p:spPr>
          <a:xfrm rot="0">
            <a:off x="5683957" y="2442239"/>
            <a:ext cx="2639167" cy="1533507"/>
          </a:xfrm>
          <a:prstGeom prst="rect">
            <a:avLst/>
          </a:prstGeom>
        </p:spPr>
        <p:txBody>
          <a:bodyPr anchor="t" rtlCol="false" tIns="0" lIns="0" bIns="0" rIns="0">
            <a:spAutoFit/>
          </a:bodyPr>
          <a:lstStyle/>
          <a:p>
            <a:pPr algn="ctr">
              <a:lnSpc>
                <a:spcPts val="5599"/>
              </a:lnSpc>
            </a:pPr>
            <a:r>
              <a:rPr lang="en-US" sz="3999" b="true">
                <a:solidFill>
                  <a:srgbClr val="1CD24F"/>
                </a:solidFill>
                <a:latin typeface="Poppins Bold"/>
                <a:ea typeface="Poppins Bold"/>
                <a:cs typeface="Poppins Bold"/>
                <a:sym typeface="Poppins Bold"/>
              </a:rPr>
              <a:t>31.679</a:t>
            </a:r>
          </a:p>
          <a:p>
            <a:pPr algn="ctr">
              <a:lnSpc>
                <a:spcPts val="3499"/>
              </a:lnSpc>
            </a:pPr>
          </a:p>
          <a:p>
            <a:pPr algn="ctr">
              <a:lnSpc>
                <a:spcPts val="2800"/>
              </a:lnSpc>
              <a:spcBef>
                <a:spcPct val="0"/>
              </a:spcBef>
            </a:pPr>
            <a:r>
              <a:rPr lang="en-US" sz="2000">
                <a:solidFill>
                  <a:srgbClr val="FFFFFF"/>
                </a:solidFill>
                <a:latin typeface="Poppins"/>
                <a:ea typeface="Poppins"/>
                <a:cs typeface="Poppins"/>
                <a:sym typeface="Poppins"/>
              </a:rPr>
              <a:t>Rows After Cleaning</a:t>
            </a:r>
          </a:p>
        </p:txBody>
      </p:sp>
      <p:sp>
        <p:nvSpPr>
          <p:cNvPr name="TextBox 43" id="43"/>
          <p:cNvSpPr txBox="true"/>
          <p:nvPr/>
        </p:nvSpPr>
        <p:spPr>
          <a:xfrm rot="0">
            <a:off x="10025451" y="2573805"/>
            <a:ext cx="2639167" cy="1533507"/>
          </a:xfrm>
          <a:prstGeom prst="rect">
            <a:avLst/>
          </a:prstGeom>
        </p:spPr>
        <p:txBody>
          <a:bodyPr anchor="t" rtlCol="false" tIns="0" lIns="0" bIns="0" rIns="0">
            <a:spAutoFit/>
          </a:bodyPr>
          <a:lstStyle/>
          <a:p>
            <a:pPr algn="ctr">
              <a:lnSpc>
                <a:spcPts val="5599"/>
              </a:lnSpc>
            </a:pPr>
            <a:r>
              <a:rPr lang="en-US" sz="3999" b="true">
                <a:solidFill>
                  <a:srgbClr val="3943C9"/>
                </a:solidFill>
                <a:latin typeface="Poppins Bold"/>
                <a:ea typeface="Poppins Bold"/>
                <a:cs typeface="Poppins Bold"/>
                <a:sym typeface="Poppins Bold"/>
              </a:rPr>
              <a:t>12</a:t>
            </a:r>
          </a:p>
          <a:p>
            <a:pPr algn="ctr">
              <a:lnSpc>
                <a:spcPts val="3499"/>
              </a:lnSpc>
            </a:pPr>
          </a:p>
          <a:p>
            <a:pPr algn="ctr">
              <a:lnSpc>
                <a:spcPts val="2800"/>
              </a:lnSpc>
              <a:spcBef>
                <a:spcPct val="0"/>
              </a:spcBef>
            </a:pPr>
            <a:r>
              <a:rPr lang="en-US" sz="2000">
                <a:solidFill>
                  <a:srgbClr val="FFFFFF"/>
                </a:solidFill>
                <a:latin typeface="Poppins"/>
                <a:ea typeface="Poppins"/>
                <a:cs typeface="Poppins"/>
                <a:sym typeface="Poppins"/>
              </a:rPr>
              <a:t>Variables</a:t>
            </a:r>
          </a:p>
        </p:txBody>
      </p:sp>
      <p:sp>
        <p:nvSpPr>
          <p:cNvPr name="TextBox 44" id="44"/>
          <p:cNvSpPr txBox="true"/>
          <p:nvPr/>
        </p:nvSpPr>
        <p:spPr>
          <a:xfrm rot="0">
            <a:off x="14652694" y="2483199"/>
            <a:ext cx="2639167" cy="1533507"/>
          </a:xfrm>
          <a:prstGeom prst="rect">
            <a:avLst/>
          </a:prstGeom>
        </p:spPr>
        <p:txBody>
          <a:bodyPr anchor="t" rtlCol="false" tIns="0" lIns="0" bIns="0" rIns="0">
            <a:spAutoFit/>
          </a:bodyPr>
          <a:lstStyle/>
          <a:p>
            <a:pPr algn="ctr">
              <a:lnSpc>
                <a:spcPts val="5599"/>
              </a:lnSpc>
            </a:pPr>
            <a:r>
              <a:rPr lang="en-US" sz="3999" b="true">
                <a:solidFill>
                  <a:srgbClr val="D91919"/>
                </a:solidFill>
                <a:latin typeface="Poppins Bold"/>
                <a:ea typeface="Poppins Bold"/>
                <a:cs typeface="Poppins Bold"/>
                <a:sym typeface="Poppins Bold"/>
              </a:rPr>
              <a:t>21.54%</a:t>
            </a:r>
          </a:p>
          <a:p>
            <a:pPr algn="ctr">
              <a:lnSpc>
                <a:spcPts val="3499"/>
              </a:lnSpc>
            </a:pPr>
          </a:p>
          <a:p>
            <a:pPr algn="ctr">
              <a:lnSpc>
                <a:spcPts val="2800"/>
              </a:lnSpc>
              <a:spcBef>
                <a:spcPct val="0"/>
              </a:spcBef>
            </a:pPr>
            <a:r>
              <a:rPr lang="en-US" sz="2000">
                <a:solidFill>
                  <a:srgbClr val="FFFFFF"/>
                </a:solidFill>
                <a:latin typeface="Poppins"/>
                <a:ea typeface="Poppins"/>
                <a:cs typeface="Poppins"/>
                <a:sym typeface="Poppins"/>
              </a:rPr>
              <a:t>Overall Default Rate</a:t>
            </a:r>
          </a:p>
        </p:txBody>
      </p:sp>
      <p:sp>
        <p:nvSpPr>
          <p:cNvPr name="TextBox 45" id="45"/>
          <p:cNvSpPr txBox="true"/>
          <p:nvPr/>
        </p:nvSpPr>
        <p:spPr>
          <a:xfrm rot="0">
            <a:off x="945852" y="4677367"/>
            <a:ext cx="2827463" cy="441361"/>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oppins"/>
                <a:ea typeface="Poppins"/>
                <a:cs typeface="Poppins"/>
                <a:sym typeface="Poppins"/>
              </a:rPr>
              <a:t>Dataset Variables</a:t>
            </a:r>
          </a:p>
        </p:txBody>
      </p:sp>
      <p:sp>
        <p:nvSpPr>
          <p:cNvPr name="TextBox 46" id="46"/>
          <p:cNvSpPr txBox="true"/>
          <p:nvPr/>
        </p:nvSpPr>
        <p:spPr>
          <a:xfrm rot="0">
            <a:off x="1335181" y="5566403"/>
            <a:ext cx="1636568" cy="36828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person_age </a:t>
            </a:r>
          </a:p>
        </p:txBody>
      </p:sp>
      <p:sp>
        <p:nvSpPr>
          <p:cNvPr name="TextBox 47" id="47"/>
          <p:cNvSpPr txBox="true"/>
          <p:nvPr/>
        </p:nvSpPr>
        <p:spPr>
          <a:xfrm rot="0">
            <a:off x="5029102" y="5504491"/>
            <a:ext cx="1048291" cy="36828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Numerik</a:t>
            </a:r>
          </a:p>
        </p:txBody>
      </p:sp>
      <p:sp>
        <p:nvSpPr>
          <p:cNvPr name="TextBox 48" id="48"/>
          <p:cNvSpPr txBox="true"/>
          <p:nvPr/>
        </p:nvSpPr>
        <p:spPr>
          <a:xfrm rot="0">
            <a:off x="6602343" y="5514016"/>
            <a:ext cx="2427793"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Borrower age (years)</a:t>
            </a:r>
          </a:p>
        </p:txBody>
      </p:sp>
      <p:sp>
        <p:nvSpPr>
          <p:cNvPr name="TextBox 49" id="49"/>
          <p:cNvSpPr txBox="true"/>
          <p:nvPr/>
        </p:nvSpPr>
        <p:spPr>
          <a:xfrm rot="0">
            <a:off x="1335181" y="6068035"/>
            <a:ext cx="3313184" cy="36828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person_home_ownership</a:t>
            </a:r>
          </a:p>
        </p:txBody>
      </p:sp>
      <p:sp>
        <p:nvSpPr>
          <p:cNvPr name="TextBox 50" id="50"/>
          <p:cNvSpPr txBox="true"/>
          <p:nvPr/>
        </p:nvSpPr>
        <p:spPr>
          <a:xfrm rot="0">
            <a:off x="1335181" y="6601495"/>
            <a:ext cx="1475563" cy="36828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loan_intent</a:t>
            </a:r>
          </a:p>
        </p:txBody>
      </p:sp>
      <p:sp>
        <p:nvSpPr>
          <p:cNvPr name="TextBox 51" id="51"/>
          <p:cNvSpPr txBox="true"/>
          <p:nvPr/>
        </p:nvSpPr>
        <p:spPr>
          <a:xfrm rot="0">
            <a:off x="1335181" y="7211068"/>
            <a:ext cx="1433891" cy="36828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Poppins"/>
                <a:ea typeface="Poppins"/>
                <a:cs typeface="Poppins"/>
                <a:sym typeface="Poppins"/>
              </a:rPr>
              <a:t>loan_amnt</a:t>
            </a:r>
          </a:p>
        </p:txBody>
      </p:sp>
      <p:sp>
        <p:nvSpPr>
          <p:cNvPr name="TextBox 52" id="52"/>
          <p:cNvSpPr txBox="true"/>
          <p:nvPr/>
        </p:nvSpPr>
        <p:spPr>
          <a:xfrm rot="0">
            <a:off x="1335181" y="7798305"/>
            <a:ext cx="1529863" cy="36828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Poppins"/>
                <a:ea typeface="Poppins"/>
                <a:cs typeface="Poppins"/>
                <a:sym typeface="Poppins"/>
              </a:rPr>
              <a:t>loan_status</a:t>
            </a:r>
          </a:p>
        </p:txBody>
      </p:sp>
      <p:sp>
        <p:nvSpPr>
          <p:cNvPr name="TextBox 53" id="53"/>
          <p:cNvSpPr txBox="true"/>
          <p:nvPr/>
        </p:nvSpPr>
        <p:spPr>
          <a:xfrm rot="0">
            <a:off x="1247194" y="8385661"/>
            <a:ext cx="3545356" cy="36828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cb_person_default_on_file</a:t>
            </a:r>
          </a:p>
        </p:txBody>
      </p:sp>
      <p:sp>
        <p:nvSpPr>
          <p:cNvPr name="TextBox 54" id="54"/>
          <p:cNvSpPr txBox="true"/>
          <p:nvPr/>
        </p:nvSpPr>
        <p:spPr>
          <a:xfrm rot="0">
            <a:off x="10498802" y="5513645"/>
            <a:ext cx="2028753" cy="36828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person_income</a:t>
            </a:r>
          </a:p>
        </p:txBody>
      </p:sp>
      <p:sp>
        <p:nvSpPr>
          <p:cNvPr name="TextBox 55" id="55"/>
          <p:cNvSpPr txBox="true"/>
          <p:nvPr/>
        </p:nvSpPr>
        <p:spPr>
          <a:xfrm rot="0">
            <a:off x="14571186" y="5556154"/>
            <a:ext cx="1729653"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Annual income</a:t>
            </a:r>
          </a:p>
        </p:txBody>
      </p:sp>
      <p:sp>
        <p:nvSpPr>
          <p:cNvPr name="TextBox 56" id="56"/>
          <p:cNvSpPr txBox="true"/>
          <p:nvPr/>
        </p:nvSpPr>
        <p:spPr>
          <a:xfrm rot="0">
            <a:off x="10293617" y="6074424"/>
            <a:ext cx="2654101" cy="36828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person_emp_length</a:t>
            </a:r>
          </a:p>
        </p:txBody>
      </p:sp>
      <p:sp>
        <p:nvSpPr>
          <p:cNvPr name="TextBox 57" id="57"/>
          <p:cNvSpPr txBox="true"/>
          <p:nvPr/>
        </p:nvSpPr>
        <p:spPr>
          <a:xfrm rot="0">
            <a:off x="10293617" y="6635203"/>
            <a:ext cx="1512905" cy="36828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Poppins"/>
                <a:ea typeface="Poppins"/>
                <a:cs typeface="Poppins"/>
                <a:sym typeface="Poppins"/>
              </a:rPr>
              <a:t>loan_grade</a:t>
            </a:r>
          </a:p>
        </p:txBody>
      </p:sp>
      <p:sp>
        <p:nvSpPr>
          <p:cNvPr name="TextBox 58" id="58"/>
          <p:cNvSpPr txBox="true"/>
          <p:nvPr/>
        </p:nvSpPr>
        <p:spPr>
          <a:xfrm rot="0">
            <a:off x="10293617" y="7224143"/>
            <a:ext cx="1765643" cy="36828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Poppins"/>
                <a:ea typeface="Poppins"/>
                <a:cs typeface="Poppins"/>
                <a:sym typeface="Poppins"/>
              </a:rPr>
              <a:t>loan_int_rate</a:t>
            </a:r>
          </a:p>
        </p:txBody>
      </p:sp>
      <p:sp>
        <p:nvSpPr>
          <p:cNvPr name="TextBox 59" id="59"/>
          <p:cNvSpPr txBox="true"/>
          <p:nvPr/>
        </p:nvSpPr>
        <p:spPr>
          <a:xfrm rot="0">
            <a:off x="10025451" y="7821756"/>
            <a:ext cx="2883207" cy="36828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Poppins"/>
                <a:ea typeface="Poppins"/>
                <a:cs typeface="Poppins"/>
                <a:sym typeface="Poppins"/>
              </a:rPr>
              <a:t>loan_percent_income</a:t>
            </a:r>
          </a:p>
        </p:txBody>
      </p:sp>
      <p:sp>
        <p:nvSpPr>
          <p:cNvPr name="TextBox 60" id="60"/>
          <p:cNvSpPr txBox="true"/>
          <p:nvPr/>
        </p:nvSpPr>
        <p:spPr>
          <a:xfrm rot="0">
            <a:off x="9807788" y="8447584"/>
            <a:ext cx="3410780" cy="325773"/>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Poppins"/>
                <a:ea typeface="Poppins"/>
                <a:cs typeface="Poppins"/>
                <a:sym typeface="Poppins"/>
              </a:rPr>
              <a:t>cb_person_cred_hist_length</a:t>
            </a:r>
          </a:p>
        </p:txBody>
      </p:sp>
      <p:grpSp>
        <p:nvGrpSpPr>
          <p:cNvPr name="Group 61" id="61"/>
          <p:cNvGrpSpPr/>
          <p:nvPr/>
        </p:nvGrpSpPr>
        <p:grpSpPr>
          <a:xfrm rot="0">
            <a:off x="12947719" y="5484700"/>
            <a:ext cx="1500570" cy="492848"/>
            <a:chOff x="0" y="0"/>
            <a:chExt cx="395212" cy="129804"/>
          </a:xfrm>
        </p:grpSpPr>
        <p:sp>
          <p:nvSpPr>
            <p:cNvPr name="Freeform 62" id="62"/>
            <p:cNvSpPr/>
            <p:nvPr/>
          </p:nvSpPr>
          <p:spPr>
            <a:xfrm flipH="false" flipV="false" rot="0">
              <a:off x="0" y="0"/>
              <a:ext cx="395212" cy="129804"/>
            </a:xfrm>
            <a:custGeom>
              <a:avLst/>
              <a:gdLst/>
              <a:ahLst/>
              <a:cxnLst/>
              <a:rect r="r" b="b" t="t" l="l"/>
              <a:pathLst>
                <a:path h="129804" w="395212">
                  <a:moveTo>
                    <a:pt x="64902" y="0"/>
                  </a:moveTo>
                  <a:lnTo>
                    <a:pt x="330310" y="0"/>
                  </a:lnTo>
                  <a:cubicBezTo>
                    <a:pt x="366154" y="0"/>
                    <a:pt x="395212" y="29058"/>
                    <a:pt x="395212" y="64902"/>
                  </a:cubicBezTo>
                  <a:lnTo>
                    <a:pt x="395212" y="64902"/>
                  </a:lnTo>
                  <a:cubicBezTo>
                    <a:pt x="395212" y="82115"/>
                    <a:pt x="388374" y="98623"/>
                    <a:pt x="376203" y="110794"/>
                  </a:cubicBezTo>
                  <a:cubicBezTo>
                    <a:pt x="364031" y="122966"/>
                    <a:pt x="347523" y="129804"/>
                    <a:pt x="330310"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3943C9"/>
            </a:solidFill>
          </p:spPr>
        </p:sp>
        <p:sp>
          <p:nvSpPr>
            <p:cNvPr name="TextBox 63" id="63"/>
            <p:cNvSpPr txBox="true"/>
            <p:nvPr/>
          </p:nvSpPr>
          <p:spPr>
            <a:xfrm>
              <a:off x="0" y="-57150"/>
              <a:ext cx="395212"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Numerik</a:t>
              </a:r>
            </a:p>
          </p:txBody>
        </p:sp>
      </p:grpSp>
      <p:grpSp>
        <p:nvGrpSpPr>
          <p:cNvPr name="Group 64" id="64"/>
          <p:cNvGrpSpPr/>
          <p:nvPr/>
        </p:nvGrpSpPr>
        <p:grpSpPr>
          <a:xfrm rot="0">
            <a:off x="12984115" y="6045479"/>
            <a:ext cx="1500570" cy="492848"/>
            <a:chOff x="0" y="0"/>
            <a:chExt cx="395212" cy="129804"/>
          </a:xfrm>
        </p:grpSpPr>
        <p:sp>
          <p:nvSpPr>
            <p:cNvPr name="Freeform 65" id="65"/>
            <p:cNvSpPr/>
            <p:nvPr/>
          </p:nvSpPr>
          <p:spPr>
            <a:xfrm flipH="false" flipV="false" rot="0">
              <a:off x="0" y="0"/>
              <a:ext cx="395212" cy="129804"/>
            </a:xfrm>
            <a:custGeom>
              <a:avLst/>
              <a:gdLst/>
              <a:ahLst/>
              <a:cxnLst/>
              <a:rect r="r" b="b" t="t" l="l"/>
              <a:pathLst>
                <a:path h="129804" w="395212">
                  <a:moveTo>
                    <a:pt x="64902" y="0"/>
                  </a:moveTo>
                  <a:lnTo>
                    <a:pt x="330310" y="0"/>
                  </a:lnTo>
                  <a:cubicBezTo>
                    <a:pt x="366154" y="0"/>
                    <a:pt x="395212" y="29058"/>
                    <a:pt x="395212" y="64902"/>
                  </a:cubicBezTo>
                  <a:lnTo>
                    <a:pt x="395212" y="64902"/>
                  </a:lnTo>
                  <a:cubicBezTo>
                    <a:pt x="395212" y="82115"/>
                    <a:pt x="388374" y="98623"/>
                    <a:pt x="376203" y="110794"/>
                  </a:cubicBezTo>
                  <a:cubicBezTo>
                    <a:pt x="364031" y="122966"/>
                    <a:pt x="347523" y="129804"/>
                    <a:pt x="330310"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3943C9"/>
            </a:solidFill>
          </p:spPr>
        </p:sp>
        <p:sp>
          <p:nvSpPr>
            <p:cNvPr name="TextBox 66" id="66"/>
            <p:cNvSpPr txBox="true"/>
            <p:nvPr/>
          </p:nvSpPr>
          <p:spPr>
            <a:xfrm>
              <a:off x="0" y="-57150"/>
              <a:ext cx="395212"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Numerik</a:t>
              </a:r>
            </a:p>
          </p:txBody>
        </p:sp>
      </p:grpSp>
      <p:grpSp>
        <p:nvGrpSpPr>
          <p:cNvPr name="Group 67" id="67"/>
          <p:cNvGrpSpPr/>
          <p:nvPr/>
        </p:nvGrpSpPr>
        <p:grpSpPr>
          <a:xfrm rot="0">
            <a:off x="12984115" y="6606258"/>
            <a:ext cx="1500570" cy="492848"/>
            <a:chOff x="0" y="0"/>
            <a:chExt cx="395212" cy="129804"/>
          </a:xfrm>
        </p:grpSpPr>
        <p:sp>
          <p:nvSpPr>
            <p:cNvPr name="Freeform 68" id="68"/>
            <p:cNvSpPr/>
            <p:nvPr/>
          </p:nvSpPr>
          <p:spPr>
            <a:xfrm flipH="false" flipV="false" rot="0">
              <a:off x="0" y="0"/>
              <a:ext cx="395212" cy="129804"/>
            </a:xfrm>
            <a:custGeom>
              <a:avLst/>
              <a:gdLst/>
              <a:ahLst/>
              <a:cxnLst/>
              <a:rect r="r" b="b" t="t" l="l"/>
              <a:pathLst>
                <a:path h="129804" w="395212">
                  <a:moveTo>
                    <a:pt x="64902" y="0"/>
                  </a:moveTo>
                  <a:lnTo>
                    <a:pt x="330310" y="0"/>
                  </a:lnTo>
                  <a:cubicBezTo>
                    <a:pt x="366154" y="0"/>
                    <a:pt x="395212" y="29058"/>
                    <a:pt x="395212" y="64902"/>
                  </a:cubicBezTo>
                  <a:lnTo>
                    <a:pt x="395212" y="64902"/>
                  </a:lnTo>
                  <a:cubicBezTo>
                    <a:pt x="395212" y="82115"/>
                    <a:pt x="388374" y="98623"/>
                    <a:pt x="376203" y="110794"/>
                  </a:cubicBezTo>
                  <a:cubicBezTo>
                    <a:pt x="364031" y="122966"/>
                    <a:pt x="347523" y="129804"/>
                    <a:pt x="330310"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C81E32"/>
            </a:solidFill>
          </p:spPr>
        </p:sp>
        <p:sp>
          <p:nvSpPr>
            <p:cNvPr name="TextBox 69" id="69"/>
            <p:cNvSpPr txBox="true"/>
            <p:nvPr/>
          </p:nvSpPr>
          <p:spPr>
            <a:xfrm>
              <a:off x="0" y="-57150"/>
              <a:ext cx="395212"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Ordinal</a:t>
              </a:r>
            </a:p>
          </p:txBody>
        </p:sp>
      </p:grpSp>
      <p:grpSp>
        <p:nvGrpSpPr>
          <p:cNvPr name="Group 70" id="70"/>
          <p:cNvGrpSpPr/>
          <p:nvPr/>
        </p:nvGrpSpPr>
        <p:grpSpPr>
          <a:xfrm rot="0">
            <a:off x="12984115" y="7195197"/>
            <a:ext cx="1500570" cy="492848"/>
            <a:chOff x="0" y="0"/>
            <a:chExt cx="395212" cy="129804"/>
          </a:xfrm>
        </p:grpSpPr>
        <p:sp>
          <p:nvSpPr>
            <p:cNvPr name="Freeform 71" id="71"/>
            <p:cNvSpPr/>
            <p:nvPr/>
          </p:nvSpPr>
          <p:spPr>
            <a:xfrm flipH="false" flipV="false" rot="0">
              <a:off x="0" y="0"/>
              <a:ext cx="395212" cy="129804"/>
            </a:xfrm>
            <a:custGeom>
              <a:avLst/>
              <a:gdLst/>
              <a:ahLst/>
              <a:cxnLst/>
              <a:rect r="r" b="b" t="t" l="l"/>
              <a:pathLst>
                <a:path h="129804" w="395212">
                  <a:moveTo>
                    <a:pt x="64902" y="0"/>
                  </a:moveTo>
                  <a:lnTo>
                    <a:pt x="330310" y="0"/>
                  </a:lnTo>
                  <a:cubicBezTo>
                    <a:pt x="366154" y="0"/>
                    <a:pt x="395212" y="29058"/>
                    <a:pt x="395212" y="64902"/>
                  </a:cubicBezTo>
                  <a:lnTo>
                    <a:pt x="395212" y="64902"/>
                  </a:lnTo>
                  <a:cubicBezTo>
                    <a:pt x="395212" y="82115"/>
                    <a:pt x="388374" y="98623"/>
                    <a:pt x="376203" y="110794"/>
                  </a:cubicBezTo>
                  <a:cubicBezTo>
                    <a:pt x="364031" y="122966"/>
                    <a:pt x="347523" y="129804"/>
                    <a:pt x="330310"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3943C9"/>
            </a:solidFill>
          </p:spPr>
        </p:sp>
        <p:sp>
          <p:nvSpPr>
            <p:cNvPr name="TextBox 72" id="72"/>
            <p:cNvSpPr txBox="true"/>
            <p:nvPr/>
          </p:nvSpPr>
          <p:spPr>
            <a:xfrm>
              <a:off x="0" y="-57150"/>
              <a:ext cx="395212"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Numerik</a:t>
              </a:r>
            </a:p>
          </p:txBody>
        </p:sp>
      </p:grpSp>
      <p:grpSp>
        <p:nvGrpSpPr>
          <p:cNvPr name="Group 73" id="73"/>
          <p:cNvGrpSpPr/>
          <p:nvPr/>
        </p:nvGrpSpPr>
        <p:grpSpPr>
          <a:xfrm rot="0">
            <a:off x="12984115" y="7792810"/>
            <a:ext cx="1500570" cy="492848"/>
            <a:chOff x="0" y="0"/>
            <a:chExt cx="395212" cy="129804"/>
          </a:xfrm>
        </p:grpSpPr>
        <p:sp>
          <p:nvSpPr>
            <p:cNvPr name="Freeform 74" id="74"/>
            <p:cNvSpPr/>
            <p:nvPr/>
          </p:nvSpPr>
          <p:spPr>
            <a:xfrm flipH="false" flipV="false" rot="0">
              <a:off x="0" y="0"/>
              <a:ext cx="395212" cy="129804"/>
            </a:xfrm>
            <a:custGeom>
              <a:avLst/>
              <a:gdLst/>
              <a:ahLst/>
              <a:cxnLst/>
              <a:rect r="r" b="b" t="t" l="l"/>
              <a:pathLst>
                <a:path h="129804" w="395212">
                  <a:moveTo>
                    <a:pt x="64902" y="0"/>
                  </a:moveTo>
                  <a:lnTo>
                    <a:pt x="330310" y="0"/>
                  </a:lnTo>
                  <a:cubicBezTo>
                    <a:pt x="366154" y="0"/>
                    <a:pt x="395212" y="29058"/>
                    <a:pt x="395212" y="64902"/>
                  </a:cubicBezTo>
                  <a:lnTo>
                    <a:pt x="395212" y="64902"/>
                  </a:lnTo>
                  <a:cubicBezTo>
                    <a:pt x="395212" y="82115"/>
                    <a:pt x="388374" y="98623"/>
                    <a:pt x="376203" y="110794"/>
                  </a:cubicBezTo>
                  <a:cubicBezTo>
                    <a:pt x="364031" y="122966"/>
                    <a:pt x="347523" y="129804"/>
                    <a:pt x="330310"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3943C9"/>
            </a:solidFill>
          </p:spPr>
        </p:sp>
        <p:sp>
          <p:nvSpPr>
            <p:cNvPr name="TextBox 75" id="75"/>
            <p:cNvSpPr txBox="true"/>
            <p:nvPr/>
          </p:nvSpPr>
          <p:spPr>
            <a:xfrm>
              <a:off x="0" y="-57150"/>
              <a:ext cx="395212"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Numerik</a:t>
              </a:r>
            </a:p>
          </p:txBody>
        </p:sp>
      </p:grpSp>
      <p:grpSp>
        <p:nvGrpSpPr>
          <p:cNvPr name="Group 76" id="76"/>
          <p:cNvGrpSpPr/>
          <p:nvPr/>
        </p:nvGrpSpPr>
        <p:grpSpPr>
          <a:xfrm rot="0">
            <a:off x="13258936" y="8390424"/>
            <a:ext cx="1500570" cy="492848"/>
            <a:chOff x="0" y="0"/>
            <a:chExt cx="395212" cy="129804"/>
          </a:xfrm>
        </p:grpSpPr>
        <p:sp>
          <p:nvSpPr>
            <p:cNvPr name="Freeform 77" id="77"/>
            <p:cNvSpPr/>
            <p:nvPr/>
          </p:nvSpPr>
          <p:spPr>
            <a:xfrm flipH="false" flipV="false" rot="0">
              <a:off x="0" y="0"/>
              <a:ext cx="395212" cy="129804"/>
            </a:xfrm>
            <a:custGeom>
              <a:avLst/>
              <a:gdLst/>
              <a:ahLst/>
              <a:cxnLst/>
              <a:rect r="r" b="b" t="t" l="l"/>
              <a:pathLst>
                <a:path h="129804" w="395212">
                  <a:moveTo>
                    <a:pt x="64902" y="0"/>
                  </a:moveTo>
                  <a:lnTo>
                    <a:pt x="330310" y="0"/>
                  </a:lnTo>
                  <a:cubicBezTo>
                    <a:pt x="366154" y="0"/>
                    <a:pt x="395212" y="29058"/>
                    <a:pt x="395212" y="64902"/>
                  </a:cubicBezTo>
                  <a:lnTo>
                    <a:pt x="395212" y="64902"/>
                  </a:lnTo>
                  <a:cubicBezTo>
                    <a:pt x="395212" y="82115"/>
                    <a:pt x="388374" y="98623"/>
                    <a:pt x="376203" y="110794"/>
                  </a:cubicBezTo>
                  <a:cubicBezTo>
                    <a:pt x="364031" y="122966"/>
                    <a:pt x="347523" y="129804"/>
                    <a:pt x="330310" y="129804"/>
                  </a:cubicBezTo>
                  <a:lnTo>
                    <a:pt x="64902" y="129804"/>
                  </a:lnTo>
                  <a:cubicBezTo>
                    <a:pt x="47689" y="129804"/>
                    <a:pt x="31181" y="122966"/>
                    <a:pt x="19009" y="110794"/>
                  </a:cubicBezTo>
                  <a:cubicBezTo>
                    <a:pt x="6838" y="98623"/>
                    <a:pt x="0" y="82115"/>
                    <a:pt x="0" y="64902"/>
                  </a:cubicBezTo>
                  <a:lnTo>
                    <a:pt x="0" y="64902"/>
                  </a:lnTo>
                  <a:cubicBezTo>
                    <a:pt x="0" y="47689"/>
                    <a:pt x="6838" y="31181"/>
                    <a:pt x="19009" y="19009"/>
                  </a:cubicBezTo>
                  <a:cubicBezTo>
                    <a:pt x="31181" y="6838"/>
                    <a:pt x="47689" y="0"/>
                    <a:pt x="64902" y="0"/>
                  </a:cubicBezTo>
                  <a:close/>
                </a:path>
              </a:pathLst>
            </a:custGeom>
            <a:solidFill>
              <a:srgbClr val="3943C9"/>
            </a:solidFill>
          </p:spPr>
        </p:sp>
        <p:sp>
          <p:nvSpPr>
            <p:cNvPr name="TextBox 78" id="78"/>
            <p:cNvSpPr txBox="true"/>
            <p:nvPr/>
          </p:nvSpPr>
          <p:spPr>
            <a:xfrm>
              <a:off x="0" y="-57150"/>
              <a:ext cx="395212" cy="186954"/>
            </a:xfrm>
            <a:prstGeom prst="rect">
              <a:avLst/>
            </a:prstGeom>
          </p:spPr>
          <p:txBody>
            <a:bodyPr anchor="ctr" rtlCol="false" tIns="50800" lIns="50800" bIns="50800" rIns="50800"/>
            <a:lstStyle/>
            <a:p>
              <a:pPr algn="ctr">
                <a:lnSpc>
                  <a:spcPts val="2380"/>
                </a:lnSpc>
              </a:pPr>
              <a:r>
                <a:rPr lang="en-US" sz="1700">
                  <a:solidFill>
                    <a:srgbClr val="FFFFFF"/>
                  </a:solidFill>
                  <a:latin typeface="Poppins"/>
                  <a:ea typeface="Poppins"/>
                  <a:cs typeface="Poppins"/>
                  <a:sym typeface="Poppins"/>
                </a:rPr>
                <a:t>Numerik</a:t>
              </a:r>
            </a:p>
          </p:txBody>
        </p:sp>
      </p:grpSp>
      <p:sp>
        <p:nvSpPr>
          <p:cNvPr name="TextBox 79" id="79"/>
          <p:cNvSpPr txBox="true"/>
          <p:nvPr/>
        </p:nvSpPr>
        <p:spPr>
          <a:xfrm rot="0">
            <a:off x="6648841" y="6077560"/>
            <a:ext cx="2693157"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Home ownership status</a:t>
            </a:r>
          </a:p>
        </p:txBody>
      </p:sp>
      <p:sp>
        <p:nvSpPr>
          <p:cNvPr name="TextBox 80" id="80"/>
          <p:cNvSpPr txBox="true"/>
          <p:nvPr/>
        </p:nvSpPr>
        <p:spPr>
          <a:xfrm rot="0">
            <a:off x="6634770" y="6645867"/>
            <a:ext cx="1554938"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Loan purpose</a:t>
            </a:r>
          </a:p>
        </p:txBody>
      </p:sp>
      <p:sp>
        <p:nvSpPr>
          <p:cNvPr name="TextBox 81" id="81"/>
          <p:cNvSpPr txBox="true"/>
          <p:nvPr/>
        </p:nvSpPr>
        <p:spPr>
          <a:xfrm rot="0">
            <a:off x="6534965" y="7233668"/>
            <a:ext cx="1754548"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Loan ammount</a:t>
            </a:r>
          </a:p>
        </p:txBody>
      </p:sp>
      <p:sp>
        <p:nvSpPr>
          <p:cNvPr name="TextBox 82" id="82"/>
          <p:cNvSpPr txBox="true"/>
          <p:nvPr/>
        </p:nvSpPr>
        <p:spPr>
          <a:xfrm rot="0">
            <a:off x="6578351" y="7840626"/>
            <a:ext cx="3042498"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0 = default | 1= non default</a:t>
            </a:r>
          </a:p>
        </p:txBody>
      </p:sp>
      <p:sp>
        <p:nvSpPr>
          <p:cNvPr name="TextBox 83" id="83"/>
          <p:cNvSpPr txBox="true"/>
          <p:nvPr/>
        </p:nvSpPr>
        <p:spPr>
          <a:xfrm rot="0">
            <a:off x="6518116" y="8431092"/>
            <a:ext cx="1645317"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Default history</a:t>
            </a:r>
          </a:p>
        </p:txBody>
      </p:sp>
      <p:sp>
        <p:nvSpPr>
          <p:cNvPr name="TextBox 84" id="84"/>
          <p:cNvSpPr txBox="true"/>
          <p:nvPr/>
        </p:nvSpPr>
        <p:spPr>
          <a:xfrm rot="0">
            <a:off x="14573396" y="6116933"/>
            <a:ext cx="2234586"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Employment length</a:t>
            </a:r>
          </a:p>
        </p:txBody>
      </p:sp>
      <p:sp>
        <p:nvSpPr>
          <p:cNvPr name="TextBox 85" id="85"/>
          <p:cNvSpPr txBox="true"/>
          <p:nvPr/>
        </p:nvSpPr>
        <p:spPr>
          <a:xfrm rot="0">
            <a:off x="14681679" y="6652256"/>
            <a:ext cx="1824994"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Risk grade A - G</a:t>
            </a:r>
          </a:p>
        </p:txBody>
      </p:sp>
      <p:sp>
        <p:nvSpPr>
          <p:cNvPr name="TextBox 86" id="86"/>
          <p:cNvSpPr txBox="true"/>
          <p:nvPr/>
        </p:nvSpPr>
        <p:spPr>
          <a:xfrm rot="0">
            <a:off x="14549403" y="7233668"/>
            <a:ext cx="1644325"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Interent rate %</a:t>
            </a:r>
          </a:p>
        </p:txBody>
      </p:sp>
      <p:sp>
        <p:nvSpPr>
          <p:cNvPr name="TextBox 87" id="87"/>
          <p:cNvSpPr txBox="true"/>
          <p:nvPr/>
        </p:nvSpPr>
        <p:spPr>
          <a:xfrm rot="0">
            <a:off x="14503672" y="7840626"/>
            <a:ext cx="341583" cy="325773"/>
          </a:xfrm>
          <a:prstGeom prst="rect">
            <a:avLst/>
          </a:prstGeom>
        </p:spPr>
        <p:txBody>
          <a:bodyPr anchor="t" rtlCol="false" tIns="0" lIns="0" bIns="0" rIns="0">
            <a:spAutoFit/>
          </a:bodyPr>
          <a:lstStyle/>
          <a:p>
            <a:pPr algn="ctr">
              <a:lnSpc>
                <a:spcPts val="2520"/>
              </a:lnSpc>
              <a:spcBef>
                <a:spcPct val="0"/>
              </a:spcBef>
            </a:pPr>
            <a:r>
              <a:rPr lang="en-US" sz="1800">
                <a:solidFill>
                  <a:srgbClr val="818F8A"/>
                </a:solidFill>
                <a:latin typeface="Poppins"/>
                <a:ea typeface="Poppins"/>
                <a:cs typeface="Poppins"/>
                <a:sym typeface="Poppins"/>
              </a:rPr>
              <a:t>DTI</a:t>
            </a:r>
          </a:p>
        </p:txBody>
      </p:sp>
      <p:sp>
        <p:nvSpPr>
          <p:cNvPr name="TextBox 88" id="88"/>
          <p:cNvSpPr txBox="true"/>
          <p:nvPr/>
        </p:nvSpPr>
        <p:spPr>
          <a:xfrm rot="0">
            <a:off x="14930497" y="8300660"/>
            <a:ext cx="2313240" cy="640116"/>
          </a:xfrm>
          <a:prstGeom prst="rect">
            <a:avLst/>
          </a:prstGeom>
        </p:spPr>
        <p:txBody>
          <a:bodyPr anchor="t" rtlCol="false" tIns="0" lIns="0" bIns="0" rIns="0">
            <a:spAutoFit/>
          </a:bodyPr>
          <a:lstStyle/>
          <a:p>
            <a:pPr algn="ctr">
              <a:lnSpc>
                <a:spcPts val="2520"/>
              </a:lnSpc>
            </a:pPr>
            <a:r>
              <a:rPr lang="en-US" sz="1800">
                <a:solidFill>
                  <a:srgbClr val="818F8A"/>
                </a:solidFill>
                <a:latin typeface="Poppins"/>
                <a:ea typeface="Poppins"/>
                <a:cs typeface="Poppins"/>
                <a:sym typeface="Poppins"/>
              </a:rPr>
              <a:t>Credit history length</a:t>
            </a:r>
          </a:p>
          <a:p>
            <a:pPr algn="ctr">
              <a:lnSpc>
                <a:spcPts val="2520"/>
              </a:lnSpc>
              <a:spcBef>
                <a:spcPct val="0"/>
              </a:spcBef>
            </a:pPr>
            <a:r>
              <a:rPr lang="en-US" sz="1800">
                <a:solidFill>
                  <a:srgbClr val="818F8A"/>
                </a:solidFill>
                <a:latin typeface="Poppins"/>
                <a:ea typeface="Poppins"/>
                <a:cs typeface="Poppins"/>
                <a:sym typeface="Poppins"/>
              </a:rPr>
              <a:t> (years)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383128" y="1954844"/>
            <a:ext cx="5778062" cy="5778062"/>
          </a:xfrm>
          <a:custGeom>
            <a:avLst/>
            <a:gdLst/>
            <a:ahLst/>
            <a:cxnLst/>
            <a:rect r="r" b="b" t="t" l="l"/>
            <a:pathLst>
              <a:path h="5778062" w="5778062">
                <a:moveTo>
                  <a:pt x="0" y="0"/>
                </a:moveTo>
                <a:lnTo>
                  <a:pt x="5778063" y="0"/>
                </a:lnTo>
                <a:lnTo>
                  <a:pt x="5778063" y="5778063"/>
                </a:lnTo>
                <a:lnTo>
                  <a:pt x="0" y="5778063"/>
                </a:lnTo>
                <a:lnTo>
                  <a:pt x="0" y="0"/>
                </a:lnTo>
                <a:close/>
              </a:path>
            </a:pathLst>
          </a:custGeom>
          <a:blipFill>
            <a:blip r:embed="rId5"/>
            <a:stretch>
              <a:fillRect l="0" t="0" r="0" b="0"/>
            </a:stretch>
          </a:blipFill>
          <a:ln cap="sq">
            <a:noFill/>
            <a:prstDash val="solid"/>
            <a:miter/>
          </a:ln>
        </p:spPr>
      </p:sp>
      <p:sp>
        <p:nvSpPr>
          <p:cNvPr name="TextBox 8" id="8"/>
          <p:cNvSpPr txBox="true"/>
          <p:nvPr/>
        </p:nvSpPr>
        <p:spPr>
          <a:xfrm rot="0">
            <a:off x="1028700" y="3112175"/>
            <a:ext cx="8115300" cy="976666"/>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Data Cleaning</a:t>
            </a:r>
          </a:p>
        </p:txBody>
      </p:sp>
      <p:sp>
        <p:nvSpPr>
          <p:cNvPr name="TextBox 9" id="9"/>
          <p:cNvSpPr txBox="true"/>
          <p:nvPr/>
        </p:nvSpPr>
        <p:spPr>
          <a:xfrm rot="0">
            <a:off x="1028700" y="5066625"/>
            <a:ext cx="5267183" cy="1755919"/>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Poppins"/>
                <a:ea typeface="Poppins"/>
                <a:cs typeface="Poppins"/>
                <a:sym typeface="Poppins"/>
              </a:rPr>
              <a:t>Duplicate</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Missing Values</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Outlier</a:t>
            </a:r>
          </a:p>
          <a:p>
            <a:pPr algn="just" marL="539749" indent="-269875" lvl="1">
              <a:lnSpc>
                <a:spcPts val="3499"/>
              </a:lnSpc>
              <a:spcBef>
                <a:spcPct val="0"/>
              </a:spcBef>
              <a:buFont typeface="Arial"/>
              <a:buChar char="•"/>
            </a:pPr>
            <a:r>
              <a:rPr lang="en-US" sz="2499">
                <a:solidFill>
                  <a:srgbClr val="FFFFFF"/>
                </a:solidFill>
                <a:latin typeface="Poppins"/>
                <a:ea typeface="Poppins"/>
                <a:cs typeface="Poppins"/>
                <a:sym typeface="Poppins"/>
              </a:rPr>
              <a:t>Feature Engineering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6" id="6"/>
          <p:cNvGraphicFramePr>
            <a:graphicFrameLocks noGrp="true"/>
          </p:cNvGraphicFramePr>
          <p:nvPr/>
        </p:nvGraphicFramePr>
        <p:xfrm>
          <a:off x="1028700" y="2700508"/>
          <a:ext cx="7315200" cy="6091250"/>
        </p:xfrm>
        <a:graphic>
          <a:graphicData uri="http://schemas.openxmlformats.org/drawingml/2006/table">
            <a:tbl>
              <a:tblPr/>
              <a:tblGrid>
                <a:gridCol w="3657600"/>
                <a:gridCol w="3657600"/>
              </a:tblGrid>
              <a:tr h="872231">
                <a:tc>
                  <a:txBody>
                    <a:bodyPr anchor="t" rtlCol="false"/>
                    <a:lstStyle/>
                    <a:p>
                      <a:pPr algn="ctr">
                        <a:lnSpc>
                          <a:spcPts val="2520"/>
                        </a:lnSpc>
                        <a:defRPr/>
                      </a:pPr>
                      <a:r>
                        <a:rPr lang="en-US" sz="1800" b="true">
                          <a:solidFill>
                            <a:srgbClr val="FFFFFF"/>
                          </a:solidFill>
                          <a:latin typeface="Poppins Bold"/>
                          <a:ea typeface="Poppins Bold"/>
                          <a:cs typeface="Poppins Bold"/>
                          <a:sym typeface="Poppins Bold"/>
                        </a:rPr>
                        <a:t>Duplicate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c>
                  <a:txBody>
                    <a:bodyPr anchor="t" rtlCol="false"/>
                    <a:lstStyle/>
                    <a:p>
                      <a:pPr algn="ctr">
                        <a:lnSpc>
                          <a:spcPts val="2520"/>
                        </a:lnSpc>
                        <a:defRPr/>
                      </a:pPr>
                      <a:r>
                        <a:rPr lang="en-US" sz="1800" b="true">
                          <a:solidFill>
                            <a:srgbClr val="FFFFFF"/>
                          </a:solidFill>
                          <a:latin typeface="Poppins Bold"/>
                          <a:ea typeface="Poppins Bold"/>
                          <a:cs typeface="Poppins Bold"/>
                          <a:sym typeface="Poppins Bold"/>
                        </a:rPr>
                        <a:t>Missing Values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r>
              <a:tr h="2765272">
                <a:tc>
                  <a:txBody>
                    <a:bodyPr anchor="t" rtlCol="false"/>
                    <a:lstStyle/>
                    <a:p>
                      <a:pPr algn="ctr">
                        <a:lnSpc>
                          <a:spcPts val="2520"/>
                        </a:lnSpc>
                        <a:defRPr/>
                      </a:pPr>
                      <a:r>
                        <a:rPr lang="en-US" sz="1800">
                          <a:solidFill>
                            <a:srgbClr val="FFFFFF"/>
                          </a:solidFill>
                          <a:latin typeface="Poppins"/>
                          <a:ea typeface="Poppins"/>
                          <a:cs typeface="Poppins"/>
                          <a:sym typeface="Poppins"/>
                        </a:rPr>
                        <a:t>1</a:t>
                      </a:r>
                      <a:r>
                        <a:rPr lang="en-US" sz="1800">
                          <a:solidFill>
                            <a:srgbClr val="FFFFFF"/>
                          </a:solidFill>
                          <a:latin typeface="Poppins"/>
                          <a:ea typeface="Poppins"/>
                          <a:cs typeface="Poppins"/>
                          <a:sym typeface="Poppins"/>
                        </a:rPr>
                        <a:t>65 Baris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Poppins Bold"/>
                          <a:ea typeface="Poppins Bold"/>
                          <a:cs typeface="Poppins Bold"/>
                          <a:sym typeface="Poppins Bold"/>
                        </a:rPr>
                        <a:t>person_emp_length </a:t>
                      </a:r>
                      <a:endParaRPr lang="en-US" sz="1100"/>
                    </a:p>
                    <a:p>
                      <a:pPr algn="ctr">
                        <a:lnSpc>
                          <a:spcPts val="2520"/>
                        </a:lnSpc>
                      </a:pPr>
                      <a:r>
                        <a:rPr lang="en-US" sz="1800">
                          <a:solidFill>
                            <a:srgbClr val="FFFFFF"/>
                          </a:solidFill>
                          <a:latin typeface="Poppins"/>
                          <a:ea typeface="Poppins"/>
                          <a:cs typeface="Poppins"/>
                          <a:sym typeface="Poppins"/>
                        </a:rPr>
                        <a:t>(895 row)</a:t>
                      </a:r>
                    </a:p>
                    <a:p>
                      <a:pPr algn="ctr">
                        <a:lnSpc>
                          <a:spcPts val="2520"/>
                        </a:lnSpc>
                      </a:pPr>
                      <a:r>
                        <a:rPr lang="en-US" sz="1800">
                          <a:solidFill>
                            <a:srgbClr val="FFFFFF"/>
                          </a:solidFill>
                          <a:latin typeface="Poppins"/>
                          <a:ea typeface="Poppins"/>
                          <a:cs typeface="Poppins"/>
                          <a:sym typeface="Poppins"/>
                        </a:rPr>
                        <a:t>Handle : Null values filled with the median interest rate calculated per loan_grade.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2453748">
                <a:tc>
                  <a:txBody>
                    <a:bodyPr anchor="t" rtlCol="false"/>
                    <a:lstStyle/>
                    <a:p>
                      <a:pPr algn="ctr">
                        <a:lnSpc>
                          <a:spcPts val="2520"/>
                        </a:lnSpc>
                        <a:defRPr/>
                      </a:pPr>
                      <a:r>
                        <a:rPr lang="en-US" sz="1800">
                          <a:solidFill>
                            <a:srgbClr val="FFFFFF"/>
                          </a:solidFill>
                          <a:latin typeface="Poppins"/>
                          <a:ea typeface="Poppins"/>
                          <a:cs typeface="Poppins"/>
                          <a:sym typeface="Poppins"/>
                        </a:rPr>
                        <a:t>Duplicate dihapus semuanya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Poppins Bold"/>
                          <a:ea typeface="Poppins Bold"/>
                          <a:cs typeface="Poppins Bold"/>
                          <a:sym typeface="Poppins Bold"/>
                        </a:rPr>
                        <a:t>loan_int_rate (3.116 row)</a:t>
                      </a:r>
                      <a:endParaRPr lang="en-US" sz="1100"/>
                    </a:p>
                    <a:p>
                      <a:pPr algn="ctr">
                        <a:lnSpc>
                          <a:spcPts val="2520"/>
                        </a:lnSpc>
                      </a:pPr>
                      <a:r>
                        <a:rPr lang="en-US" sz="1800">
                          <a:solidFill>
                            <a:srgbClr val="FFFFFF"/>
                          </a:solidFill>
                          <a:latin typeface="Poppins"/>
                          <a:ea typeface="Poppins"/>
                          <a:cs typeface="Poppins"/>
                          <a:sym typeface="Poppins"/>
                        </a:rPr>
                        <a:t>Handle : Missing values filled with the overall median of the person_emp_length column.</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7" id="7"/>
          <p:cNvGraphicFramePr>
            <a:graphicFrameLocks noGrp="true"/>
          </p:cNvGraphicFramePr>
          <p:nvPr/>
        </p:nvGraphicFramePr>
        <p:xfrm>
          <a:off x="9144000" y="2700508"/>
          <a:ext cx="7315200" cy="4362450"/>
        </p:xfrm>
        <a:graphic>
          <a:graphicData uri="http://schemas.openxmlformats.org/drawingml/2006/table">
            <a:tbl>
              <a:tblPr/>
              <a:tblGrid>
                <a:gridCol w="3657600"/>
                <a:gridCol w="3657600"/>
              </a:tblGrid>
              <a:tr h="1028155">
                <a:tc>
                  <a:txBody>
                    <a:bodyPr anchor="t" rtlCol="false"/>
                    <a:lstStyle/>
                    <a:p>
                      <a:pPr algn="ctr">
                        <a:lnSpc>
                          <a:spcPts val="2520"/>
                        </a:lnSpc>
                        <a:defRPr/>
                      </a:pPr>
                      <a:r>
                        <a:rPr lang="en-US" sz="1800" b="true">
                          <a:solidFill>
                            <a:srgbClr val="FFFFFF"/>
                          </a:solidFill>
                          <a:latin typeface="Poppins Bold"/>
                          <a:ea typeface="Poppins Bold"/>
                          <a:cs typeface="Poppins Bold"/>
                          <a:sym typeface="Poppins Bold"/>
                        </a:rPr>
                        <a:t>Outlier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c>
                  <a:txBody>
                    <a:bodyPr anchor="t" rtlCol="false"/>
                    <a:lstStyle/>
                    <a:p>
                      <a:pPr algn="ctr">
                        <a:lnSpc>
                          <a:spcPts val="2520"/>
                        </a:lnSpc>
                        <a:defRPr/>
                      </a:pPr>
                      <a:r>
                        <a:rPr lang="en-US" sz="1800" b="true">
                          <a:solidFill>
                            <a:srgbClr val="FFFFFF"/>
                          </a:solidFill>
                          <a:latin typeface="Poppins Bold"/>
                          <a:ea typeface="Poppins Bold"/>
                          <a:cs typeface="Poppins Bold"/>
                          <a:sym typeface="Poppins Bold"/>
                        </a:rPr>
                        <a:t>Handle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r>
              <a:tr h="1508601">
                <a:tc>
                  <a:txBody>
                    <a:bodyPr anchor="t" rtlCol="false"/>
                    <a:lstStyle/>
                    <a:p>
                      <a:pPr algn="ctr">
                        <a:lnSpc>
                          <a:spcPts val="2520"/>
                        </a:lnSpc>
                        <a:defRPr/>
                      </a:pPr>
                      <a:r>
                        <a:rPr lang="en-US" sz="1800">
                          <a:solidFill>
                            <a:srgbClr val="FFFFFF"/>
                          </a:solidFill>
                          <a:latin typeface="Poppins"/>
                          <a:ea typeface="Poppins"/>
                          <a:cs typeface="Poppins"/>
                          <a:sym typeface="Poppins"/>
                        </a:rPr>
                        <a:t>person_age</a:t>
                      </a:r>
                      <a:endParaRPr lang="en-US" sz="1100"/>
                    </a:p>
                    <a:p>
                      <a:pPr algn="ctr">
                        <a:lnSpc>
                          <a:spcPts val="2520"/>
                        </a:lnSpc>
                      </a:pPr>
                      <a:r>
                        <a:rPr lang="en-US" sz="1800">
                          <a:solidFill>
                            <a:srgbClr val="FFFFFF"/>
                          </a:solidFill>
                          <a:latin typeface="Poppins"/>
                          <a:ea typeface="Poppins"/>
                          <a:cs typeface="Poppins"/>
                          <a:sym typeface="Poppins"/>
                        </a:rPr>
                        <a:t>Max : 144 tahun</a:t>
                      </a:r>
                    </a:p>
                    <a:p>
                      <a:pPr algn="ctr">
                        <a:lnSpc>
                          <a:spcPts val="2520"/>
                        </a:lnSpc>
                      </a:pPr>
                      <a:r>
                        <a:rPr lang="en-US" sz="1800">
                          <a:solidFill>
                            <a:srgbClr val="FFFFFF"/>
                          </a:solidFill>
                          <a:latin typeface="Poppins"/>
                          <a:ea typeface="Poppins"/>
                          <a:cs typeface="Poppins"/>
                          <a:sym typeface="Poppins"/>
                        </a:rPr>
                        <a:t>Unrealistic for a borrower</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Poppins"/>
                          <a:ea typeface="Poppins"/>
                          <a:cs typeface="Poppins"/>
                          <a:sym typeface="Poppins"/>
                        </a:rPr>
                        <a:t>Remove age &gt; 100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825695">
                <a:tc>
                  <a:txBody>
                    <a:bodyPr anchor="t" rtlCol="false"/>
                    <a:lstStyle/>
                    <a:p>
                      <a:pPr algn="ctr">
                        <a:lnSpc>
                          <a:spcPts val="2520"/>
                        </a:lnSpc>
                        <a:defRPr/>
                      </a:pPr>
                      <a:r>
                        <a:rPr lang="en-US" sz="1800">
                          <a:solidFill>
                            <a:srgbClr val="FFFFFF"/>
                          </a:solidFill>
                          <a:latin typeface="Poppins"/>
                          <a:ea typeface="Poppins"/>
                          <a:cs typeface="Poppins"/>
                          <a:sym typeface="Poppins"/>
                        </a:rPr>
                        <a:t>person_emp_length</a:t>
                      </a:r>
                      <a:endParaRPr lang="en-US" sz="1100"/>
                    </a:p>
                    <a:p>
                      <a:pPr algn="ctr">
                        <a:lnSpc>
                          <a:spcPts val="2520"/>
                        </a:lnSpc>
                      </a:pPr>
                      <a:r>
                        <a:rPr lang="en-US" sz="1800">
                          <a:solidFill>
                            <a:srgbClr val="FFFFFF"/>
                          </a:solidFill>
                          <a:latin typeface="Poppins"/>
                          <a:ea typeface="Poppins"/>
                          <a:cs typeface="Poppins"/>
                          <a:sym typeface="Poppins"/>
                        </a:rPr>
                        <a:t>Max : 123 tahun</a:t>
                      </a:r>
                    </a:p>
                    <a:p>
                      <a:pPr algn="ctr">
                        <a:lnSpc>
                          <a:spcPts val="2520"/>
                        </a:lnSpc>
                      </a:pPr>
                      <a:r>
                        <a:rPr lang="en-US" sz="1800">
                          <a:solidFill>
                            <a:srgbClr val="FFFFFF"/>
                          </a:solidFill>
                          <a:latin typeface="Poppins"/>
                          <a:ea typeface="Poppins"/>
                          <a:cs typeface="Poppins"/>
                          <a:sym typeface="Poppins"/>
                        </a:rPr>
                        <a:t>Impossible to work &gt; 60 years</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Poppins"/>
                          <a:ea typeface="Poppins"/>
                          <a:cs typeface="Poppins"/>
                          <a:sym typeface="Poppins"/>
                        </a:rPr>
                        <a:t>Remove emp_length &gt;60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8" id="8"/>
          <p:cNvSpPr txBox="true"/>
          <p:nvPr/>
        </p:nvSpPr>
        <p:spPr>
          <a:xfrm rot="0">
            <a:off x="1028700" y="1180917"/>
            <a:ext cx="16230600" cy="976666"/>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Missing Values, Duplicate &amp; Outlier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2326338"/>
            <a:ext cx="7266686" cy="2004806"/>
            <a:chOff x="0" y="0"/>
            <a:chExt cx="1913860" cy="528015"/>
          </a:xfrm>
        </p:grpSpPr>
        <p:sp>
          <p:nvSpPr>
            <p:cNvPr name="Freeform 7" id="7"/>
            <p:cNvSpPr/>
            <p:nvPr/>
          </p:nvSpPr>
          <p:spPr>
            <a:xfrm flipH="false" flipV="false" rot="0">
              <a:off x="0" y="0"/>
              <a:ext cx="1913860" cy="528015"/>
            </a:xfrm>
            <a:custGeom>
              <a:avLst/>
              <a:gdLst/>
              <a:ahLst/>
              <a:cxnLst/>
              <a:rect r="r" b="b" t="t" l="l"/>
              <a:pathLst>
                <a:path h="528015" w="1913860">
                  <a:moveTo>
                    <a:pt x="54335" y="0"/>
                  </a:moveTo>
                  <a:lnTo>
                    <a:pt x="1859524" y="0"/>
                  </a:lnTo>
                  <a:cubicBezTo>
                    <a:pt x="1873935" y="0"/>
                    <a:pt x="1887756" y="5725"/>
                    <a:pt x="1897945" y="15914"/>
                  </a:cubicBezTo>
                  <a:cubicBezTo>
                    <a:pt x="1908135" y="26104"/>
                    <a:pt x="1913860" y="39925"/>
                    <a:pt x="1913860" y="54335"/>
                  </a:cubicBezTo>
                  <a:lnTo>
                    <a:pt x="1913860" y="473679"/>
                  </a:lnTo>
                  <a:cubicBezTo>
                    <a:pt x="1913860" y="503688"/>
                    <a:pt x="1889533" y="528015"/>
                    <a:pt x="1859524" y="528015"/>
                  </a:cubicBezTo>
                  <a:lnTo>
                    <a:pt x="54335" y="528015"/>
                  </a:lnTo>
                  <a:cubicBezTo>
                    <a:pt x="39925" y="528015"/>
                    <a:pt x="26104" y="522290"/>
                    <a:pt x="15914" y="512100"/>
                  </a:cubicBezTo>
                  <a:cubicBezTo>
                    <a:pt x="5725" y="501910"/>
                    <a:pt x="0" y="488090"/>
                    <a:pt x="0" y="473679"/>
                  </a:cubicBezTo>
                  <a:lnTo>
                    <a:pt x="0" y="54335"/>
                  </a:lnTo>
                  <a:cubicBezTo>
                    <a:pt x="0" y="39925"/>
                    <a:pt x="5725" y="26104"/>
                    <a:pt x="15914" y="15914"/>
                  </a:cubicBezTo>
                  <a:cubicBezTo>
                    <a:pt x="26104" y="5725"/>
                    <a:pt x="39925" y="0"/>
                    <a:pt x="54335" y="0"/>
                  </a:cubicBezTo>
                  <a:close/>
                </a:path>
              </a:pathLst>
            </a:custGeom>
            <a:solidFill>
              <a:srgbClr val="5CA3B2"/>
            </a:solidFill>
          </p:spPr>
        </p:sp>
        <p:sp>
          <p:nvSpPr>
            <p:cNvPr name="TextBox 8" id="8"/>
            <p:cNvSpPr txBox="true"/>
            <p:nvPr/>
          </p:nvSpPr>
          <p:spPr>
            <a:xfrm>
              <a:off x="0" y="-57150"/>
              <a:ext cx="1913860" cy="585165"/>
            </a:xfrm>
            <a:prstGeom prst="rect">
              <a:avLst/>
            </a:prstGeom>
          </p:spPr>
          <p:txBody>
            <a:bodyPr anchor="ctr" rtlCol="false" tIns="50800" lIns="50800" bIns="50800" rIns="50800"/>
            <a:lstStyle/>
            <a:p>
              <a:pPr algn="l">
                <a:lnSpc>
                  <a:spcPts val="2940"/>
                </a:lnSpc>
              </a:pPr>
              <a:r>
                <a:rPr lang="en-US" sz="2100" b="true">
                  <a:solidFill>
                    <a:srgbClr val="000000"/>
                  </a:solidFill>
                  <a:latin typeface="Poppins Bold"/>
                  <a:ea typeface="Poppins Bold"/>
                  <a:cs typeface="Poppins Bold"/>
                  <a:sym typeface="Poppins Bold"/>
                </a:rPr>
                <a:t>age_group</a:t>
              </a:r>
            </a:p>
            <a:p>
              <a:pPr algn="l">
                <a:lnSpc>
                  <a:spcPts val="2940"/>
                </a:lnSpc>
              </a:pPr>
            </a:p>
            <a:p>
              <a:pPr algn="l">
                <a:lnSpc>
                  <a:spcPts val="2660"/>
                </a:lnSpc>
              </a:pPr>
              <a:r>
                <a:rPr lang="en-US" sz="1900">
                  <a:solidFill>
                    <a:srgbClr val="000000"/>
                  </a:solidFill>
                  <a:latin typeface="Poppins"/>
                  <a:ea typeface="Poppins"/>
                  <a:cs typeface="Poppins"/>
                  <a:sym typeface="Poppins"/>
                </a:rPr>
                <a:t>Young (&lt;25), Adult (26-35), Middle Aged </a:t>
              </a:r>
            </a:p>
            <a:p>
              <a:pPr algn="l">
                <a:lnSpc>
                  <a:spcPts val="2660"/>
                </a:lnSpc>
              </a:pPr>
              <a:r>
                <a:rPr lang="en-US" sz="1900">
                  <a:solidFill>
                    <a:srgbClr val="000000"/>
                  </a:solidFill>
                  <a:latin typeface="Poppins"/>
                  <a:ea typeface="Poppins"/>
                  <a:cs typeface="Poppins"/>
                  <a:sym typeface="Poppins"/>
                </a:rPr>
                <a:t>(36-50), Senior (&gt;50)</a:t>
              </a:r>
            </a:p>
          </p:txBody>
        </p:sp>
      </p:grpSp>
      <p:grpSp>
        <p:nvGrpSpPr>
          <p:cNvPr name="Group 9" id="9"/>
          <p:cNvGrpSpPr/>
          <p:nvPr/>
        </p:nvGrpSpPr>
        <p:grpSpPr>
          <a:xfrm rot="0">
            <a:off x="1028700" y="4493068"/>
            <a:ext cx="7266686" cy="2103222"/>
            <a:chOff x="0" y="0"/>
            <a:chExt cx="1913860" cy="553935"/>
          </a:xfrm>
        </p:grpSpPr>
        <p:sp>
          <p:nvSpPr>
            <p:cNvPr name="Freeform 10" id="10"/>
            <p:cNvSpPr/>
            <p:nvPr/>
          </p:nvSpPr>
          <p:spPr>
            <a:xfrm flipH="false" flipV="false" rot="0">
              <a:off x="0" y="0"/>
              <a:ext cx="1913860" cy="553935"/>
            </a:xfrm>
            <a:custGeom>
              <a:avLst/>
              <a:gdLst/>
              <a:ahLst/>
              <a:cxnLst/>
              <a:rect r="r" b="b" t="t" l="l"/>
              <a:pathLst>
                <a:path h="553935" w="1913860">
                  <a:moveTo>
                    <a:pt x="54335" y="0"/>
                  </a:moveTo>
                  <a:lnTo>
                    <a:pt x="1859524" y="0"/>
                  </a:lnTo>
                  <a:cubicBezTo>
                    <a:pt x="1873935" y="0"/>
                    <a:pt x="1887756" y="5725"/>
                    <a:pt x="1897945" y="15914"/>
                  </a:cubicBezTo>
                  <a:cubicBezTo>
                    <a:pt x="1908135" y="26104"/>
                    <a:pt x="1913860" y="39925"/>
                    <a:pt x="1913860" y="54335"/>
                  </a:cubicBezTo>
                  <a:lnTo>
                    <a:pt x="1913860" y="499600"/>
                  </a:lnTo>
                  <a:cubicBezTo>
                    <a:pt x="1913860" y="529608"/>
                    <a:pt x="1889533" y="553935"/>
                    <a:pt x="1859524" y="553935"/>
                  </a:cubicBezTo>
                  <a:lnTo>
                    <a:pt x="54335" y="553935"/>
                  </a:lnTo>
                  <a:cubicBezTo>
                    <a:pt x="39925" y="553935"/>
                    <a:pt x="26104" y="548211"/>
                    <a:pt x="15914" y="538021"/>
                  </a:cubicBezTo>
                  <a:cubicBezTo>
                    <a:pt x="5725" y="527831"/>
                    <a:pt x="0" y="514010"/>
                    <a:pt x="0" y="499600"/>
                  </a:cubicBezTo>
                  <a:lnTo>
                    <a:pt x="0" y="54335"/>
                  </a:lnTo>
                  <a:cubicBezTo>
                    <a:pt x="0" y="39925"/>
                    <a:pt x="5725" y="26104"/>
                    <a:pt x="15914" y="15914"/>
                  </a:cubicBezTo>
                  <a:cubicBezTo>
                    <a:pt x="26104" y="5725"/>
                    <a:pt x="39925" y="0"/>
                    <a:pt x="54335" y="0"/>
                  </a:cubicBezTo>
                  <a:close/>
                </a:path>
              </a:pathLst>
            </a:custGeom>
            <a:solidFill>
              <a:srgbClr val="5CA3B2"/>
            </a:solidFill>
          </p:spPr>
        </p:sp>
        <p:sp>
          <p:nvSpPr>
            <p:cNvPr name="TextBox 11" id="11"/>
            <p:cNvSpPr txBox="true"/>
            <p:nvPr/>
          </p:nvSpPr>
          <p:spPr>
            <a:xfrm>
              <a:off x="0" y="-57150"/>
              <a:ext cx="1913860" cy="611085"/>
            </a:xfrm>
            <a:prstGeom prst="rect">
              <a:avLst/>
            </a:prstGeom>
          </p:spPr>
          <p:txBody>
            <a:bodyPr anchor="ctr" rtlCol="false" tIns="50800" lIns="50800" bIns="50800" rIns="50800"/>
            <a:lstStyle/>
            <a:p>
              <a:pPr algn="l">
                <a:lnSpc>
                  <a:spcPts val="2940"/>
                </a:lnSpc>
              </a:pPr>
              <a:r>
                <a:rPr lang="en-US" sz="2100" b="true">
                  <a:solidFill>
                    <a:srgbClr val="000000"/>
                  </a:solidFill>
                  <a:latin typeface="Poppins Bold"/>
                  <a:ea typeface="Poppins Bold"/>
                  <a:cs typeface="Poppins Bold"/>
                  <a:sym typeface="Poppins Bold"/>
                </a:rPr>
                <a:t>loan_amnt_group</a:t>
              </a:r>
            </a:p>
            <a:p>
              <a:pPr algn="l">
                <a:lnSpc>
                  <a:spcPts val="2940"/>
                </a:lnSpc>
              </a:pPr>
            </a:p>
            <a:p>
              <a:pPr algn="l">
                <a:lnSpc>
                  <a:spcPts val="2940"/>
                </a:lnSpc>
              </a:pPr>
              <a:r>
                <a:rPr lang="en-US" sz="2100">
                  <a:solidFill>
                    <a:srgbClr val="000000"/>
                  </a:solidFill>
                  <a:latin typeface="Poppins"/>
                  <a:ea typeface="Poppins"/>
                  <a:cs typeface="Poppins"/>
                  <a:sym typeface="Poppins"/>
                </a:rPr>
                <a:t>Small (&lt;$5k), Medium ($5k-15k),</a:t>
              </a:r>
            </a:p>
            <a:p>
              <a:pPr algn="l">
                <a:lnSpc>
                  <a:spcPts val="2940"/>
                </a:lnSpc>
              </a:pPr>
              <a:r>
                <a:rPr lang="en-US" sz="2100">
                  <a:solidFill>
                    <a:srgbClr val="000000"/>
                  </a:solidFill>
                  <a:latin typeface="Poppins"/>
                  <a:ea typeface="Poppins"/>
                  <a:cs typeface="Poppins"/>
                  <a:sym typeface="Poppins"/>
                </a:rPr>
                <a:t>Large ($15k-25k), Very Large (&gt;$25k)</a:t>
              </a:r>
            </a:p>
          </p:txBody>
        </p:sp>
      </p:grpSp>
      <p:grpSp>
        <p:nvGrpSpPr>
          <p:cNvPr name="Group 12" id="12"/>
          <p:cNvGrpSpPr/>
          <p:nvPr/>
        </p:nvGrpSpPr>
        <p:grpSpPr>
          <a:xfrm rot="0">
            <a:off x="1028700" y="6780445"/>
            <a:ext cx="7266686" cy="2004806"/>
            <a:chOff x="0" y="0"/>
            <a:chExt cx="1913860" cy="528015"/>
          </a:xfrm>
        </p:grpSpPr>
        <p:sp>
          <p:nvSpPr>
            <p:cNvPr name="Freeform 13" id="13"/>
            <p:cNvSpPr/>
            <p:nvPr/>
          </p:nvSpPr>
          <p:spPr>
            <a:xfrm flipH="false" flipV="false" rot="0">
              <a:off x="0" y="0"/>
              <a:ext cx="1913860" cy="528015"/>
            </a:xfrm>
            <a:custGeom>
              <a:avLst/>
              <a:gdLst/>
              <a:ahLst/>
              <a:cxnLst/>
              <a:rect r="r" b="b" t="t" l="l"/>
              <a:pathLst>
                <a:path h="528015" w="1913860">
                  <a:moveTo>
                    <a:pt x="54335" y="0"/>
                  </a:moveTo>
                  <a:lnTo>
                    <a:pt x="1859524" y="0"/>
                  </a:lnTo>
                  <a:cubicBezTo>
                    <a:pt x="1873935" y="0"/>
                    <a:pt x="1887756" y="5725"/>
                    <a:pt x="1897945" y="15914"/>
                  </a:cubicBezTo>
                  <a:cubicBezTo>
                    <a:pt x="1908135" y="26104"/>
                    <a:pt x="1913860" y="39925"/>
                    <a:pt x="1913860" y="54335"/>
                  </a:cubicBezTo>
                  <a:lnTo>
                    <a:pt x="1913860" y="473679"/>
                  </a:lnTo>
                  <a:cubicBezTo>
                    <a:pt x="1913860" y="503688"/>
                    <a:pt x="1889533" y="528015"/>
                    <a:pt x="1859524" y="528015"/>
                  </a:cubicBezTo>
                  <a:lnTo>
                    <a:pt x="54335" y="528015"/>
                  </a:lnTo>
                  <a:cubicBezTo>
                    <a:pt x="39925" y="528015"/>
                    <a:pt x="26104" y="522290"/>
                    <a:pt x="15914" y="512100"/>
                  </a:cubicBezTo>
                  <a:cubicBezTo>
                    <a:pt x="5725" y="501910"/>
                    <a:pt x="0" y="488090"/>
                    <a:pt x="0" y="473679"/>
                  </a:cubicBezTo>
                  <a:lnTo>
                    <a:pt x="0" y="54335"/>
                  </a:lnTo>
                  <a:cubicBezTo>
                    <a:pt x="0" y="39925"/>
                    <a:pt x="5725" y="26104"/>
                    <a:pt x="15914" y="15914"/>
                  </a:cubicBezTo>
                  <a:cubicBezTo>
                    <a:pt x="26104" y="5725"/>
                    <a:pt x="39925" y="0"/>
                    <a:pt x="54335" y="0"/>
                  </a:cubicBezTo>
                  <a:close/>
                </a:path>
              </a:pathLst>
            </a:custGeom>
            <a:solidFill>
              <a:srgbClr val="5CA3B2"/>
            </a:solidFill>
          </p:spPr>
        </p:sp>
        <p:sp>
          <p:nvSpPr>
            <p:cNvPr name="TextBox 14" id="14"/>
            <p:cNvSpPr txBox="true"/>
            <p:nvPr/>
          </p:nvSpPr>
          <p:spPr>
            <a:xfrm>
              <a:off x="0" y="-57150"/>
              <a:ext cx="1913860" cy="585165"/>
            </a:xfrm>
            <a:prstGeom prst="rect">
              <a:avLst/>
            </a:prstGeom>
          </p:spPr>
          <p:txBody>
            <a:bodyPr anchor="ctr" rtlCol="false" tIns="50800" lIns="50800" bIns="50800" rIns="50800"/>
            <a:lstStyle/>
            <a:p>
              <a:pPr algn="l">
                <a:lnSpc>
                  <a:spcPts val="2940"/>
                </a:lnSpc>
              </a:pPr>
              <a:r>
                <a:rPr lang="en-US" sz="2100" b="true">
                  <a:solidFill>
                    <a:srgbClr val="000000"/>
                  </a:solidFill>
                  <a:latin typeface="Poppins Bold"/>
                  <a:ea typeface="Poppins Bold"/>
                  <a:cs typeface="Poppins Bold"/>
                  <a:sym typeface="Poppins Bold"/>
                </a:rPr>
                <a:t>loan_grade_num</a:t>
              </a:r>
            </a:p>
            <a:p>
              <a:pPr algn="l">
                <a:lnSpc>
                  <a:spcPts val="2940"/>
                </a:lnSpc>
              </a:pPr>
            </a:p>
            <a:p>
              <a:pPr algn="l">
                <a:lnSpc>
                  <a:spcPts val="2940"/>
                </a:lnSpc>
              </a:pPr>
              <a:r>
                <a:rPr lang="en-US" sz="2100">
                  <a:solidFill>
                    <a:srgbClr val="000000"/>
                  </a:solidFill>
                  <a:latin typeface="Poppins"/>
                  <a:ea typeface="Poppins"/>
                  <a:cs typeface="Poppins"/>
                  <a:sym typeface="Poppins"/>
                </a:rPr>
                <a:t>A=1, B=2, C=3, D=4, E=5, F=6, G=7</a:t>
              </a:r>
            </a:p>
          </p:txBody>
        </p:sp>
      </p:grpSp>
      <p:grpSp>
        <p:nvGrpSpPr>
          <p:cNvPr name="Group 15" id="15"/>
          <p:cNvGrpSpPr/>
          <p:nvPr/>
        </p:nvGrpSpPr>
        <p:grpSpPr>
          <a:xfrm rot="0">
            <a:off x="10444370" y="2326338"/>
            <a:ext cx="7266686" cy="2004806"/>
            <a:chOff x="0" y="0"/>
            <a:chExt cx="1913860" cy="528015"/>
          </a:xfrm>
        </p:grpSpPr>
        <p:sp>
          <p:nvSpPr>
            <p:cNvPr name="Freeform 16" id="16"/>
            <p:cNvSpPr/>
            <p:nvPr/>
          </p:nvSpPr>
          <p:spPr>
            <a:xfrm flipH="false" flipV="false" rot="0">
              <a:off x="0" y="0"/>
              <a:ext cx="1913860" cy="528015"/>
            </a:xfrm>
            <a:custGeom>
              <a:avLst/>
              <a:gdLst/>
              <a:ahLst/>
              <a:cxnLst/>
              <a:rect r="r" b="b" t="t" l="l"/>
              <a:pathLst>
                <a:path h="528015" w="1913860">
                  <a:moveTo>
                    <a:pt x="54335" y="0"/>
                  </a:moveTo>
                  <a:lnTo>
                    <a:pt x="1859524" y="0"/>
                  </a:lnTo>
                  <a:cubicBezTo>
                    <a:pt x="1873935" y="0"/>
                    <a:pt x="1887756" y="5725"/>
                    <a:pt x="1897945" y="15914"/>
                  </a:cubicBezTo>
                  <a:cubicBezTo>
                    <a:pt x="1908135" y="26104"/>
                    <a:pt x="1913860" y="39925"/>
                    <a:pt x="1913860" y="54335"/>
                  </a:cubicBezTo>
                  <a:lnTo>
                    <a:pt x="1913860" y="473679"/>
                  </a:lnTo>
                  <a:cubicBezTo>
                    <a:pt x="1913860" y="503688"/>
                    <a:pt x="1889533" y="528015"/>
                    <a:pt x="1859524" y="528015"/>
                  </a:cubicBezTo>
                  <a:lnTo>
                    <a:pt x="54335" y="528015"/>
                  </a:lnTo>
                  <a:cubicBezTo>
                    <a:pt x="39925" y="528015"/>
                    <a:pt x="26104" y="522290"/>
                    <a:pt x="15914" y="512100"/>
                  </a:cubicBezTo>
                  <a:cubicBezTo>
                    <a:pt x="5725" y="501910"/>
                    <a:pt x="0" y="488090"/>
                    <a:pt x="0" y="473679"/>
                  </a:cubicBezTo>
                  <a:lnTo>
                    <a:pt x="0" y="54335"/>
                  </a:lnTo>
                  <a:cubicBezTo>
                    <a:pt x="0" y="39925"/>
                    <a:pt x="5725" y="26104"/>
                    <a:pt x="15914" y="15914"/>
                  </a:cubicBezTo>
                  <a:cubicBezTo>
                    <a:pt x="26104" y="5725"/>
                    <a:pt x="39925" y="0"/>
                    <a:pt x="54335" y="0"/>
                  </a:cubicBezTo>
                  <a:close/>
                </a:path>
              </a:pathLst>
            </a:custGeom>
            <a:solidFill>
              <a:srgbClr val="5CA3B2"/>
            </a:solidFill>
          </p:spPr>
        </p:sp>
        <p:sp>
          <p:nvSpPr>
            <p:cNvPr name="TextBox 17" id="17"/>
            <p:cNvSpPr txBox="true"/>
            <p:nvPr/>
          </p:nvSpPr>
          <p:spPr>
            <a:xfrm>
              <a:off x="0" y="-57150"/>
              <a:ext cx="1913860" cy="585165"/>
            </a:xfrm>
            <a:prstGeom prst="rect">
              <a:avLst/>
            </a:prstGeom>
          </p:spPr>
          <p:txBody>
            <a:bodyPr anchor="ctr" rtlCol="false" tIns="50800" lIns="50800" bIns="50800" rIns="50800"/>
            <a:lstStyle/>
            <a:p>
              <a:pPr algn="l">
                <a:lnSpc>
                  <a:spcPts val="2940"/>
                </a:lnSpc>
              </a:pPr>
              <a:r>
                <a:rPr lang="en-US" sz="2100" b="true">
                  <a:solidFill>
                    <a:srgbClr val="000000"/>
                  </a:solidFill>
                  <a:latin typeface="Poppins Bold"/>
                  <a:ea typeface="Poppins Bold"/>
                  <a:cs typeface="Poppins Bold"/>
                  <a:sym typeface="Poppins Bold"/>
                </a:rPr>
                <a:t>income_group</a:t>
              </a:r>
            </a:p>
            <a:p>
              <a:pPr algn="l">
                <a:lnSpc>
                  <a:spcPts val="2940"/>
                </a:lnSpc>
              </a:pPr>
            </a:p>
            <a:p>
              <a:pPr algn="l">
                <a:lnSpc>
                  <a:spcPts val="2660"/>
                </a:lnSpc>
              </a:pPr>
              <a:r>
                <a:rPr lang="en-US" sz="1900">
                  <a:solidFill>
                    <a:srgbClr val="000000"/>
                  </a:solidFill>
                  <a:latin typeface="Poppins"/>
                  <a:ea typeface="Poppins"/>
                  <a:cs typeface="Poppins"/>
                  <a:sym typeface="Poppins"/>
                </a:rPr>
                <a:t>Low </a:t>
              </a:r>
              <a:r>
                <a:rPr lang="en-US" sz="1900">
                  <a:solidFill>
                    <a:srgbClr val="000000"/>
                  </a:solidFill>
                  <a:latin typeface="Poppins"/>
                  <a:ea typeface="Poppins"/>
                  <a:cs typeface="Poppins"/>
                  <a:sym typeface="Poppins"/>
                </a:rPr>
                <a:t>(&lt;$30k), Medium ($30k-60k),</a:t>
              </a:r>
            </a:p>
            <a:p>
              <a:pPr algn="l">
                <a:lnSpc>
                  <a:spcPts val="2660"/>
                </a:lnSpc>
              </a:pPr>
              <a:r>
                <a:rPr lang="en-US" sz="1900">
                  <a:solidFill>
                    <a:srgbClr val="000000"/>
                  </a:solidFill>
                  <a:latin typeface="Poppins"/>
                  <a:ea typeface="Poppins"/>
                  <a:cs typeface="Poppins"/>
                  <a:sym typeface="Poppins"/>
                </a:rPr>
                <a:t>High ($60k-100k), Very High (&gt;$100k)</a:t>
              </a:r>
            </a:p>
          </p:txBody>
        </p:sp>
      </p:grpSp>
      <p:grpSp>
        <p:nvGrpSpPr>
          <p:cNvPr name="Group 18" id="18"/>
          <p:cNvGrpSpPr/>
          <p:nvPr/>
        </p:nvGrpSpPr>
        <p:grpSpPr>
          <a:xfrm rot="0">
            <a:off x="10444370" y="6780445"/>
            <a:ext cx="7266686" cy="2004806"/>
            <a:chOff x="0" y="0"/>
            <a:chExt cx="1913860" cy="528015"/>
          </a:xfrm>
        </p:grpSpPr>
        <p:sp>
          <p:nvSpPr>
            <p:cNvPr name="Freeform 19" id="19"/>
            <p:cNvSpPr/>
            <p:nvPr/>
          </p:nvSpPr>
          <p:spPr>
            <a:xfrm flipH="false" flipV="false" rot="0">
              <a:off x="0" y="0"/>
              <a:ext cx="1913860" cy="528015"/>
            </a:xfrm>
            <a:custGeom>
              <a:avLst/>
              <a:gdLst/>
              <a:ahLst/>
              <a:cxnLst/>
              <a:rect r="r" b="b" t="t" l="l"/>
              <a:pathLst>
                <a:path h="528015" w="1913860">
                  <a:moveTo>
                    <a:pt x="54335" y="0"/>
                  </a:moveTo>
                  <a:lnTo>
                    <a:pt x="1859524" y="0"/>
                  </a:lnTo>
                  <a:cubicBezTo>
                    <a:pt x="1873935" y="0"/>
                    <a:pt x="1887756" y="5725"/>
                    <a:pt x="1897945" y="15914"/>
                  </a:cubicBezTo>
                  <a:cubicBezTo>
                    <a:pt x="1908135" y="26104"/>
                    <a:pt x="1913860" y="39925"/>
                    <a:pt x="1913860" y="54335"/>
                  </a:cubicBezTo>
                  <a:lnTo>
                    <a:pt x="1913860" y="473679"/>
                  </a:lnTo>
                  <a:cubicBezTo>
                    <a:pt x="1913860" y="503688"/>
                    <a:pt x="1889533" y="528015"/>
                    <a:pt x="1859524" y="528015"/>
                  </a:cubicBezTo>
                  <a:lnTo>
                    <a:pt x="54335" y="528015"/>
                  </a:lnTo>
                  <a:cubicBezTo>
                    <a:pt x="39925" y="528015"/>
                    <a:pt x="26104" y="522290"/>
                    <a:pt x="15914" y="512100"/>
                  </a:cubicBezTo>
                  <a:cubicBezTo>
                    <a:pt x="5725" y="501910"/>
                    <a:pt x="0" y="488090"/>
                    <a:pt x="0" y="473679"/>
                  </a:cubicBezTo>
                  <a:lnTo>
                    <a:pt x="0" y="54335"/>
                  </a:lnTo>
                  <a:cubicBezTo>
                    <a:pt x="0" y="39925"/>
                    <a:pt x="5725" y="26104"/>
                    <a:pt x="15914" y="15914"/>
                  </a:cubicBezTo>
                  <a:cubicBezTo>
                    <a:pt x="26104" y="5725"/>
                    <a:pt x="39925" y="0"/>
                    <a:pt x="54335" y="0"/>
                  </a:cubicBezTo>
                  <a:close/>
                </a:path>
              </a:pathLst>
            </a:custGeom>
            <a:solidFill>
              <a:srgbClr val="5CA3B2"/>
            </a:solidFill>
          </p:spPr>
        </p:sp>
        <p:sp>
          <p:nvSpPr>
            <p:cNvPr name="TextBox 20" id="20"/>
            <p:cNvSpPr txBox="true"/>
            <p:nvPr/>
          </p:nvSpPr>
          <p:spPr>
            <a:xfrm>
              <a:off x="0" y="-57150"/>
              <a:ext cx="1913860" cy="585165"/>
            </a:xfrm>
            <a:prstGeom prst="rect">
              <a:avLst/>
            </a:prstGeom>
          </p:spPr>
          <p:txBody>
            <a:bodyPr anchor="ctr" rtlCol="false" tIns="50800" lIns="50800" bIns="50800" rIns="50800"/>
            <a:lstStyle/>
            <a:p>
              <a:pPr algn="l">
                <a:lnSpc>
                  <a:spcPts val="2940"/>
                </a:lnSpc>
              </a:pPr>
              <a:r>
                <a:rPr lang="en-US" sz="2100" b="true">
                  <a:solidFill>
                    <a:srgbClr val="000000"/>
                  </a:solidFill>
                  <a:latin typeface="Poppins Bold"/>
                  <a:ea typeface="Poppins Bold"/>
                  <a:cs typeface="Poppins Bold"/>
                  <a:sym typeface="Poppins Bold"/>
                </a:rPr>
                <a:t>risk_score (0-100)</a:t>
              </a:r>
            </a:p>
            <a:p>
              <a:pPr algn="l">
                <a:lnSpc>
                  <a:spcPts val="2940"/>
                </a:lnSpc>
              </a:pPr>
            </a:p>
            <a:p>
              <a:pPr algn="l">
                <a:lnSpc>
                  <a:spcPts val="2940"/>
                </a:lnSpc>
              </a:pPr>
              <a:r>
                <a:rPr lang="en-US" sz="2100">
                  <a:solidFill>
                    <a:srgbClr val="000000"/>
                  </a:solidFill>
                  <a:latin typeface="Poppins"/>
                  <a:ea typeface="Poppins"/>
                  <a:cs typeface="Poppins"/>
                  <a:sym typeface="Poppins"/>
                </a:rPr>
                <a:t>Grade 40% + DTI 30% + </a:t>
              </a:r>
            </a:p>
            <a:p>
              <a:pPr algn="l">
                <a:lnSpc>
                  <a:spcPts val="2940"/>
                </a:lnSpc>
              </a:pPr>
              <a:r>
                <a:rPr lang="en-US" sz="2100">
                  <a:solidFill>
                    <a:srgbClr val="000000"/>
                  </a:solidFill>
                  <a:latin typeface="Poppins"/>
                  <a:ea typeface="Poppins"/>
                  <a:cs typeface="Poppins"/>
                  <a:sym typeface="Poppins"/>
                </a:rPr>
                <a:t>Interest Rate 20% + Default History 10%</a:t>
              </a:r>
            </a:p>
          </p:txBody>
        </p:sp>
      </p:grpSp>
      <p:sp>
        <p:nvSpPr>
          <p:cNvPr name="Freeform 21" id="21"/>
          <p:cNvSpPr/>
          <p:nvPr/>
        </p:nvSpPr>
        <p:spPr>
          <a:xfrm flipH="false" flipV="false" rot="0">
            <a:off x="15848692" y="2506138"/>
            <a:ext cx="1636941" cy="1636941"/>
          </a:xfrm>
          <a:custGeom>
            <a:avLst/>
            <a:gdLst/>
            <a:ahLst/>
            <a:cxnLst/>
            <a:rect r="r" b="b" t="t" l="l"/>
            <a:pathLst>
              <a:path h="1636941" w="1636941">
                <a:moveTo>
                  <a:pt x="0" y="0"/>
                </a:moveTo>
                <a:lnTo>
                  <a:pt x="1636942" y="0"/>
                </a:lnTo>
                <a:lnTo>
                  <a:pt x="1636942" y="1636941"/>
                </a:lnTo>
                <a:lnTo>
                  <a:pt x="0" y="1636941"/>
                </a:lnTo>
                <a:lnTo>
                  <a:pt x="0" y="0"/>
                </a:lnTo>
                <a:close/>
              </a:path>
            </a:pathLst>
          </a:custGeom>
          <a:blipFill>
            <a:blip r:embed="rId3"/>
            <a:stretch>
              <a:fillRect l="0" t="0" r="0" b="0"/>
            </a:stretch>
          </a:blipFill>
        </p:spPr>
      </p:sp>
      <p:sp>
        <p:nvSpPr>
          <p:cNvPr name="Freeform 22" id="22"/>
          <p:cNvSpPr/>
          <p:nvPr/>
        </p:nvSpPr>
        <p:spPr>
          <a:xfrm flipH="false" flipV="false" rot="0">
            <a:off x="6478947" y="2566605"/>
            <a:ext cx="1466799" cy="1466799"/>
          </a:xfrm>
          <a:custGeom>
            <a:avLst/>
            <a:gdLst/>
            <a:ahLst/>
            <a:cxnLst/>
            <a:rect r="r" b="b" t="t" l="l"/>
            <a:pathLst>
              <a:path h="1466799" w="1466799">
                <a:moveTo>
                  <a:pt x="0" y="0"/>
                </a:moveTo>
                <a:lnTo>
                  <a:pt x="1466799" y="0"/>
                </a:lnTo>
                <a:lnTo>
                  <a:pt x="1466799" y="1466799"/>
                </a:lnTo>
                <a:lnTo>
                  <a:pt x="0" y="1466799"/>
                </a:lnTo>
                <a:lnTo>
                  <a:pt x="0" y="0"/>
                </a:lnTo>
                <a:close/>
              </a:path>
            </a:pathLst>
          </a:custGeom>
          <a:blipFill>
            <a:blip r:embed="rId4"/>
            <a:stretch>
              <a:fillRect l="0" t="0" r="0" b="0"/>
            </a:stretch>
          </a:blipFill>
          <a:ln cap="sq">
            <a:noFill/>
            <a:prstDash val="solid"/>
            <a:miter/>
          </a:ln>
        </p:spPr>
      </p:sp>
      <p:sp>
        <p:nvSpPr>
          <p:cNvPr name="Freeform 23" id="23"/>
          <p:cNvSpPr/>
          <p:nvPr/>
        </p:nvSpPr>
        <p:spPr>
          <a:xfrm flipH="false" flipV="false" rot="0">
            <a:off x="6414006" y="6984507"/>
            <a:ext cx="1596681" cy="1596681"/>
          </a:xfrm>
          <a:custGeom>
            <a:avLst/>
            <a:gdLst/>
            <a:ahLst/>
            <a:cxnLst/>
            <a:rect r="r" b="b" t="t" l="l"/>
            <a:pathLst>
              <a:path h="1596681" w="1596681">
                <a:moveTo>
                  <a:pt x="0" y="0"/>
                </a:moveTo>
                <a:lnTo>
                  <a:pt x="1596681" y="0"/>
                </a:lnTo>
                <a:lnTo>
                  <a:pt x="1596681" y="1596681"/>
                </a:lnTo>
                <a:lnTo>
                  <a:pt x="0" y="1596681"/>
                </a:lnTo>
                <a:lnTo>
                  <a:pt x="0" y="0"/>
                </a:lnTo>
                <a:close/>
              </a:path>
            </a:pathLst>
          </a:custGeom>
          <a:blipFill>
            <a:blip r:embed="rId5"/>
            <a:stretch>
              <a:fillRect l="0" t="0" r="0" b="0"/>
            </a:stretch>
          </a:blipFill>
        </p:spPr>
      </p:sp>
      <p:sp>
        <p:nvSpPr>
          <p:cNvPr name="Freeform 24" id="24"/>
          <p:cNvSpPr/>
          <p:nvPr/>
        </p:nvSpPr>
        <p:spPr>
          <a:xfrm flipH="false" flipV="false" rot="0">
            <a:off x="6493951" y="4768408"/>
            <a:ext cx="1516737" cy="1516737"/>
          </a:xfrm>
          <a:custGeom>
            <a:avLst/>
            <a:gdLst/>
            <a:ahLst/>
            <a:cxnLst/>
            <a:rect r="r" b="b" t="t" l="l"/>
            <a:pathLst>
              <a:path h="1516737" w="1516737">
                <a:moveTo>
                  <a:pt x="0" y="0"/>
                </a:moveTo>
                <a:lnTo>
                  <a:pt x="1516736" y="0"/>
                </a:lnTo>
                <a:lnTo>
                  <a:pt x="1516736" y="1516737"/>
                </a:lnTo>
                <a:lnTo>
                  <a:pt x="0" y="1516737"/>
                </a:lnTo>
                <a:lnTo>
                  <a:pt x="0" y="0"/>
                </a:lnTo>
                <a:close/>
              </a:path>
            </a:pathLst>
          </a:custGeom>
          <a:blipFill>
            <a:blip r:embed="rId6"/>
            <a:stretch>
              <a:fillRect l="0" t="0" r="0" b="0"/>
            </a:stretch>
          </a:blipFill>
        </p:spPr>
      </p:sp>
      <p:grpSp>
        <p:nvGrpSpPr>
          <p:cNvPr name="Group 25" id="25"/>
          <p:cNvGrpSpPr/>
          <p:nvPr/>
        </p:nvGrpSpPr>
        <p:grpSpPr>
          <a:xfrm rot="0">
            <a:off x="10444370" y="4542277"/>
            <a:ext cx="7266686" cy="2004806"/>
            <a:chOff x="0" y="0"/>
            <a:chExt cx="1913860" cy="528015"/>
          </a:xfrm>
        </p:grpSpPr>
        <p:sp>
          <p:nvSpPr>
            <p:cNvPr name="Freeform 26" id="26"/>
            <p:cNvSpPr/>
            <p:nvPr/>
          </p:nvSpPr>
          <p:spPr>
            <a:xfrm flipH="false" flipV="false" rot="0">
              <a:off x="0" y="0"/>
              <a:ext cx="1913860" cy="528015"/>
            </a:xfrm>
            <a:custGeom>
              <a:avLst/>
              <a:gdLst/>
              <a:ahLst/>
              <a:cxnLst/>
              <a:rect r="r" b="b" t="t" l="l"/>
              <a:pathLst>
                <a:path h="528015" w="1913860">
                  <a:moveTo>
                    <a:pt x="54335" y="0"/>
                  </a:moveTo>
                  <a:lnTo>
                    <a:pt x="1859524" y="0"/>
                  </a:lnTo>
                  <a:cubicBezTo>
                    <a:pt x="1873935" y="0"/>
                    <a:pt x="1887756" y="5725"/>
                    <a:pt x="1897945" y="15914"/>
                  </a:cubicBezTo>
                  <a:cubicBezTo>
                    <a:pt x="1908135" y="26104"/>
                    <a:pt x="1913860" y="39925"/>
                    <a:pt x="1913860" y="54335"/>
                  </a:cubicBezTo>
                  <a:lnTo>
                    <a:pt x="1913860" y="473679"/>
                  </a:lnTo>
                  <a:cubicBezTo>
                    <a:pt x="1913860" y="503688"/>
                    <a:pt x="1889533" y="528015"/>
                    <a:pt x="1859524" y="528015"/>
                  </a:cubicBezTo>
                  <a:lnTo>
                    <a:pt x="54335" y="528015"/>
                  </a:lnTo>
                  <a:cubicBezTo>
                    <a:pt x="39925" y="528015"/>
                    <a:pt x="26104" y="522290"/>
                    <a:pt x="15914" y="512100"/>
                  </a:cubicBezTo>
                  <a:cubicBezTo>
                    <a:pt x="5725" y="501910"/>
                    <a:pt x="0" y="488090"/>
                    <a:pt x="0" y="473679"/>
                  </a:cubicBezTo>
                  <a:lnTo>
                    <a:pt x="0" y="54335"/>
                  </a:lnTo>
                  <a:cubicBezTo>
                    <a:pt x="0" y="39925"/>
                    <a:pt x="5725" y="26104"/>
                    <a:pt x="15914" y="15914"/>
                  </a:cubicBezTo>
                  <a:cubicBezTo>
                    <a:pt x="26104" y="5725"/>
                    <a:pt x="39925" y="0"/>
                    <a:pt x="54335" y="0"/>
                  </a:cubicBezTo>
                  <a:close/>
                </a:path>
              </a:pathLst>
            </a:custGeom>
            <a:solidFill>
              <a:srgbClr val="5CA3B2"/>
            </a:solidFill>
          </p:spPr>
        </p:sp>
        <p:sp>
          <p:nvSpPr>
            <p:cNvPr name="TextBox 27" id="27"/>
            <p:cNvSpPr txBox="true"/>
            <p:nvPr/>
          </p:nvSpPr>
          <p:spPr>
            <a:xfrm>
              <a:off x="0" y="-57150"/>
              <a:ext cx="1913860" cy="585165"/>
            </a:xfrm>
            <a:prstGeom prst="rect">
              <a:avLst/>
            </a:prstGeom>
          </p:spPr>
          <p:txBody>
            <a:bodyPr anchor="ctr" rtlCol="false" tIns="50800" lIns="50800" bIns="50800" rIns="50800"/>
            <a:lstStyle/>
            <a:p>
              <a:pPr algn="l">
                <a:lnSpc>
                  <a:spcPts val="2940"/>
                </a:lnSpc>
              </a:pPr>
              <a:r>
                <a:rPr lang="en-US" sz="2100" b="true">
                  <a:solidFill>
                    <a:srgbClr val="000000"/>
                  </a:solidFill>
                  <a:latin typeface="Poppins Bold"/>
                  <a:ea typeface="Poppins Bold"/>
                  <a:cs typeface="Poppins Bold"/>
                  <a:sym typeface="Poppins Bold"/>
                </a:rPr>
                <a:t>dti_category</a:t>
              </a:r>
            </a:p>
            <a:p>
              <a:pPr algn="l">
                <a:lnSpc>
                  <a:spcPts val="2940"/>
                </a:lnSpc>
              </a:pPr>
            </a:p>
            <a:p>
              <a:pPr algn="l">
                <a:lnSpc>
                  <a:spcPts val="2940"/>
                </a:lnSpc>
              </a:pPr>
              <a:r>
                <a:rPr lang="en-US" sz="2100">
                  <a:solidFill>
                    <a:srgbClr val="000000"/>
                  </a:solidFill>
                  <a:latin typeface="Poppins"/>
                  <a:ea typeface="Poppins"/>
                  <a:cs typeface="Poppins"/>
                  <a:sym typeface="Poppins"/>
                </a:rPr>
                <a:t>Very Low (&lt;10%), Low (10-20%),</a:t>
              </a:r>
            </a:p>
            <a:p>
              <a:pPr algn="l">
                <a:lnSpc>
                  <a:spcPts val="2940"/>
                </a:lnSpc>
              </a:pPr>
              <a:r>
                <a:rPr lang="en-US" sz="2100">
                  <a:solidFill>
                    <a:srgbClr val="000000"/>
                  </a:solidFill>
                  <a:latin typeface="Poppins"/>
                  <a:ea typeface="Poppins"/>
                  <a:cs typeface="Poppins"/>
                  <a:sym typeface="Poppins"/>
                </a:rPr>
                <a:t>Moderate (20-35%), High (&gt;35%).</a:t>
              </a:r>
            </a:p>
          </p:txBody>
        </p:sp>
      </p:grpSp>
      <p:sp>
        <p:nvSpPr>
          <p:cNvPr name="Freeform 28" id="28"/>
          <p:cNvSpPr/>
          <p:nvPr/>
        </p:nvSpPr>
        <p:spPr>
          <a:xfrm flipH="false" flipV="false" rot="0">
            <a:off x="15762223" y="4675290"/>
            <a:ext cx="1809880" cy="1809880"/>
          </a:xfrm>
          <a:custGeom>
            <a:avLst/>
            <a:gdLst/>
            <a:ahLst/>
            <a:cxnLst/>
            <a:rect r="r" b="b" t="t" l="l"/>
            <a:pathLst>
              <a:path h="1809880" w="1809880">
                <a:moveTo>
                  <a:pt x="0" y="0"/>
                </a:moveTo>
                <a:lnTo>
                  <a:pt x="1809880" y="0"/>
                </a:lnTo>
                <a:lnTo>
                  <a:pt x="1809880" y="1809880"/>
                </a:lnTo>
                <a:lnTo>
                  <a:pt x="0" y="1809880"/>
                </a:lnTo>
                <a:lnTo>
                  <a:pt x="0" y="0"/>
                </a:lnTo>
                <a:close/>
              </a:path>
            </a:pathLst>
          </a:custGeom>
          <a:blipFill>
            <a:blip r:embed="rId7"/>
            <a:stretch>
              <a:fillRect l="0" t="0" r="0" b="0"/>
            </a:stretch>
          </a:blipFill>
          <a:ln cap="sq">
            <a:noFill/>
            <a:prstDash val="solid"/>
            <a:miter/>
          </a:ln>
        </p:spPr>
      </p:sp>
      <p:sp>
        <p:nvSpPr>
          <p:cNvPr name="Freeform 29" id="29"/>
          <p:cNvSpPr/>
          <p:nvPr/>
        </p:nvSpPr>
        <p:spPr>
          <a:xfrm flipH="false" flipV="false" rot="0">
            <a:off x="15699533" y="6756632"/>
            <a:ext cx="1935260" cy="1935260"/>
          </a:xfrm>
          <a:custGeom>
            <a:avLst/>
            <a:gdLst/>
            <a:ahLst/>
            <a:cxnLst/>
            <a:rect r="r" b="b" t="t" l="l"/>
            <a:pathLst>
              <a:path h="1935260" w="1935260">
                <a:moveTo>
                  <a:pt x="0" y="0"/>
                </a:moveTo>
                <a:lnTo>
                  <a:pt x="1935260" y="0"/>
                </a:lnTo>
                <a:lnTo>
                  <a:pt x="1935260" y="1935261"/>
                </a:lnTo>
                <a:lnTo>
                  <a:pt x="0" y="1935261"/>
                </a:lnTo>
                <a:lnTo>
                  <a:pt x="0" y="0"/>
                </a:lnTo>
                <a:close/>
              </a:path>
            </a:pathLst>
          </a:custGeom>
          <a:blipFill>
            <a:blip r:embed="rId8"/>
            <a:stretch>
              <a:fillRect l="0" t="0" r="0" b="0"/>
            </a:stretch>
          </a:blipFill>
        </p:spPr>
      </p:sp>
      <p:sp>
        <p:nvSpPr>
          <p:cNvPr name="TextBox 30" id="30"/>
          <p:cNvSpPr txBox="true"/>
          <p:nvPr/>
        </p:nvSpPr>
        <p:spPr>
          <a:xfrm rot="0">
            <a:off x="1028700" y="1130275"/>
            <a:ext cx="16230600" cy="976666"/>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7 Feature Engineering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2291438"/>
            <a:ext cx="7266686" cy="2004806"/>
            <a:chOff x="0" y="0"/>
            <a:chExt cx="1913860" cy="528015"/>
          </a:xfrm>
        </p:grpSpPr>
        <p:sp>
          <p:nvSpPr>
            <p:cNvPr name="Freeform 7" id="7"/>
            <p:cNvSpPr/>
            <p:nvPr/>
          </p:nvSpPr>
          <p:spPr>
            <a:xfrm flipH="false" flipV="false" rot="0">
              <a:off x="0" y="0"/>
              <a:ext cx="1913860" cy="528015"/>
            </a:xfrm>
            <a:custGeom>
              <a:avLst/>
              <a:gdLst/>
              <a:ahLst/>
              <a:cxnLst/>
              <a:rect r="r" b="b" t="t" l="l"/>
              <a:pathLst>
                <a:path h="528015" w="1913860">
                  <a:moveTo>
                    <a:pt x="54335" y="0"/>
                  </a:moveTo>
                  <a:lnTo>
                    <a:pt x="1859524" y="0"/>
                  </a:lnTo>
                  <a:cubicBezTo>
                    <a:pt x="1873935" y="0"/>
                    <a:pt x="1887756" y="5725"/>
                    <a:pt x="1897945" y="15914"/>
                  </a:cubicBezTo>
                  <a:cubicBezTo>
                    <a:pt x="1908135" y="26104"/>
                    <a:pt x="1913860" y="39925"/>
                    <a:pt x="1913860" y="54335"/>
                  </a:cubicBezTo>
                  <a:lnTo>
                    <a:pt x="1913860" y="473679"/>
                  </a:lnTo>
                  <a:cubicBezTo>
                    <a:pt x="1913860" y="503688"/>
                    <a:pt x="1889533" y="528015"/>
                    <a:pt x="1859524" y="528015"/>
                  </a:cubicBezTo>
                  <a:lnTo>
                    <a:pt x="54335" y="528015"/>
                  </a:lnTo>
                  <a:cubicBezTo>
                    <a:pt x="39925" y="528015"/>
                    <a:pt x="26104" y="522290"/>
                    <a:pt x="15914" y="512100"/>
                  </a:cubicBezTo>
                  <a:cubicBezTo>
                    <a:pt x="5725" y="501910"/>
                    <a:pt x="0" y="488090"/>
                    <a:pt x="0" y="473679"/>
                  </a:cubicBezTo>
                  <a:lnTo>
                    <a:pt x="0" y="54335"/>
                  </a:lnTo>
                  <a:cubicBezTo>
                    <a:pt x="0" y="39925"/>
                    <a:pt x="5725" y="26104"/>
                    <a:pt x="15914" y="15914"/>
                  </a:cubicBezTo>
                  <a:cubicBezTo>
                    <a:pt x="26104" y="5725"/>
                    <a:pt x="39925" y="0"/>
                    <a:pt x="54335" y="0"/>
                  </a:cubicBezTo>
                  <a:close/>
                </a:path>
              </a:pathLst>
            </a:custGeom>
            <a:solidFill>
              <a:srgbClr val="5CA3B2"/>
            </a:solidFill>
          </p:spPr>
        </p:sp>
        <p:sp>
          <p:nvSpPr>
            <p:cNvPr name="TextBox 8" id="8"/>
            <p:cNvSpPr txBox="true"/>
            <p:nvPr/>
          </p:nvSpPr>
          <p:spPr>
            <a:xfrm>
              <a:off x="0" y="-57150"/>
              <a:ext cx="1913860" cy="585165"/>
            </a:xfrm>
            <a:prstGeom prst="rect">
              <a:avLst/>
            </a:prstGeom>
          </p:spPr>
          <p:txBody>
            <a:bodyPr anchor="ctr" rtlCol="false" tIns="50800" lIns="50800" bIns="50800" rIns="50800"/>
            <a:lstStyle/>
            <a:p>
              <a:pPr algn="l">
                <a:lnSpc>
                  <a:spcPts val="2940"/>
                </a:lnSpc>
              </a:pPr>
              <a:r>
                <a:rPr lang="en-US" sz="2100" b="true">
                  <a:solidFill>
                    <a:srgbClr val="000000"/>
                  </a:solidFill>
                  <a:latin typeface="Poppins Bold"/>
                  <a:ea typeface="Poppins Bold"/>
                  <a:cs typeface="Poppins Bold"/>
                  <a:sym typeface="Poppins Bold"/>
                </a:rPr>
                <a:t>risk_category</a:t>
              </a:r>
            </a:p>
            <a:p>
              <a:pPr algn="l">
                <a:lnSpc>
                  <a:spcPts val="2940"/>
                </a:lnSpc>
              </a:pPr>
            </a:p>
            <a:p>
              <a:pPr algn="l">
                <a:lnSpc>
                  <a:spcPts val="2660"/>
                </a:lnSpc>
              </a:pPr>
              <a:r>
                <a:rPr lang="en-US" sz="1900">
                  <a:solidFill>
                    <a:srgbClr val="000000"/>
                  </a:solidFill>
                  <a:latin typeface="Poppins"/>
                  <a:ea typeface="Poppins"/>
                  <a:cs typeface="Poppins"/>
                  <a:sym typeface="Poppins"/>
                </a:rPr>
                <a:t>Low (&lt;25): 10%, Moderate (25-50): 37%,</a:t>
              </a:r>
            </a:p>
            <a:p>
              <a:pPr algn="l">
                <a:lnSpc>
                  <a:spcPts val="2660"/>
                </a:lnSpc>
              </a:pPr>
              <a:r>
                <a:rPr lang="en-US" sz="1900">
                  <a:solidFill>
                    <a:srgbClr val="000000"/>
                  </a:solidFill>
                  <a:latin typeface="Poppins"/>
                  <a:ea typeface="Poppins"/>
                  <a:cs typeface="Poppins"/>
                  <a:sym typeface="Poppins"/>
                </a:rPr>
                <a:t>High (50-70): 71%, Very High </a:t>
              </a:r>
            </a:p>
            <a:p>
              <a:pPr algn="l">
                <a:lnSpc>
                  <a:spcPts val="2660"/>
                </a:lnSpc>
              </a:pPr>
              <a:r>
                <a:rPr lang="en-US" sz="1900">
                  <a:solidFill>
                    <a:srgbClr val="000000"/>
                  </a:solidFill>
                  <a:latin typeface="Poppins"/>
                  <a:ea typeface="Poppins"/>
                  <a:cs typeface="Poppins"/>
                  <a:sym typeface="Poppins"/>
                </a:rPr>
                <a:t>(&gt;70) : 91%</a:t>
              </a:r>
            </a:p>
          </p:txBody>
        </p:sp>
      </p:grpSp>
      <p:sp>
        <p:nvSpPr>
          <p:cNvPr name="Freeform 9" id="9"/>
          <p:cNvSpPr/>
          <p:nvPr/>
        </p:nvSpPr>
        <p:spPr>
          <a:xfrm flipH="false" flipV="false" rot="0">
            <a:off x="6393585" y="2472149"/>
            <a:ext cx="1643384" cy="1643384"/>
          </a:xfrm>
          <a:custGeom>
            <a:avLst/>
            <a:gdLst/>
            <a:ahLst/>
            <a:cxnLst/>
            <a:rect r="r" b="b" t="t" l="l"/>
            <a:pathLst>
              <a:path h="1643384" w="1643384">
                <a:moveTo>
                  <a:pt x="0" y="0"/>
                </a:moveTo>
                <a:lnTo>
                  <a:pt x="1643383" y="0"/>
                </a:lnTo>
                <a:lnTo>
                  <a:pt x="1643383" y="1643384"/>
                </a:lnTo>
                <a:lnTo>
                  <a:pt x="0" y="1643384"/>
                </a:lnTo>
                <a:lnTo>
                  <a:pt x="0" y="0"/>
                </a:lnTo>
                <a:close/>
              </a:path>
            </a:pathLst>
          </a:custGeom>
          <a:blipFill>
            <a:blip r:embed="rId3"/>
            <a:stretch>
              <a:fillRect l="0" t="0" r="0" b="0"/>
            </a:stretch>
          </a:blipFill>
        </p:spPr>
      </p:sp>
      <p:sp>
        <p:nvSpPr>
          <p:cNvPr name="TextBox 10" id="10"/>
          <p:cNvSpPr txBox="true"/>
          <p:nvPr/>
        </p:nvSpPr>
        <p:spPr>
          <a:xfrm rot="0">
            <a:off x="1028700" y="1095375"/>
            <a:ext cx="16230600" cy="976666"/>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7 Feature Engineering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9607535" y="1910989"/>
            <a:ext cx="6344884" cy="6344884"/>
          </a:xfrm>
          <a:custGeom>
            <a:avLst/>
            <a:gdLst/>
            <a:ahLst/>
            <a:cxnLst/>
            <a:rect r="r" b="b" t="t" l="l"/>
            <a:pathLst>
              <a:path h="6344884" w="6344884">
                <a:moveTo>
                  <a:pt x="0" y="0"/>
                </a:moveTo>
                <a:lnTo>
                  <a:pt x="6344885" y="0"/>
                </a:lnTo>
                <a:lnTo>
                  <a:pt x="6344885" y="6344884"/>
                </a:lnTo>
                <a:lnTo>
                  <a:pt x="0" y="63448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4" id="4"/>
          <p:cNvGrpSpPr/>
          <p:nvPr/>
        </p:nvGrpSpPr>
        <p:grpSpPr>
          <a:xfrm rot="0">
            <a:off x="-560343" y="9889125"/>
            <a:ext cx="19408687" cy="996493"/>
            <a:chOff x="0" y="0"/>
            <a:chExt cx="5111753" cy="262451"/>
          </a:xfrm>
        </p:grpSpPr>
        <p:sp>
          <p:nvSpPr>
            <p:cNvPr name="Freeform 5" id="5"/>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6" id="6"/>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028700" y="3112175"/>
            <a:ext cx="8115300" cy="1843477"/>
          </a:xfrm>
          <a:prstGeom prst="rect">
            <a:avLst/>
          </a:prstGeom>
        </p:spPr>
        <p:txBody>
          <a:bodyPr anchor="t" rtlCol="false" tIns="0" lIns="0" bIns="0" rIns="0">
            <a:spAutoFit/>
          </a:bodyPr>
          <a:lstStyle/>
          <a:p>
            <a:pPr algn="l" marL="0" indent="0" lvl="0">
              <a:lnSpc>
                <a:spcPts val="6859"/>
              </a:lnSpc>
            </a:pPr>
            <a:r>
              <a:rPr lang="en-US" b="true" sz="6999" strike="noStrike" u="none">
                <a:solidFill>
                  <a:srgbClr val="FFFFFF"/>
                </a:solidFill>
                <a:latin typeface="Poppins Bold"/>
                <a:ea typeface="Poppins Bold"/>
                <a:cs typeface="Poppins Bold"/>
                <a:sym typeface="Poppins Bold"/>
              </a:rPr>
              <a:t>Data Analysis </a:t>
            </a:r>
            <a:r>
              <a:rPr lang="en-US" b="true" sz="6999" strike="noStrike" u="none">
                <a:solidFill>
                  <a:srgbClr val="FFFFFF"/>
                </a:solidFill>
                <a:latin typeface="Poppins Bold"/>
                <a:ea typeface="Poppins Bold"/>
                <a:cs typeface="Poppins Bold"/>
                <a:sym typeface="Poppins Bold"/>
              </a:rPr>
              <a:t>P</a:t>
            </a:r>
            <a:r>
              <a:rPr lang="en-US" b="true" sz="6999" strike="noStrike" u="none">
                <a:solidFill>
                  <a:srgbClr val="FFFFFF"/>
                </a:solidFill>
                <a:latin typeface="Poppins Bold"/>
                <a:ea typeface="Poppins Bold"/>
                <a:cs typeface="Poppins Bold"/>
                <a:sym typeface="Poppins Bold"/>
              </a:rPr>
              <a:t>r</a:t>
            </a:r>
            <a:r>
              <a:rPr lang="en-US" b="true" sz="6999" strike="noStrike" u="none">
                <a:solidFill>
                  <a:srgbClr val="FFFFFF"/>
                </a:solidFill>
                <a:latin typeface="Poppins Bold"/>
                <a:ea typeface="Poppins Bold"/>
                <a:cs typeface="Poppins Bold"/>
                <a:sym typeface="Poppins Bold"/>
              </a:rPr>
              <a:t>oces</a:t>
            </a:r>
            <a:r>
              <a:rPr lang="en-US" b="true" sz="6999" strike="noStrike" u="none">
                <a:solidFill>
                  <a:srgbClr val="FFFFFF"/>
                </a:solidFill>
                <a:latin typeface="Poppins Bold"/>
                <a:ea typeface="Poppins Bold"/>
                <a:cs typeface="Poppins Bold"/>
                <a:sym typeface="Poppins Bold"/>
              </a:rPr>
              <a:t>s</a:t>
            </a:r>
          </a:p>
        </p:txBody>
      </p:sp>
      <p:sp>
        <p:nvSpPr>
          <p:cNvPr name="TextBox 8" id="8"/>
          <p:cNvSpPr txBox="true"/>
          <p:nvPr/>
        </p:nvSpPr>
        <p:spPr>
          <a:xfrm rot="0">
            <a:off x="1028700" y="5066625"/>
            <a:ext cx="5267183" cy="1317733"/>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Poppins"/>
                <a:ea typeface="Poppins"/>
                <a:cs typeface="Poppins"/>
                <a:sym typeface="Poppins"/>
              </a:rPr>
              <a:t>Key Finding Summary</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EDA &amp; Insight</a:t>
            </a:r>
          </a:p>
          <a:p>
            <a:pPr algn="just" marL="539749" indent="-269875" lvl="1">
              <a:lnSpc>
                <a:spcPts val="3499"/>
              </a:lnSpc>
              <a:spcBef>
                <a:spcPct val="0"/>
              </a:spcBef>
              <a:buFont typeface="Arial"/>
              <a:buChar char="•"/>
            </a:pPr>
            <a:r>
              <a:rPr lang="en-US" sz="2499">
                <a:solidFill>
                  <a:srgbClr val="FFFFFF"/>
                </a:solidFill>
                <a:latin typeface="Poppins"/>
                <a:ea typeface="Poppins"/>
                <a:cs typeface="Poppins"/>
                <a:sym typeface="Poppins"/>
              </a:rPr>
              <a:t>Hypothesis Testing</a:t>
            </a:r>
          </a:p>
        </p:txBody>
      </p:sp>
      <p:sp>
        <p:nvSpPr>
          <p:cNvPr name="Freeform 9" id="9"/>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54471" y="2312743"/>
            <a:ext cx="3357199" cy="1785818"/>
            <a:chOff x="0" y="0"/>
            <a:chExt cx="884201" cy="470339"/>
          </a:xfrm>
        </p:grpSpPr>
        <p:sp>
          <p:nvSpPr>
            <p:cNvPr name="Freeform 7" id="7"/>
            <p:cNvSpPr/>
            <p:nvPr/>
          </p:nvSpPr>
          <p:spPr>
            <a:xfrm flipH="false" flipV="false" rot="0">
              <a:off x="0" y="0"/>
              <a:ext cx="884200" cy="470339"/>
            </a:xfrm>
            <a:custGeom>
              <a:avLst/>
              <a:gdLst/>
              <a:ahLst/>
              <a:cxnLst/>
              <a:rect r="r" b="b" t="t" l="l"/>
              <a:pathLst>
                <a:path h="470339" w="884200">
                  <a:moveTo>
                    <a:pt x="117609" y="0"/>
                  </a:moveTo>
                  <a:lnTo>
                    <a:pt x="766591" y="0"/>
                  </a:lnTo>
                  <a:cubicBezTo>
                    <a:pt x="831545" y="0"/>
                    <a:pt x="884200" y="52655"/>
                    <a:pt x="884200" y="117609"/>
                  </a:cubicBezTo>
                  <a:lnTo>
                    <a:pt x="884200" y="352730"/>
                  </a:lnTo>
                  <a:cubicBezTo>
                    <a:pt x="884200" y="383922"/>
                    <a:pt x="871810" y="413836"/>
                    <a:pt x="849754" y="435892"/>
                  </a:cubicBezTo>
                  <a:cubicBezTo>
                    <a:pt x="827697" y="457948"/>
                    <a:pt x="797783" y="470339"/>
                    <a:pt x="766591" y="470339"/>
                  </a:cubicBezTo>
                  <a:lnTo>
                    <a:pt x="117609" y="470339"/>
                  </a:lnTo>
                  <a:cubicBezTo>
                    <a:pt x="52655" y="470339"/>
                    <a:pt x="0" y="417683"/>
                    <a:pt x="0" y="352730"/>
                  </a:cubicBezTo>
                  <a:lnTo>
                    <a:pt x="0" y="117609"/>
                  </a:lnTo>
                  <a:cubicBezTo>
                    <a:pt x="0" y="52655"/>
                    <a:pt x="52655" y="0"/>
                    <a:pt x="117609" y="0"/>
                  </a:cubicBezTo>
                  <a:close/>
                </a:path>
              </a:pathLst>
            </a:custGeom>
            <a:solidFill>
              <a:srgbClr val="5CA3B2">
                <a:alpha val="98824"/>
              </a:srgbClr>
            </a:solidFill>
          </p:spPr>
        </p:sp>
        <p:sp>
          <p:nvSpPr>
            <p:cNvPr name="TextBox 8" id="8"/>
            <p:cNvSpPr txBox="true"/>
            <p:nvPr/>
          </p:nvSpPr>
          <p:spPr>
            <a:xfrm>
              <a:off x="0" y="-95250"/>
              <a:ext cx="884201" cy="565589"/>
            </a:xfrm>
            <a:prstGeom prst="rect">
              <a:avLst/>
            </a:prstGeom>
          </p:spPr>
          <p:txBody>
            <a:bodyPr anchor="ctr" rtlCol="false" tIns="50800" lIns="50800" bIns="50800" rIns="50800"/>
            <a:lstStyle/>
            <a:p>
              <a:pPr algn="ctr">
                <a:lnSpc>
                  <a:spcPts val="4899"/>
                </a:lnSpc>
              </a:pPr>
              <a:r>
                <a:rPr lang="en-US" sz="3499" b="true">
                  <a:solidFill>
                    <a:srgbClr val="D91919">
                      <a:alpha val="98824"/>
                    </a:srgbClr>
                  </a:solidFill>
                  <a:latin typeface="Poppins Bold"/>
                  <a:ea typeface="Poppins Bold"/>
                  <a:cs typeface="Poppins Bold"/>
                  <a:sym typeface="Poppins Bold"/>
                </a:rPr>
                <a:t>21.54%</a:t>
              </a:r>
            </a:p>
            <a:p>
              <a:pPr algn="ctr">
                <a:lnSpc>
                  <a:spcPts val="3499"/>
                </a:lnSpc>
              </a:pPr>
            </a:p>
            <a:p>
              <a:pPr algn="ctr">
                <a:lnSpc>
                  <a:spcPts val="3499"/>
                </a:lnSpc>
              </a:pPr>
              <a:r>
                <a:rPr lang="en-US" sz="2499">
                  <a:solidFill>
                    <a:srgbClr val="000000">
                      <a:alpha val="98824"/>
                    </a:srgbClr>
                  </a:solidFill>
                  <a:latin typeface="Poppins"/>
                  <a:ea typeface="Poppins"/>
                  <a:cs typeface="Poppins"/>
                  <a:sym typeface="Poppins"/>
                </a:rPr>
                <a:t>Overall Default Rate</a:t>
              </a:r>
            </a:p>
          </p:txBody>
        </p:sp>
      </p:grpSp>
      <p:grpSp>
        <p:nvGrpSpPr>
          <p:cNvPr name="Group 9" id="9"/>
          <p:cNvGrpSpPr/>
          <p:nvPr/>
        </p:nvGrpSpPr>
        <p:grpSpPr>
          <a:xfrm rot="0">
            <a:off x="5182524" y="2312743"/>
            <a:ext cx="3357199" cy="1785818"/>
            <a:chOff x="0" y="0"/>
            <a:chExt cx="884201" cy="470339"/>
          </a:xfrm>
        </p:grpSpPr>
        <p:sp>
          <p:nvSpPr>
            <p:cNvPr name="Freeform 10" id="10"/>
            <p:cNvSpPr/>
            <p:nvPr/>
          </p:nvSpPr>
          <p:spPr>
            <a:xfrm flipH="false" flipV="false" rot="0">
              <a:off x="0" y="0"/>
              <a:ext cx="884200" cy="470339"/>
            </a:xfrm>
            <a:custGeom>
              <a:avLst/>
              <a:gdLst/>
              <a:ahLst/>
              <a:cxnLst/>
              <a:rect r="r" b="b" t="t" l="l"/>
              <a:pathLst>
                <a:path h="470339" w="884200">
                  <a:moveTo>
                    <a:pt x="117609" y="0"/>
                  </a:moveTo>
                  <a:lnTo>
                    <a:pt x="766591" y="0"/>
                  </a:lnTo>
                  <a:cubicBezTo>
                    <a:pt x="831545" y="0"/>
                    <a:pt x="884200" y="52655"/>
                    <a:pt x="884200" y="117609"/>
                  </a:cubicBezTo>
                  <a:lnTo>
                    <a:pt x="884200" y="352730"/>
                  </a:lnTo>
                  <a:cubicBezTo>
                    <a:pt x="884200" y="383922"/>
                    <a:pt x="871810" y="413836"/>
                    <a:pt x="849754" y="435892"/>
                  </a:cubicBezTo>
                  <a:cubicBezTo>
                    <a:pt x="827697" y="457948"/>
                    <a:pt x="797783" y="470339"/>
                    <a:pt x="766591" y="470339"/>
                  </a:cubicBezTo>
                  <a:lnTo>
                    <a:pt x="117609" y="470339"/>
                  </a:lnTo>
                  <a:cubicBezTo>
                    <a:pt x="52655" y="470339"/>
                    <a:pt x="0" y="417683"/>
                    <a:pt x="0" y="352730"/>
                  </a:cubicBezTo>
                  <a:lnTo>
                    <a:pt x="0" y="117609"/>
                  </a:lnTo>
                  <a:cubicBezTo>
                    <a:pt x="0" y="52655"/>
                    <a:pt x="52655" y="0"/>
                    <a:pt x="117609" y="0"/>
                  </a:cubicBezTo>
                  <a:close/>
                </a:path>
              </a:pathLst>
            </a:custGeom>
            <a:solidFill>
              <a:srgbClr val="5CA3B2"/>
            </a:solidFill>
          </p:spPr>
        </p:sp>
        <p:sp>
          <p:nvSpPr>
            <p:cNvPr name="TextBox 11" id="11"/>
            <p:cNvSpPr txBox="true"/>
            <p:nvPr/>
          </p:nvSpPr>
          <p:spPr>
            <a:xfrm>
              <a:off x="0" y="-95250"/>
              <a:ext cx="884201" cy="565589"/>
            </a:xfrm>
            <a:prstGeom prst="rect">
              <a:avLst/>
            </a:prstGeom>
          </p:spPr>
          <p:txBody>
            <a:bodyPr anchor="ctr" rtlCol="false" tIns="50800" lIns="50800" bIns="50800" rIns="50800"/>
            <a:lstStyle/>
            <a:p>
              <a:pPr algn="ctr">
                <a:lnSpc>
                  <a:spcPts val="4899"/>
                </a:lnSpc>
              </a:pPr>
              <a:r>
                <a:rPr lang="en-US" sz="3499" b="true">
                  <a:solidFill>
                    <a:srgbClr val="3943C9"/>
                  </a:solidFill>
                  <a:latin typeface="Poppins Bold"/>
                  <a:ea typeface="Poppins Bold"/>
                  <a:cs typeface="Poppins Bold"/>
                  <a:sym typeface="Poppins Bold"/>
                </a:rPr>
                <a:t>$306M</a:t>
              </a:r>
            </a:p>
            <a:p>
              <a:pPr algn="ctr">
                <a:lnSpc>
                  <a:spcPts val="3499"/>
                </a:lnSpc>
              </a:pPr>
            </a:p>
            <a:p>
              <a:pPr algn="ctr">
                <a:lnSpc>
                  <a:spcPts val="3499"/>
                </a:lnSpc>
              </a:pPr>
              <a:r>
                <a:rPr lang="en-US" sz="2499">
                  <a:solidFill>
                    <a:srgbClr val="000000"/>
                  </a:solidFill>
                  <a:latin typeface="Poppins"/>
                  <a:ea typeface="Poppins"/>
                  <a:cs typeface="Poppins"/>
                  <a:sym typeface="Poppins"/>
                </a:rPr>
                <a:t>Total Portfolio</a:t>
              </a:r>
            </a:p>
          </p:txBody>
        </p:sp>
      </p:grpSp>
      <p:grpSp>
        <p:nvGrpSpPr>
          <p:cNvPr name="Group 12" id="12"/>
          <p:cNvGrpSpPr/>
          <p:nvPr/>
        </p:nvGrpSpPr>
        <p:grpSpPr>
          <a:xfrm rot="0">
            <a:off x="9510275" y="2312743"/>
            <a:ext cx="3357199" cy="1785819"/>
            <a:chOff x="0" y="0"/>
            <a:chExt cx="884201" cy="470339"/>
          </a:xfrm>
        </p:grpSpPr>
        <p:sp>
          <p:nvSpPr>
            <p:cNvPr name="Freeform 13" id="13"/>
            <p:cNvSpPr/>
            <p:nvPr/>
          </p:nvSpPr>
          <p:spPr>
            <a:xfrm flipH="false" flipV="false" rot="0">
              <a:off x="0" y="0"/>
              <a:ext cx="884200" cy="470339"/>
            </a:xfrm>
            <a:custGeom>
              <a:avLst/>
              <a:gdLst/>
              <a:ahLst/>
              <a:cxnLst/>
              <a:rect r="r" b="b" t="t" l="l"/>
              <a:pathLst>
                <a:path h="470339" w="884200">
                  <a:moveTo>
                    <a:pt x="117609" y="0"/>
                  </a:moveTo>
                  <a:lnTo>
                    <a:pt x="766591" y="0"/>
                  </a:lnTo>
                  <a:cubicBezTo>
                    <a:pt x="831545" y="0"/>
                    <a:pt x="884200" y="52655"/>
                    <a:pt x="884200" y="117609"/>
                  </a:cubicBezTo>
                  <a:lnTo>
                    <a:pt x="884200" y="352730"/>
                  </a:lnTo>
                  <a:cubicBezTo>
                    <a:pt x="884200" y="417684"/>
                    <a:pt x="831545" y="470339"/>
                    <a:pt x="766591" y="470339"/>
                  </a:cubicBezTo>
                  <a:lnTo>
                    <a:pt x="117609" y="470339"/>
                  </a:lnTo>
                  <a:cubicBezTo>
                    <a:pt x="52655" y="470339"/>
                    <a:pt x="0" y="417684"/>
                    <a:pt x="0" y="352730"/>
                  </a:cubicBezTo>
                  <a:lnTo>
                    <a:pt x="0" y="117609"/>
                  </a:lnTo>
                  <a:cubicBezTo>
                    <a:pt x="0" y="52655"/>
                    <a:pt x="52655" y="0"/>
                    <a:pt x="117609" y="0"/>
                  </a:cubicBezTo>
                  <a:close/>
                </a:path>
              </a:pathLst>
            </a:custGeom>
            <a:solidFill>
              <a:srgbClr val="5CA3B2"/>
            </a:solidFill>
          </p:spPr>
        </p:sp>
        <p:sp>
          <p:nvSpPr>
            <p:cNvPr name="TextBox 14" id="14"/>
            <p:cNvSpPr txBox="true"/>
            <p:nvPr/>
          </p:nvSpPr>
          <p:spPr>
            <a:xfrm>
              <a:off x="0" y="-104775"/>
              <a:ext cx="884201" cy="575114"/>
            </a:xfrm>
            <a:prstGeom prst="rect">
              <a:avLst/>
            </a:prstGeom>
          </p:spPr>
          <p:txBody>
            <a:bodyPr anchor="ctr" rtlCol="false" tIns="50800" lIns="50800" bIns="50800" rIns="50800"/>
            <a:lstStyle/>
            <a:p>
              <a:pPr algn="ctr">
                <a:lnSpc>
                  <a:spcPts val="4900"/>
                </a:lnSpc>
              </a:pPr>
              <a:r>
                <a:rPr lang="en-US" sz="3500" b="true">
                  <a:solidFill>
                    <a:srgbClr val="34904E"/>
                  </a:solidFill>
                  <a:latin typeface="Poppins Bold"/>
                  <a:ea typeface="Poppins Bold"/>
                  <a:cs typeface="Poppins Bold"/>
                  <a:sym typeface="Poppins Bold"/>
                </a:rPr>
                <a:t>6/6</a:t>
              </a:r>
            </a:p>
            <a:p>
              <a:pPr algn="ctr">
                <a:lnSpc>
                  <a:spcPts val="3499"/>
                </a:lnSpc>
              </a:pPr>
              <a:r>
                <a:rPr lang="en-US" sz="2499">
                  <a:solidFill>
                    <a:srgbClr val="000000"/>
                  </a:solidFill>
                  <a:latin typeface="Poppins"/>
                  <a:ea typeface="Poppins"/>
                  <a:cs typeface="Poppins"/>
                  <a:sym typeface="Poppins"/>
                </a:rPr>
                <a:t>Significant Hypothesis</a:t>
              </a:r>
            </a:p>
          </p:txBody>
        </p:sp>
      </p:grpSp>
      <p:grpSp>
        <p:nvGrpSpPr>
          <p:cNvPr name="Group 15" id="15"/>
          <p:cNvGrpSpPr/>
          <p:nvPr/>
        </p:nvGrpSpPr>
        <p:grpSpPr>
          <a:xfrm rot="0">
            <a:off x="13902101" y="2312743"/>
            <a:ext cx="3357199" cy="1785819"/>
            <a:chOff x="0" y="0"/>
            <a:chExt cx="884201" cy="470339"/>
          </a:xfrm>
        </p:grpSpPr>
        <p:sp>
          <p:nvSpPr>
            <p:cNvPr name="Freeform 16" id="16"/>
            <p:cNvSpPr/>
            <p:nvPr/>
          </p:nvSpPr>
          <p:spPr>
            <a:xfrm flipH="false" flipV="false" rot="0">
              <a:off x="0" y="0"/>
              <a:ext cx="884200" cy="470339"/>
            </a:xfrm>
            <a:custGeom>
              <a:avLst/>
              <a:gdLst/>
              <a:ahLst/>
              <a:cxnLst/>
              <a:rect r="r" b="b" t="t" l="l"/>
              <a:pathLst>
                <a:path h="470339" w="884200">
                  <a:moveTo>
                    <a:pt x="117609" y="0"/>
                  </a:moveTo>
                  <a:lnTo>
                    <a:pt x="766591" y="0"/>
                  </a:lnTo>
                  <a:cubicBezTo>
                    <a:pt x="831545" y="0"/>
                    <a:pt x="884200" y="52655"/>
                    <a:pt x="884200" y="117609"/>
                  </a:cubicBezTo>
                  <a:lnTo>
                    <a:pt x="884200" y="352730"/>
                  </a:lnTo>
                  <a:cubicBezTo>
                    <a:pt x="884200" y="417684"/>
                    <a:pt x="831545" y="470339"/>
                    <a:pt x="766591" y="470339"/>
                  </a:cubicBezTo>
                  <a:lnTo>
                    <a:pt x="117609" y="470339"/>
                  </a:lnTo>
                  <a:cubicBezTo>
                    <a:pt x="52655" y="470339"/>
                    <a:pt x="0" y="417684"/>
                    <a:pt x="0" y="352730"/>
                  </a:cubicBezTo>
                  <a:lnTo>
                    <a:pt x="0" y="117609"/>
                  </a:lnTo>
                  <a:cubicBezTo>
                    <a:pt x="0" y="52655"/>
                    <a:pt x="52655" y="0"/>
                    <a:pt x="117609" y="0"/>
                  </a:cubicBezTo>
                  <a:close/>
                </a:path>
              </a:pathLst>
            </a:custGeom>
            <a:solidFill>
              <a:srgbClr val="5CA3B2"/>
            </a:solidFill>
          </p:spPr>
        </p:sp>
        <p:sp>
          <p:nvSpPr>
            <p:cNvPr name="TextBox 17" id="17"/>
            <p:cNvSpPr txBox="true"/>
            <p:nvPr/>
          </p:nvSpPr>
          <p:spPr>
            <a:xfrm>
              <a:off x="0" y="-104775"/>
              <a:ext cx="884201" cy="575114"/>
            </a:xfrm>
            <a:prstGeom prst="rect">
              <a:avLst/>
            </a:prstGeom>
          </p:spPr>
          <p:txBody>
            <a:bodyPr anchor="ctr" rtlCol="false" tIns="50800" lIns="50800" bIns="50800" rIns="50800"/>
            <a:lstStyle/>
            <a:p>
              <a:pPr algn="ctr">
                <a:lnSpc>
                  <a:spcPts val="4900"/>
                </a:lnSpc>
              </a:pPr>
              <a:r>
                <a:rPr lang="en-US" sz="3500" b="true">
                  <a:solidFill>
                    <a:srgbClr val="B8B745"/>
                  </a:solidFill>
                  <a:latin typeface="Poppins Bold"/>
                  <a:ea typeface="Poppins Bold"/>
                  <a:cs typeface="Poppins Bold"/>
                  <a:sym typeface="Poppins Bold"/>
                </a:rPr>
                <a:t>4</a:t>
              </a:r>
            </a:p>
            <a:p>
              <a:pPr algn="ctr">
                <a:lnSpc>
                  <a:spcPts val="3499"/>
                </a:lnSpc>
              </a:pPr>
            </a:p>
            <a:p>
              <a:pPr algn="ctr">
                <a:lnSpc>
                  <a:spcPts val="3499"/>
                </a:lnSpc>
              </a:pPr>
              <a:r>
                <a:rPr lang="en-US" sz="2499">
                  <a:solidFill>
                    <a:srgbClr val="000000"/>
                  </a:solidFill>
                  <a:latin typeface="Poppins"/>
                  <a:ea typeface="Poppins"/>
                  <a:cs typeface="Poppins"/>
                  <a:sym typeface="Poppins"/>
                </a:rPr>
                <a:t>Borrower Segments</a:t>
              </a:r>
            </a:p>
          </p:txBody>
        </p:sp>
      </p:grpSp>
      <p:grpSp>
        <p:nvGrpSpPr>
          <p:cNvPr name="Group 18" id="18"/>
          <p:cNvGrpSpPr/>
          <p:nvPr/>
        </p:nvGrpSpPr>
        <p:grpSpPr>
          <a:xfrm rot="0">
            <a:off x="1394908" y="4586340"/>
            <a:ext cx="5042628" cy="1914528"/>
            <a:chOff x="0" y="0"/>
            <a:chExt cx="757769" cy="287701"/>
          </a:xfrm>
        </p:grpSpPr>
        <p:sp>
          <p:nvSpPr>
            <p:cNvPr name="Freeform 19" id="19"/>
            <p:cNvSpPr/>
            <p:nvPr/>
          </p:nvSpPr>
          <p:spPr>
            <a:xfrm flipH="false" flipV="false" rot="0">
              <a:off x="0" y="0"/>
              <a:ext cx="757769" cy="287701"/>
            </a:xfrm>
            <a:custGeom>
              <a:avLst/>
              <a:gdLst/>
              <a:ahLst/>
              <a:cxnLst/>
              <a:rect r="r" b="b" t="t" l="l"/>
              <a:pathLst>
                <a:path h="287701" w="757769">
                  <a:moveTo>
                    <a:pt x="136223" y="0"/>
                  </a:moveTo>
                  <a:lnTo>
                    <a:pt x="621546" y="0"/>
                  </a:lnTo>
                  <a:cubicBezTo>
                    <a:pt x="696780" y="0"/>
                    <a:pt x="757769" y="60989"/>
                    <a:pt x="757769" y="136223"/>
                  </a:cubicBezTo>
                  <a:lnTo>
                    <a:pt x="757769" y="151478"/>
                  </a:lnTo>
                  <a:cubicBezTo>
                    <a:pt x="757769" y="226712"/>
                    <a:pt x="696780" y="287701"/>
                    <a:pt x="621546" y="287701"/>
                  </a:cubicBezTo>
                  <a:lnTo>
                    <a:pt x="136223" y="287701"/>
                  </a:lnTo>
                  <a:cubicBezTo>
                    <a:pt x="60989" y="287701"/>
                    <a:pt x="0" y="226712"/>
                    <a:pt x="0" y="151478"/>
                  </a:cubicBezTo>
                  <a:lnTo>
                    <a:pt x="0" y="136223"/>
                  </a:lnTo>
                  <a:cubicBezTo>
                    <a:pt x="0" y="60989"/>
                    <a:pt x="60989" y="0"/>
                    <a:pt x="136223" y="0"/>
                  </a:cubicBezTo>
                  <a:close/>
                </a:path>
              </a:pathLst>
            </a:custGeom>
            <a:solidFill>
              <a:srgbClr val="5CA3B2"/>
            </a:solidFill>
          </p:spPr>
        </p:sp>
        <p:sp>
          <p:nvSpPr>
            <p:cNvPr name="TextBox 20" id="20"/>
            <p:cNvSpPr txBox="true"/>
            <p:nvPr/>
          </p:nvSpPr>
          <p:spPr>
            <a:xfrm>
              <a:off x="0" y="-57150"/>
              <a:ext cx="757769" cy="344851"/>
            </a:xfrm>
            <a:prstGeom prst="rect">
              <a:avLst/>
            </a:prstGeom>
          </p:spPr>
          <p:txBody>
            <a:bodyPr anchor="ctr" rtlCol="false" tIns="50800" lIns="50800" bIns="50800" rIns="50800"/>
            <a:lstStyle/>
            <a:p>
              <a:pPr algn="l">
                <a:lnSpc>
                  <a:spcPts val="3220"/>
                </a:lnSpc>
              </a:pPr>
            </a:p>
          </p:txBody>
        </p:sp>
      </p:grpSp>
      <p:sp>
        <p:nvSpPr>
          <p:cNvPr name="Freeform 21" id="21"/>
          <p:cNvSpPr/>
          <p:nvPr/>
        </p:nvSpPr>
        <p:spPr>
          <a:xfrm flipH="false" flipV="false" rot="0">
            <a:off x="1577264" y="4885111"/>
            <a:ext cx="1083946" cy="1083946"/>
          </a:xfrm>
          <a:custGeom>
            <a:avLst/>
            <a:gdLst/>
            <a:ahLst/>
            <a:cxnLst/>
            <a:rect r="r" b="b" t="t" l="l"/>
            <a:pathLst>
              <a:path h="1083946" w="1083946">
                <a:moveTo>
                  <a:pt x="0" y="0"/>
                </a:moveTo>
                <a:lnTo>
                  <a:pt x="1083946" y="0"/>
                </a:lnTo>
                <a:lnTo>
                  <a:pt x="1083946" y="1083945"/>
                </a:lnTo>
                <a:lnTo>
                  <a:pt x="0" y="1083945"/>
                </a:lnTo>
                <a:lnTo>
                  <a:pt x="0" y="0"/>
                </a:lnTo>
                <a:close/>
              </a:path>
            </a:pathLst>
          </a:custGeom>
          <a:blipFill>
            <a:blip r:embed="rId3"/>
            <a:stretch>
              <a:fillRect l="0" t="0" r="0" b="0"/>
            </a:stretch>
          </a:blipFill>
        </p:spPr>
      </p:sp>
      <p:grpSp>
        <p:nvGrpSpPr>
          <p:cNvPr name="Group 22" id="22"/>
          <p:cNvGrpSpPr/>
          <p:nvPr/>
        </p:nvGrpSpPr>
        <p:grpSpPr>
          <a:xfrm rot="0">
            <a:off x="6988961" y="4558419"/>
            <a:ext cx="5042628" cy="1914528"/>
            <a:chOff x="0" y="0"/>
            <a:chExt cx="757769" cy="287701"/>
          </a:xfrm>
        </p:grpSpPr>
        <p:sp>
          <p:nvSpPr>
            <p:cNvPr name="Freeform 23" id="23"/>
            <p:cNvSpPr/>
            <p:nvPr/>
          </p:nvSpPr>
          <p:spPr>
            <a:xfrm flipH="false" flipV="false" rot="0">
              <a:off x="0" y="0"/>
              <a:ext cx="757769" cy="287701"/>
            </a:xfrm>
            <a:custGeom>
              <a:avLst/>
              <a:gdLst/>
              <a:ahLst/>
              <a:cxnLst/>
              <a:rect r="r" b="b" t="t" l="l"/>
              <a:pathLst>
                <a:path h="287701" w="757769">
                  <a:moveTo>
                    <a:pt x="136223" y="0"/>
                  </a:moveTo>
                  <a:lnTo>
                    <a:pt x="621546" y="0"/>
                  </a:lnTo>
                  <a:cubicBezTo>
                    <a:pt x="696780" y="0"/>
                    <a:pt x="757769" y="60989"/>
                    <a:pt x="757769" y="136223"/>
                  </a:cubicBezTo>
                  <a:lnTo>
                    <a:pt x="757769" y="151478"/>
                  </a:lnTo>
                  <a:cubicBezTo>
                    <a:pt x="757769" y="226712"/>
                    <a:pt x="696780" y="287701"/>
                    <a:pt x="621546" y="287701"/>
                  </a:cubicBezTo>
                  <a:lnTo>
                    <a:pt x="136223" y="287701"/>
                  </a:lnTo>
                  <a:cubicBezTo>
                    <a:pt x="60989" y="287701"/>
                    <a:pt x="0" y="226712"/>
                    <a:pt x="0" y="151478"/>
                  </a:cubicBezTo>
                  <a:lnTo>
                    <a:pt x="0" y="136223"/>
                  </a:lnTo>
                  <a:cubicBezTo>
                    <a:pt x="0" y="60989"/>
                    <a:pt x="60989" y="0"/>
                    <a:pt x="136223" y="0"/>
                  </a:cubicBezTo>
                  <a:close/>
                </a:path>
              </a:pathLst>
            </a:custGeom>
            <a:solidFill>
              <a:srgbClr val="5CA3B2"/>
            </a:solidFill>
          </p:spPr>
        </p:sp>
        <p:sp>
          <p:nvSpPr>
            <p:cNvPr name="TextBox 24" id="24"/>
            <p:cNvSpPr txBox="true"/>
            <p:nvPr/>
          </p:nvSpPr>
          <p:spPr>
            <a:xfrm>
              <a:off x="0" y="-57150"/>
              <a:ext cx="757769" cy="344851"/>
            </a:xfrm>
            <a:prstGeom prst="rect">
              <a:avLst/>
            </a:prstGeom>
          </p:spPr>
          <p:txBody>
            <a:bodyPr anchor="ctr" rtlCol="false" tIns="50800" lIns="50800" bIns="50800" rIns="50800"/>
            <a:lstStyle/>
            <a:p>
              <a:pPr algn="l">
                <a:lnSpc>
                  <a:spcPts val="3220"/>
                </a:lnSpc>
              </a:pPr>
            </a:p>
          </p:txBody>
        </p:sp>
      </p:grpSp>
      <p:grpSp>
        <p:nvGrpSpPr>
          <p:cNvPr name="Group 25" id="25"/>
          <p:cNvGrpSpPr/>
          <p:nvPr/>
        </p:nvGrpSpPr>
        <p:grpSpPr>
          <a:xfrm rot="0">
            <a:off x="12584039" y="4469819"/>
            <a:ext cx="5042628" cy="1914528"/>
            <a:chOff x="0" y="0"/>
            <a:chExt cx="757769" cy="287701"/>
          </a:xfrm>
        </p:grpSpPr>
        <p:sp>
          <p:nvSpPr>
            <p:cNvPr name="Freeform 26" id="26"/>
            <p:cNvSpPr/>
            <p:nvPr/>
          </p:nvSpPr>
          <p:spPr>
            <a:xfrm flipH="false" flipV="false" rot="0">
              <a:off x="0" y="0"/>
              <a:ext cx="757769" cy="287701"/>
            </a:xfrm>
            <a:custGeom>
              <a:avLst/>
              <a:gdLst/>
              <a:ahLst/>
              <a:cxnLst/>
              <a:rect r="r" b="b" t="t" l="l"/>
              <a:pathLst>
                <a:path h="287701" w="757769">
                  <a:moveTo>
                    <a:pt x="136223" y="0"/>
                  </a:moveTo>
                  <a:lnTo>
                    <a:pt x="621546" y="0"/>
                  </a:lnTo>
                  <a:cubicBezTo>
                    <a:pt x="696780" y="0"/>
                    <a:pt x="757769" y="60989"/>
                    <a:pt x="757769" y="136223"/>
                  </a:cubicBezTo>
                  <a:lnTo>
                    <a:pt x="757769" y="151478"/>
                  </a:lnTo>
                  <a:cubicBezTo>
                    <a:pt x="757769" y="226712"/>
                    <a:pt x="696780" y="287701"/>
                    <a:pt x="621546" y="287701"/>
                  </a:cubicBezTo>
                  <a:lnTo>
                    <a:pt x="136223" y="287701"/>
                  </a:lnTo>
                  <a:cubicBezTo>
                    <a:pt x="60989" y="287701"/>
                    <a:pt x="0" y="226712"/>
                    <a:pt x="0" y="151478"/>
                  </a:cubicBezTo>
                  <a:lnTo>
                    <a:pt x="0" y="136223"/>
                  </a:lnTo>
                  <a:cubicBezTo>
                    <a:pt x="0" y="60989"/>
                    <a:pt x="60989" y="0"/>
                    <a:pt x="136223" y="0"/>
                  </a:cubicBezTo>
                  <a:close/>
                </a:path>
              </a:pathLst>
            </a:custGeom>
            <a:solidFill>
              <a:srgbClr val="5CA3B2"/>
            </a:solidFill>
          </p:spPr>
        </p:sp>
        <p:sp>
          <p:nvSpPr>
            <p:cNvPr name="TextBox 27" id="27"/>
            <p:cNvSpPr txBox="true"/>
            <p:nvPr/>
          </p:nvSpPr>
          <p:spPr>
            <a:xfrm>
              <a:off x="0" y="-57150"/>
              <a:ext cx="757769" cy="344851"/>
            </a:xfrm>
            <a:prstGeom prst="rect">
              <a:avLst/>
            </a:prstGeom>
          </p:spPr>
          <p:txBody>
            <a:bodyPr anchor="ctr" rtlCol="false" tIns="50800" lIns="50800" bIns="50800" rIns="50800"/>
            <a:lstStyle/>
            <a:p>
              <a:pPr algn="l">
                <a:lnSpc>
                  <a:spcPts val="3220"/>
                </a:lnSpc>
              </a:pPr>
            </a:p>
          </p:txBody>
        </p:sp>
      </p:grpSp>
      <p:sp>
        <p:nvSpPr>
          <p:cNvPr name="Freeform 28" id="28"/>
          <p:cNvSpPr/>
          <p:nvPr/>
        </p:nvSpPr>
        <p:spPr>
          <a:xfrm flipH="false" flipV="false" rot="0">
            <a:off x="7454081" y="4954830"/>
            <a:ext cx="1085641" cy="944508"/>
          </a:xfrm>
          <a:custGeom>
            <a:avLst/>
            <a:gdLst/>
            <a:ahLst/>
            <a:cxnLst/>
            <a:rect r="r" b="b" t="t" l="l"/>
            <a:pathLst>
              <a:path h="944508" w="1085641">
                <a:moveTo>
                  <a:pt x="0" y="0"/>
                </a:moveTo>
                <a:lnTo>
                  <a:pt x="1085641" y="0"/>
                </a:lnTo>
                <a:lnTo>
                  <a:pt x="1085641" y="944507"/>
                </a:lnTo>
                <a:lnTo>
                  <a:pt x="0" y="9445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12867474" y="4823128"/>
            <a:ext cx="773063" cy="1207912"/>
          </a:xfrm>
          <a:custGeom>
            <a:avLst/>
            <a:gdLst/>
            <a:ahLst/>
            <a:cxnLst/>
            <a:rect r="r" b="b" t="t" l="l"/>
            <a:pathLst>
              <a:path h="1207912" w="773063">
                <a:moveTo>
                  <a:pt x="0" y="0"/>
                </a:moveTo>
                <a:lnTo>
                  <a:pt x="773063" y="0"/>
                </a:lnTo>
                <a:lnTo>
                  <a:pt x="773063" y="1207911"/>
                </a:lnTo>
                <a:lnTo>
                  <a:pt x="0" y="12079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0" id="30"/>
          <p:cNvGrpSpPr/>
          <p:nvPr/>
        </p:nvGrpSpPr>
        <p:grpSpPr>
          <a:xfrm rot="0">
            <a:off x="1453034" y="6758043"/>
            <a:ext cx="5042628" cy="1914528"/>
            <a:chOff x="0" y="0"/>
            <a:chExt cx="757769" cy="287701"/>
          </a:xfrm>
        </p:grpSpPr>
        <p:sp>
          <p:nvSpPr>
            <p:cNvPr name="Freeform 31" id="31"/>
            <p:cNvSpPr/>
            <p:nvPr/>
          </p:nvSpPr>
          <p:spPr>
            <a:xfrm flipH="false" flipV="false" rot="0">
              <a:off x="0" y="0"/>
              <a:ext cx="757769" cy="287701"/>
            </a:xfrm>
            <a:custGeom>
              <a:avLst/>
              <a:gdLst/>
              <a:ahLst/>
              <a:cxnLst/>
              <a:rect r="r" b="b" t="t" l="l"/>
              <a:pathLst>
                <a:path h="287701" w="757769">
                  <a:moveTo>
                    <a:pt x="136223" y="0"/>
                  </a:moveTo>
                  <a:lnTo>
                    <a:pt x="621546" y="0"/>
                  </a:lnTo>
                  <a:cubicBezTo>
                    <a:pt x="696780" y="0"/>
                    <a:pt x="757769" y="60989"/>
                    <a:pt x="757769" y="136223"/>
                  </a:cubicBezTo>
                  <a:lnTo>
                    <a:pt x="757769" y="151478"/>
                  </a:lnTo>
                  <a:cubicBezTo>
                    <a:pt x="757769" y="226712"/>
                    <a:pt x="696780" y="287701"/>
                    <a:pt x="621546" y="287701"/>
                  </a:cubicBezTo>
                  <a:lnTo>
                    <a:pt x="136223" y="287701"/>
                  </a:lnTo>
                  <a:cubicBezTo>
                    <a:pt x="60989" y="287701"/>
                    <a:pt x="0" y="226712"/>
                    <a:pt x="0" y="151478"/>
                  </a:cubicBezTo>
                  <a:lnTo>
                    <a:pt x="0" y="136223"/>
                  </a:lnTo>
                  <a:cubicBezTo>
                    <a:pt x="0" y="60989"/>
                    <a:pt x="60989" y="0"/>
                    <a:pt x="136223" y="0"/>
                  </a:cubicBezTo>
                  <a:close/>
                </a:path>
              </a:pathLst>
            </a:custGeom>
            <a:solidFill>
              <a:srgbClr val="5CA3B2"/>
            </a:solidFill>
          </p:spPr>
        </p:sp>
        <p:sp>
          <p:nvSpPr>
            <p:cNvPr name="TextBox 32" id="32"/>
            <p:cNvSpPr txBox="true"/>
            <p:nvPr/>
          </p:nvSpPr>
          <p:spPr>
            <a:xfrm>
              <a:off x="0" y="-57150"/>
              <a:ext cx="757769" cy="344851"/>
            </a:xfrm>
            <a:prstGeom prst="rect">
              <a:avLst/>
            </a:prstGeom>
          </p:spPr>
          <p:txBody>
            <a:bodyPr anchor="ctr" rtlCol="false" tIns="50800" lIns="50800" bIns="50800" rIns="50800"/>
            <a:lstStyle/>
            <a:p>
              <a:pPr algn="l">
                <a:lnSpc>
                  <a:spcPts val="3220"/>
                </a:lnSpc>
              </a:pPr>
            </a:p>
          </p:txBody>
        </p:sp>
      </p:grpSp>
      <p:sp>
        <p:nvSpPr>
          <p:cNvPr name="Freeform 33" id="33"/>
          <p:cNvSpPr/>
          <p:nvPr/>
        </p:nvSpPr>
        <p:spPr>
          <a:xfrm flipH="false" flipV="false" rot="0">
            <a:off x="1527327" y="7148366"/>
            <a:ext cx="1133883" cy="1133883"/>
          </a:xfrm>
          <a:custGeom>
            <a:avLst/>
            <a:gdLst/>
            <a:ahLst/>
            <a:cxnLst/>
            <a:rect r="r" b="b" t="t" l="l"/>
            <a:pathLst>
              <a:path h="1133883" w="1133883">
                <a:moveTo>
                  <a:pt x="0" y="0"/>
                </a:moveTo>
                <a:lnTo>
                  <a:pt x="1133883" y="0"/>
                </a:lnTo>
                <a:lnTo>
                  <a:pt x="1133883" y="1133883"/>
                </a:lnTo>
                <a:lnTo>
                  <a:pt x="0" y="1133883"/>
                </a:lnTo>
                <a:lnTo>
                  <a:pt x="0" y="0"/>
                </a:lnTo>
                <a:close/>
              </a:path>
            </a:pathLst>
          </a:custGeom>
          <a:blipFill>
            <a:blip r:embed="rId8"/>
            <a:stretch>
              <a:fillRect l="0" t="0" r="0" b="0"/>
            </a:stretch>
          </a:blipFill>
        </p:spPr>
      </p:sp>
      <p:grpSp>
        <p:nvGrpSpPr>
          <p:cNvPr name="Group 34" id="34"/>
          <p:cNvGrpSpPr/>
          <p:nvPr/>
        </p:nvGrpSpPr>
        <p:grpSpPr>
          <a:xfrm rot="0">
            <a:off x="6988961" y="6758043"/>
            <a:ext cx="5042628" cy="1914528"/>
            <a:chOff x="0" y="0"/>
            <a:chExt cx="757769" cy="287701"/>
          </a:xfrm>
        </p:grpSpPr>
        <p:sp>
          <p:nvSpPr>
            <p:cNvPr name="Freeform 35" id="35"/>
            <p:cNvSpPr/>
            <p:nvPr/>
          </p:nvSpPr>
          <p:spPr>
            <a:xfrm flipH="false" flipV="false" rot="0">
              <a:off x="0" y="0"/>
              <a:ext cx="757769" cy="287701"/>
            </a:xfrm>
            <a:custGeom>
              <a:avLst/>
              <a:gdLst/>
              <a:ahLst/>
              <a:cxnLst/>
              <a:rect r="r" b="b" t="t" l="l"/>
              <a:pathLst>
                <a:path h="287701" w="757769">
                  <a:moveTo>
                    <a:pt x="136223" y="0"/>
                  </a:moveTo>
                  <a:lnTo>
                    <a:pt x="621546" y="0"/>
                  </a:lnTo>
                  <a:cubicBezTo>
                    <a:pt x="696780" y="0"/>
                    <a:pt x="757769" y="60989"/>
                    <a:pt x="757769" y="136223"/>
                  </a:cubicBezTo>
                  <a:lnTo>
                    <a:pt x="757769" y="151478"/>
                  </a:lnTo>
                  <a:cubicBezTo>
                    <a:pt x="757769" y="226712"/>
                    <a:pt x="696780" y="287701"/>
                    <a:pt x="621546" y="287701"/>
                  </a:cubicBezTo>
                  <a:lnTo>
                    <a:pt x="136223" y="287701"/>
                  </a:lnTo>
                  <a:cubicBezTo>
                    <a:pt x="60989" y="287701"/>
                    <a:pt x="0" y="226712"/>
                    <a:pt x="0" y="151478"/>
                  </a:cubicBezTo>
                  <a:lnTo>
                    <a:pt x="0" y="136223"/>
                  </a:lnTo>
                  <a:cubicBezTo>
                    <a:pt x="0" y="60989"/>
                    <a:pt x="60989" y="0"/>
                    <a:pt x="136223" y="0"/>
                  </a:cubicBezTo>
                  <a:close/>
                </a:path>
              </a:pathLst>
            </a:custGeom>
            <a:solidFill>
              <a:srgbClr val="5CA3B2"/>
            </a:solidFill>
          </p:spPr>
        </p:sp>
        <p:sp>
          <p:nvSpPr>
            <p:cNvPr name="TextBox 36" id="36"/>
            <p:cNvSpPr txBox="true"/>
            <p:nvPr/>
          </p:nvSpPr>
          <p:spPr>
            <a:xfrm>
              <a:off x="0" y="-57150"/>
              <a:ext cx="757769" cy="344851"/>
            </a:xfrm>
            <a:prstGeom prst="rect">
              <a:avLst/>
            </a:prstGeom>
          </p:spPr>
          <p:txBody>
            <a:bodyPr anchor="ctr" rtlCol="false" tIns="50800" lIns="50800" bIns="50800" rIns="50800"/>
            <a:lstStyle/>
            <a:p>
              <a:pPr algn="l">
                <a:lnSpc>
                  <a:spcPts val="3220"/>
                </a:lnSpc>
              </a:pPr>
            </a:p>
          </p:txBody>
        </p:sp>
      </p:grpSp>
      <p:sp>
        <p:nvSpPr>
          <p:cNvPr name="Freeform 37" id="37"/>
          <p:cNvSpPr/>
          <p:nvPr/>
        </p:nvSpPr>
        <p:spPr>
          <a:xfrm flipH="false" flipV="false" rot="0">
            <a:off x="7020017" y="7063623"/>
            <a:ext cx="1218626" cy="1218626"/>
          </a:xfrm>
          <a:custGeom>
            <a:avLst/>
            <a:gdLst/>
            <a:ahLst/>
            <a:cxnLst/>
            <a:rect r="r" b="b" t="t" l="l"/>
            <a:pathLst>
              <a:path h="1218626" w="1218626">
                <a:moveTo>
                  <a:pt x="0" y="0"/>
                </a:moveTo>
                <a:lnTo>
                  <a:pt x="1218626" y="0"/>
                </a:lnTo>
                <a:lnTo>
                  <a:pt x="1218626" y="1218626"/>
                </a:lnTo>
                <a:lnTo>
                  <a:pt x="0" y="121862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8" id="38"/>
          <p:cNvGrpSpPr/>
          <p:nvPr/>
        </p:nvGrpSpPr>
        <p:grpSpPr>
          <a:xfrm rot="0">
            <a:off x="12584039" y="6693761"/>
            <a:ext cx="5042628" cy="1914528"/>
            <a:chOff x="0" y="0"/>
            <a:chExt cx="757769" cy="287701"/>
          </a:xfrm>
        </p:grpSpPr>
        <p:sp>
          <p:nvSpPr>
            <p:cNvPr name="Freeform 39" id="39"/>
            <p:cNvSpPr/>
            <p:nvPr/>
          </p:nvSpPr>
          <p:spPr>
            <a:xfrm flipH="false" flipV="false" rot="0">
              <a:off x="0" y="0"/>
              <a:ext cx="757769" cy="287701"/>
            </a:xfrm>
            <a:custGeom>
              <a:avLst/>
              <a:gdLst/>
              <a:ahLst/>
              <a:cxnLst/>
              <a:rect r="r" b="b" t="t" l="l"/>
              <a:pathLst>
                <a:path h="287701" w="757769">
                  <a:moveTo>
                    <a:pt x="136223" y="0"/>
                  </a:moveTo>
                  <a:lnTo>
                    <a:pt x="621546" y="0"/>
                  </a:lnTo>
                  <a:cubicBezTo>
                    <a:pt x="696780" y="0"/>
                    <a:pt x="757769" y="60989"/>
                    <a:pt x="757769" y="136223"/>
                  </a:cubicBezTo>
                  <a:lnTo>
                    <a:pt x="757769" y="151478"/>
                  </a:lnTo>
                  <a:cubicBezTo>
                    <a:pt x="757769" y="226712"/>
                    <a:pt x="696780" y="287701"/>
                    <a:pt x="621546" y="287701"/>
                  </a:cubicBezTo>
                  <a:lnTo>
                    <a:pt x="136223" y="287701"/>
                  </a:lnTo>
                  <a:cubicBezTo>
                    <a:pt x="60989" y="287701"/>
                    <a:pt x="0" y="226712"/>
                    <a:pt x="0" y="151478"/>
                  </a:cubicBezTo>
                  <a:lnTo>
                    <a:pt x="0" y="136223"/>
                  </a:lnTo>
                  <a:cubicBezTo>
                    <a:pt x="0" y="60989"/>
                    <a:pt x="60989" y="0"/>
                    <a:pt x="136223" y="0"/>
                  </a:cubicBezTo>
                  <a:close/>
                </a:path>
              </a:pathLst>
            </a:custGeom>
            <a:solidFill>
              <a:srgbClr val="5CA3B2"/>
            </a:solidFill>
          </p:spPr>
        </p:sp>
        <p:sp>
          <p:nvSpPr>
            <p:cNvPr name="TextBox 40" id="40"/>
            <p:cNvSpPr txBox="true"/>
            <p:nvPr/>
          </p:nvSpPr>
          <p:spPr>
            <a:xfrm>
              <a:off x="0" y="-57150"/>
              <a:ext cx="757769" cy="344851"/>
            </a:xfrm>
            <a:prstGeom prst="rect">
              <a:avLst/>
            </a:prstGeom>
          </p:spPr>
          <p:txBody>
            <a:bodyPr anchor="ctr" rtlCol="false" tIns="50800" lIns="50800" bIns="50800" rIns="50800"/>
            <a:lstStyle/>
            <a:p>
              <a:pPr algn="l">
                <a:lnSpc>
                  <a:spcPts val="3220"/>
                </a:lnSpc>
              </a:pPr>
            </a:p>
          </p:txBody>
        </p:sp>
      </p:grpSp>
      <p:sp>
        <p:nvSpPr>
          <p:cNvPr name="Freeform 41" id="41"/>
          <p:cNvSpPr/>
          <p:nvPr/>
        </p:nvSpPr>
        <p:spPr>
          <a:xfrm flipH="false" flipV="false" rot="0">
            <a:off x="12675275" y="7115699"/>
            <a:ext cx="1157461" cy="1070652"/>
          </a:xfrm>
          <a:custGeom>
            <a:avLst/>
            <a:gdLst/>
            <a:ahLst/>
            <a:cxnLst/>
            <a:rect r="r" b="b" t="t" l="l"/>
            <a:pathLst>
              <a:path h="1070652" w="1157461">
                <a:moveTo>
                  <a:pt x="0" y="0"/>
                </a:moveTo>
                <a:lnTo>
                  <a:pt x="1157461" y="0"/>
                </a:lnTo>
                <a:lnTo>
                  <a:pt x="1157461" y="1070652"/>
                </a:lnTo>
                <a:lnTo>
                  <a:pt x="0" y="1070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2" id="42"/>
          <p:cNvSpPr txBox="true"/>
          <p:nvPr/>
        </p:nvSpPr>
        <p:spPr>
          <a:xfrm rot="0">
            <a:off x="1054471" y="638175"/>
            <a:ext cx="10134403" cy="1095357"/>
          </a:xfrm>
          <a:prstGeom prst="rect">
            <a:avLst/>
          </a:prstGeom>
        </p:spPr>
        <p:txBody>
          <a:bodyPr anchor="t" rtlCol="false" tIns="0" lIns="0" bIns="0" rIns="0">
            <a:spAutoFit/>
          </a:bodyPr>
          <a:lstStyle/>
          <a:p>
            <a:pPr algn="l" marL="0" indent="0" lvl="1">
              <a:lnSpc>
                <a:spcPts val="8400"/>
              </a:lnSpc>
              <a:spcBef>
                <a:spcPct val="0"/>
              </a:spcBef>
            </a:pPr>
            <a:r>
              <a:rPr lang="en-US" b="true" sz="6000">
                <a:solidFill>
                  <a:srgbClr val="FFFFFF"/>
                </a:solidFill>
                <a:latin typeface="Poppins Bold"/>
                <a:ea typeface="Poppins Bold"/>
                <a:cs typeface="Poppins Bold"/>
                <a:sym typeface="Poppins Bold"/>
              </a:rPr>
              <a:t>Key Finding Summary</a:t>
            </a:r>
          </a:p>
        </p:txBody>
      </p:sp>
      <p:sp>
        <p:nvSpPr>
          <p:cNvPr name="TextBox 43" id="43"/>
          <p:cNvSpPr txBox="true"/>
          <p:nvPr/>
        </p:nvSpPr>
        <p:spPr>
          <a:xfrm rot="0">
            <a:off x="2661210" y="4827961"/>
            <a:ext cx="3776326" cy="1600912"/>
          </a:xfrm>
          <a:prstGeom prst="rect">
            <a:avLst/>
          </a:prstGeom>
        </p:spPr>
        <p:txBody>
          <a:bodyPr anchor="t" rtlCol="false" tIns="0" lIns="0" bIns="0" rIns="0">
            <a:spAutoFit/>
          </a:bodyPr>
          <a:lstStyle/>
          <a:p>
            <a:pPr algn="l">
              <a:lnSpc>
                <a:spcPts val="2659"/>
              </a:lnSpc>
            </a:pPr>
            <a:r>
              <a:rPr lang="en-US" sz="1899" b="true">
                <a:solidFill>
                  <a:srgbClr val="000000"/>
                </a:solidFill>
                <a:latin typeface="Poppins Bold"/>
                <a:ea typeface="Poppins Bold"/>
                <a:cs typeface="Poppins Bold"/>
                <a:sym typeface="Poppins Bold"/>
              </a:rPr>
              <a:t>DTI is Strongest Predictor</a:t>
            </a:r>
          </a:p>
          <a:p>
            <a:pPr algn="l">
              <a:lnSpc>
                <a:spcPts val="2519"/>
              </a:lnSpc>
            </a:pPr>
            <a:r>
              <a:rPr lang="en-US" sz="1799">
                <a:solidFill>
                  <a:srgbClr val="000000"/>
                </a:solidFill>
                <a:latin typeface="Poppins"/>
                <a:ea typeface="Poppins"/>
                <a:cs typeface="Poppins"/>
                <a:sym typeface="Poppins"/>
              </a:rPr>
              <a:t>The debt to income ratio is the strongest predictor after loan grade</a:t>
            </a:r>
            <a:r>
              <a:rPr lang="en-US" sz="1799">
                <a:solidFill>
                  <a:srgbClr val="000000"/>
                </a:solidFill>
                <a:latin typeface="Poppins"/>
                <a:ea typeface="Poppins"/>
                <a:cs typeface="Poppins"/>
                <a:sym typeface="Poppins"/>
              </a:rPr>
              <a:t>.</a:t>
            </a:r>
          </a:p>
          <a:p>
            <a:pPr algn="l">
              <a:lnSpc>
                <a:spcPts val="2519"/>
              </a:lnSpc>
              <a:spcBef>
                <a:spcPct val="0"/>
              </a:spcBef>
            </a:pPr>
          </a:p>
        </p:txBody>
      </p:sp>
      <p:sp>
        <p:nvSpPr>
          <p:cNvPr name="TextBox 44" id="44"/>
          <p:cNvSpPr txBox="true"/>
          <p:nvPr/>
        </p:nvSpPr>
        <p:spPr>
          <a:xfrm rot="0">
            <a:off x="8761715" y="4765978"/>
            <a:ext cx="3269874" cy="1600907"/>
          </a:xfrm>
          <a:prstGeom prst="rect">
            <a:avLst/>
          </a:prstGeom>
        </p:spPr>
        <p:txBody>
          <a:bodyPr anchor="t" rtlCol="false" tIns="0" lIns="0" bIns="0" rIns="0">
            <a:spAutoFit/>
          </a:bodyPr>
          <a:lstStyle/>
          <a:p>
            <a:pPr algn="l">
              <a:lnSpc>
                <a:spcPts val="2659"/>
              </a:lnSpc>
            </a:pPr>
            <a:r>
              <a:rPr lang="en-US" sz="1899" b="true">
                <a:solidFill>
                  <a:srgbClr val="000000"/>
                </a:solidFill>
                <a:latin typeface="Poppins Bold"/>
                <a:ea typeface="Poppins Bold"/>
                <a:cs typeface="Poppins Bold"/>
                <a:sym typeface="Poppins Bold"/>
              </a:rPr>
              <a:t>DTI&gt;35% = Danger Zone</a:t>
            </a:r>
          </a:p>
          <a:p>
            <a:pPr algn="l">
              <a:lnSpc>
                <a:spcPts val="2520"/>
              </a:lnSpc>
            </a:pPr>
            <a:r>
              <a:rPr lang="en-US" sz="1800">
                <a:solidFill>
                  <a:srgbClr val="000000"/>
                </a:solidFill>
                <a:latin typeface="Poppins"/>
                <a:ea typeface="Poppins"/>
                <a:cs typeface="Poppins"/>
                <a:sym typeface="Poppins"/>
              </a:rPr>
              <a:t>Borrowers with DTI above 35% have a default rate of 71%.</a:t>
            </a:r>
          </a:p>
          <a:p>
            <a:pPr algn="l">
              <a:lnSpc>
                <a:spcPts val="2520"/>
              </a:lnSpc>
              <a:spcBef>
                <a:spcPct val="0"/>
              </a:spcBef>
            </a:pPr>
          </a:p>
        </p:txBody>
      </p:sp>
      <p:sp>
        <p:nvSpPr>
          <p:cNvPr name="TextBox 45" id="45"/>
          <p:cNvSpPr txBox="true"/>
          <p:nvPr/>
        </p:nvSpPr>
        <p:spPr>
          <a:xfrm rot="0">
            <a:off x="13850341" y="4711440"/>
            <a:ext cx="3776326" cy="1619939"/>
          </a:xfrm>
          <a:prstGeom prst="rect">
            <a:avLst/>
          </a:prstGeom>
        </p:spPr>
        <p:txBody>
          <a:bodyPr anchor="t" rtlCol="false" tIns="0" lIns="0" bIns="0" rIns="0">
            <a:spAutoFit/>
          </a:bodyPr>
          <a:lstStyle/>
          <a:p>
            <a:pPr algn="l">
              <a:lnSpc>
                <a:spcPts val="2659"/>
              </a:lnSpc>
            </a:pPr>
            <a:r>
              <a:rPr lang="en-US" sz="1899" b="true">
                <a:solidFill>
                  <a:srgbClr val="000000"/>
                </a:solidFill>
                <a:latin typeface="Poppins Bold"/>
                <a:ea typeface="Poppins Bold"/>
                <a:cs typeface="Poppins Bold"/>
                <a:sym typeface="Poppins Bold"/>
              </a:rPr>
              <a:t>Debtconsolidation: Highest Risk</a:t>
            </a:r>
          </a:p>
          <a:p>
            <a:pPr algn="l">
              <a:lnSpc>
                <a:spcPts val="2520"/>
              </a:lnSpc>
              <a:spcBef>
                <a:spcPct val="0"/>
              </a:spcBef>
            </a:pPr>
            <a:r>
              <a:rPr lang="en-US" sz="1800">
                <a:solidFill>
                  <a:srgbClr val="000000"/>
                </a:solidFill>
                <a:latin typeface="Poppins"/>
                <a:ea typeface="Poppins"/>
                <a:cs typeface="Poppins"/>
                <a:sym typeface="Poppins"/>
              </a:rPr>
              <a:t>Has the highest default rate at 28.3% comnpared to Venture at 14.6%</a:t>
            </a:r>
          </a:p>
        </p:txBody>
      </p:sp>
      <p:sp>
        <p:nvSpPr>
          <p:cNvPr name="TextBox 46" id="46"/>
          <p:cNvSpPr txBox="true"/>
          <p:nvPr/>
        </p:nvSpPr>
        <p:spPr>
          <a:xfrm rot="0">
            <a:off x="2733071" y="6876760"/>
            <a:ext cx="3608191" cy="1619944"/>
          </a:xfrm>
          <a:prstGeom prst="rect">
            <a:avLst/>
          </a:prstGeom>
        </p:spPr>
        <p:txBody>
          <a:bodyPr anchor="t" rtlCol="false" tIns="0" lIns="0" bIns="0" rIns="0">
            <a:spAutoFit/>
          </a:bodyPr>
          <a:lstStyle/>
          <a:p>
            <a:pPr algn="l">
              <a:lnSpc>
                <a:spcPts val="2659"/>
              </a:lnSpc>
            </a:pPr>
            <a:r>
              <a:rPr lang="en-US" sz="1899" b="true">
                <a:solidFill>
                  <a:srgbClr val="000000"/>
                </a:solidFill>
                <a:latin typeface="Poppins Bold"/>
                <a:ea typeface="Poppins Bold"/>
                <a:cs typeface="Poppins Bold"/>
                <a:sym typeface="Poppins Bold"/>
              </a:rPr>
              <a:t>K Means Segmentation Based Credit Policy</a:t>
            </a:r>
          </a:p>
          <a:p>
            <a:pPr algn="l">
              <a:lnSpc>
                <a:spcPts val="2519"/>
              </a:lnSpc>
              <a:spcBef>
                <a:spcPct val="0"/>
              </a:spcBef>
            </a:pPr>
            <a:r>
              <a:rPr lang="en-US" sz="1799">
                <a:solidFill>
                  <a:srgbClr val="000000"/>
                </a:solidFill>
                <a:latin typeface="Poppins"/>
                <a:ea typeface="Poppins"/>
                <a:cs typeface="Poppins"/>
                <a:sym typeface="Poppins"/>
              </a:rPr>
              <a:t>Segments A-B receive expedited approval, sgements C-D require mandatory review.</a:t>
            </a:r>
          </a:p>
        </p:txBody>
      </p:sp>
      <p:sp>
        <p:nvSpPr>
          <p:cNvPr name="TextBox 47" id="47"/>
          <p:cNvSpPr txBox="true"/>
          <p:nvPr/>
        </p:nvSpPr>
        <p:spPr>
          <a:xfrm rot="0">
            <a:off x="8255263" y="6843905"/>
            <a:ext cx="3776326" cy="1600912"/>
          </a:xfrm>
          <a:prstGeom prst="rect">
            <a:avLst/>
          </a:prstGeom>
        </p:spPr>
        <p:txBody>
          <a:bodyPr anchor="t" rtlCol="false" tIns="0" lIns="0" bIns="0" rIns="0">
            <a:spAutoFit/>
          </a:bodyPr>
          <a:lstStyle/>
          <a:p>
            <a:pPr algn="l">
              <a:lnSpc>
                <a:spcPts val="2659"/>
              </a:lnSpc>
            </a:pPr>
            <a:r>
              <a:rPr lang="en-US" sz="1899" b="true">
                <a:solidFill>
                  <a:srgbClr val="000000"/>
                </a:solidFill>
                <a:latin typeface="Poppins Bold"/>
                <a:ea typeface="Poppins Bold"/>
                <a:cs typeface="Poppins Bold"/>
                <a:sym typeface="Poppins Bold"/>
              </a:rPr>
              <a:t>Rent Status: Highest Risk</a:t>
            </a:r>
          </a:p>
          <a:p>
            <a:pPr algn="l">
              <a:lnSpc>
                <a:spcPts val="2519"/>
              </a:lnSpc>
              <a:spcBef>
                <a:spcPct val="0"/>
              </a:spcBef>
            </a:pPr>
            <a:r>
              <a:rPr lang="en-US" sz="1799">
                <a:solidFill>
                  <a:srgbClr val="000000"/>
                </a:solidFill>
                <a:latin typeface="Poppins"/>
                <a:ea typeface="Poppins"/>
                <a:cs typeface="Poppins"/>
                <a:sym typeface="Poppins"/>
              </a:rPr>
              <a:t>Borrowers with Rent status have a default rate of 31%. Notably, Mortgage borrowers have a default rate of only 12%.</a:t>
            </a:r>
          </a:p>
        </p:txBody>
      </p:sp>
      <p:sp>
        <p:nvSpPr>
          <p:cNvPr name="TextBox 48" id="48"/>
          <p:cNvSpPr txBox="true"/>
          <p:nvPr/>
        </p:nvSpPr>
        <p:spPr>
          <a:xfrm rot="0">
            <a:off x="13832736" y="6843905"/>
            <a:ext cx="3717730" cy="1277737"/>
          </a:xfrm>
          <a:prstGeom prst="rect">
            <a:avLst/>
          </a:prstGeom>
        </p:spPr>
        <p:txBody>
          <a:bodyPr anchor="t" rtlCol="false" tIns="0" lIns="0" bIns="0" rIns="0">
            <a:spAutoFit/>
          </a:bodyPr>
          <a:lstStyle/>
          <a:p>
            <a:pPr algn="l">
              <a:lnSpc>
                <a:spcPts val="2618"/>
              </a:lnSpc>
            </a:pPr>
            <a:r>
              <a:rPr lang="en-US" sz="1870" b="true">
                <a:solidFill>
                  <a:srgbClr val="000000"/>
                </a:solidFill>
                <a:latin typeface="Poppins Bold"/>
                <a:ea typeface="Poppins Bold"/>
                <a:cs typeface="Poppins Bold"/>
                <a:sym typeface="Poppins Bold"/>
              </a:rPr>
              <a:t>Non Default Income is Higher</a:t>
            </a:r>
          </a:p>
          <a:p>
            <a:pPr algn="l">
              <a:lnSpc>
                <a:spcPts val="2480"/>
              </a:lnSpc>
              <a:spcBef>
                <a:spcPct val="0"/>
              </a:spcBef>
            </a:pPr>
            <a:r>
              <a:rPr lang="en-US" sz="1771">
                <a:solidFill>
                  <a:srgbClr val="000000"/>
                </a:solidFill>
                <a:latin typeface="Poppins"/>
                <a:ea typeface="Poppins"/>
                <a:cs typeface="Poppins"/>
                <a:sym typeface="Poppins"/>
              </a:rPr>
              <a:t>Non default borrowers have a median income 0f $60,000 vs $42,000 for defaulting borrowers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83551" y="1828782"/>
            <a:ext cx="4717618" cy="3246315"/>
          </a:xfrm>
          <a:custGeom>
            <a:avLst/>
            <a:gdLst/>
            <a:ahLst/>
            <a:cxnLst/>
            <a:rect r="r" b="b" t="t" l="l"/>
            <a:pathLst>
              <a:path h="3246315" w="4717618">
                <a:moveTo>
                  <a:pt x="0" y="0"/>
                </a:moveTo>
                <a:lnTo>
                  <a:pt x="4717618" y="0"/>
                </a:lnTo>
                <a:lnTo>
                  <a:pt x="4717618" y="3246315"/>
                </a:lnTo>
                <a:lnTo>
                  <a:pt x="0" y="3246315"/>
                </a:lnTo>
                <a:lnTo>
                  <a:pt x="0" y="0"/>
                </a:lnTo>
                <a:close/>
              </a:path>
            </a:pathLst>
          </a:custGeom>
          <a:blipFill>
            <a:blip r:embed="rId3"/>
            <a:stretch>
              <a:fillRect l="-1589" t="0" r="-1589" b="-3178"/>
            </a:stretch>
          </a:blipFill>
        </p:spPr>
      </p:sp>
      <p:sp>
        <p:nvSpPr>
          <p:cNvPr name="Freeform 4" id="4"/>
          <p:cNvSpPr/>
          <p:nvPr/>
        </p:nvSpPr>
        <p:spPr>
          <a:xfrm flipH="false" flipV="false" rot="0">
            <a:off x="6059162" y="1828782"/>
            <a:ext cx="4950659" cy="3246315"/>
          </a:xfrm>
          <a:custGeom>
            <a:avLst/>
            <a:gdLst/>
            <a:ahLst/>
            <a:cxnLst/>
            <a:rect r="r" b="b" t="t" l="l"/>
            <a:pathLst>
              <a:path h="3246315" w="4950659">
                <a:moveTo>
                  <a:pt x="0" y="0"/>
                </a:moveTo>
                <a:lnTo>
                  <a:pt x="4950659" y="0"/>
                </a:lnTo>
                <a:lnTo>
                  <a:pt x="4950659" y="3246315"/>
                </a:lnTo>
                <a:lnTo>
                  <a:pt x="0" y="3246315"/>
                </a:lnTo>
                <a:lnTo>
                  <a:pt x="0" y="0"/>
                </a:lnTo>
                <a:close/>
              </a:path>
            </a:pathLst>
          </a:custGeom>
          <a:blipFill>
            <a:blip r:embed="rId4"/>
            <a:stretch>
              <a:fillRect l="0" t="-2469" r="0" b="-2469"/>
            </a:stretch>
          </a:blipFill>
        </p:spPr>
      </p:sp>
      <p:sp>
        <p:nvSpPr>
          <p:cNvPr name="Freeform 5" id="5"/>
          <p:cNvSpPr/>
          <p:nvPr/>
        </p:nvSpPr>
        <p:spPr>
          <a:xfrm flipH="false" flipV="false" rot="0">
            <a:off x="383551" y="5332272"/>
            <a:ext cx="10626270" cy="4029178"/>
          </a:xfrm>
          <a:custGeom>
            <a:avLst/>
            <a:gdLst/>
            <a:ahLst/>
            <a:cxnLst/>
            <a:rect r="r" b="b" t="t" l="l"/>
            <a:pathLst>
              <a:path h="4029178" w="10626270">
                <a:moveTo>
                  <a:pt x="0" y="0"/>
                </a:moveTo>
                <a:lnTo>
                  <a:pt x="10626270" y="0"/>
                </a:lnTo>
                <a:lnTo>
                  <a:pt x="10626270" y="4029178"/>
                </a:lnTo>
                <a:lnTo>
                  <a:pt x="0" y="4029178"/>
                </a:lnTo>
                <a:lnTo>
                  <a:pt x="0" y="0"/>
                </a:lnTo>
                <a:close/>
              </a:path>
            </a:pathLst>
          </a:custGeom>
          <a:blipFill>
            <a:blip r:embed="rId5"/>
            <a:stretch>
              <a:fillRect l="0" t="0" r="-783" b="0"/>
            </a:stretch>
          </a:blipFill>
        </p:spPr>
      </p:sp>
      <p:sp>
        <p:nvSpPr>
          <p:cNvPr name="AutoShape 6" id="6"/>
          <p:cNvSpPr/>
          <p:nvPr/>
        </p:nvSpPr>
        <p:spPr>
          <a:xfrm>
            <a:off x="3385197" y="5770013"/>
            <a:ext cx="1997873" cy="0"/>
          </a:xfrm>
          <a:prstGeom prst="line">
            <a:avLst/>
          </a:prstGeom>
          <a:ln cap="flat" w="171450">
            <a:solidFill>
              <a:srgbClr val="000000"/>
            </a:solidFill>
            <a:prstDash val="solid"/>
            <a:headEnd type="none" len="sm" w="sm"/>
            <a:tailEnd type="none" len="sm" w="sm"/>
          </a:ln>
        </p:spPr>
      </p:sp>
      <p:sp>
        <p:nvSpPr>
          <p:cNvPr name="AutoShape 7" id="7"/>
          <p:cNvSpPr/>
          <p:nvPr/>
        </p:nvSpPr>
        <p:spPr>
          <a:xfrm>
            <a:off x="6221369" y="5770013"/>
            <a:ext cx="1997873" cy="0"/>
          </a:xfrm>
          <a:prstGeom prst="line">
            <a:avLst/>
          </a:prstGeom>
          <a:ln cap="flat" w="161925">
            <a:solidFill>
              <a:srgbClr val="000000"/>
            </a:solidFill>
            <a:prstDash val="solid"/>
            <a:headEnd type="none" len="sm" w="sm"/>
            <a:tailEnd type="none" len="sm" w="sm"/>
          </a:ln>
        </p:spPr>
      </p:sp>
      <p:sp>
        <p:nvSpPr>
          <p:cNvPr name="TextBox 8" id="8"/>
          <p:cNvSpPr txBox="true"/>
          <p:nvPr/>
        </p:nvSpPr>
        <p:spPr>
          <a:xfrm rot="0">
            <a:off x="1054471" y="676275"/>
            <a:ext cx="12798090" cy="1095357"/>
          </a:xfrm>
          <a:prstGeom prst="rect">
            <a:avLst/>
          </a:prstGeom>
        </p:spPr>
        <p:txBody>
          <a:bodyPr anchor="t" rtlCol="false" tIns="0" lIns="0" bIns="0" rIns="0">
            <a:spAutoFit/>
          </a:bodyPr>
          <a:lstStyle/>
          <a:p>
            <a:pPr algn="l" marL="0" indent="0" lvl="1">
              <a:lnSpc>
                <a:spcPts val="8400"/>
              </a:lnSpc>
              <a:spcBef>
                <a:spcPct val="0"/>
              </a:spcBef>
            </a:pPr>
            <a:r>
              <a:rPr lang="en-US" b="true" sz="6000">
                <a:solidFill>
                  <a:srgbClr val="FFFFFF"/>
                </a:solidFill>
                <a:latin typeface="Poppins Bold"/>
                <a:ea typeface="Poppins Bold"/>
                <a:cs typeface="Poppins Bold"/>
                <a:sym typeface="Poppins Bold"/>
              </a:rPr>
              <a:t>EDA Default Rate by Loan Grade</a:t>
            </a:r>
          </a:p>
        </p:txBody>
      </p:sp>
      <p:sp>
        <p:nvSpPr>
          <p:cNvPr name="TextBox 9" id="9"/>
          <p:cNvSpPr txBox="true"/>
          <p:nvPr/>
        </p:nvSpPr>
        <p:spPr>
          <a:xfrm rot="0">
            <a:off x="11330374" y="1704957"/>
            <a:ext cx="6566134" cy="9424792"/>
          </a:xfrm>
          <a:prstGeom prst="rect">
            <a:avLst/>
          </a:prstGeom>
        </p:spPr>
        <p:txBody>
          <a:bodyPr anchor="t" rtlCol="false" tIns="0" lIns="0" bIns="0" rIns="0">
            <a:spAutoFit/>
          </a:bodyPr>
          <a:lstStyle/>
          <a:p>
            <a:pPr algn="l">
              <a:lnSpc>
                <a:spcPts val="2924"/>
              </a:lnSpc>
            </a:pPr>
            <a:r>
              <a:rPr lang="en-US" sz="2088">
                <a:solidFill>
                  <a:srgbClr val="FFFFFF"/>
                </a:solidFill>
                <a:latin typeface="Poppins"/>
                <a:ea typeface="Poppins"/>
                <a:cs typeface="Poppins"/>
                <a:sym typeface="Poppins"/>
              </a:rPr>
              <a:t>Insight :</a:t>
            </a: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There is an extreme jump between Grade C and Grade D, from 20.3% to 58.8%, </a:t>
            </a:r>
            <a:r>
              <a:rPr lang="en-US" sz="2088">
                <a:solidFill>
                  <a:srgbClr val="FFFFFF"/>
                </a:solidFill>
                <a:latin typeface="Poppins"/>
                <a:ea typeface="Poppins"/>
                <a:cs typeface="Poppins"/>
                <a:sym typeface="Poppins"/>
              </a:rPr>
              <a:t>signaling a drastic decline in borrower quality.</a:t>
            </a:r>
          </a:p>
          <a:p>
            <a:pPr algn="l">
              <a:lnSpc>
                <a:spcPts val="2924"/>
              </a:lnSpc>
              <a:spcBef>
                <a:spcPct val="0"/>
              </a:spcBef>
            </a:pPr>
          </a:p>
          <a:p>
            <a:pPr algn="l">
              <a:lnSpc>
                <a:spcPts val="2924"/>
              </a:lnSpc>
              <a:spcBef>
                <a:spcPct val="0"/>
              </a:spcBef>
            </a:pPr>
          </a:p>
          <a:p>
            <a:pPr algn="l" marL="450935" indent="-225468" lvl="1">
              <a:lnSpc>
                <a:spcPts val="2924"/>
              </a:lnSpc>
              <a:spcBef>
                <a:spcPct val="0"/>
              </a:spcBef>
              <a:buFont typeface="Arial"/>
              <a:buChar char="•"/>
            </a:pPr>
            <a:r>
              <a:rPr lang="en-US" b="true" sz="2088">
                <a:solidFill>
                  <a:srgbClr val="FFFFFF"/>
                </a:solidFill>
                <a:latin typeface="Poppins Bold"/>
                <a:ea typeface="Poppins Bold"/>
                <a:cs typeface="Poppins Bold"/>
                <a:sym typeface="Poppins Bold"/>
              </a:rPr>
              <a:t>Grade D and below require greater deep investigation</a:t>
            </a:r>
            <a:r>
              <a:rPr lang="en-US" sz="2088">
                <a:solidFill>
                  <a:srgbClr val="FFFFFF"/>
                </a:solidFill>
                <a:latin typeface="Poppins"/>
                <a:ea typeface="Poppins"/>
                <a:cs typeface="Poppins"/>
                <a:sym typeface="Poppins"/>
              </a:rPr>
              <a:t>, as the risk carry has entered the extreme category.</a:t>
            </a: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54471" y="1800207"/>
            <a:ext cx="6073789" cy="3309430"/>
          </a:xfrm>
          <a:custGeom>
            <a:avLst/>
            <a:gdLst/>
            <a:ahLst/>
            <a:cxnLst/>
            <a:rect r="r" b="b" t="t" l="l"/>
            <a:pathLst>
              <a:path h="3309430" w="6073789">
                <a:moveTo>
                  <a:pt x="0" y="0"/>
                </a:moveTo>
                <a:lnTo>
                  <a:pt x="6073789" y="0"/>
                </a:lnTo>
                <a:lnTo>
                  <a:pt x="6073789" y="3309430"/>
                </a:lnTo>
                <a:lnTo>
                  <a:pt x="0" y="3309430"/>
                </a:lnTo>
                <a:lnTo>
                  <a:pt x="0" y="0"/>
                </a:lnTo>
                <a:close/>
              </a:path>
            </a:pathLst>
          </a:custGeom>
          <a:blipFill>
            <a:blip r:embed="rId3"/>
            <a:stretch>
              <a:fillRect l="0" t="0" r="-3103" b="0"/>
            </a:stretch>
          </a:blipFill>
        </p:spPr>
      </p:sp>
      <p:sp>
        <p:nvSpPr>
          <p:cNvPr name="Freeform 4" id="4"/>
          <p:cNvSpPr/>
          <p:nvPr/>
        </p:nvSpPr>
        <p:spPr>
          <a:xfrm flipH="false" flipV="false" rot="0">
            <a:off x="1028700" y="5109637"/>
            <a:ext cx="8115300" cy="4357733"/>
          </a:xfrm>
          <a:custGeom>
            <a:avLst/>
            <a:gdLst/>
            <a:ahLst/>
            <a:cxnLst/>
            <a:rect r="r" b="b" t="t" l="l"/>
            <a:pathLst>
              <a:path h="4357733" w="8115300">
                <a:moveTo>
                  <a:pt x="0" y="0"/>
                </a:moveTo>
                <a:lnTo>
                  <a:pt x="8115300" y="0"/>
                </a:lnTo>
                <a:lnTo>
                  <a:pt x="8115300" y="4357734"/>
                </a:lnTo>
                <a:lnTo>
                  <a:pt x="0" y="4357734"/>
                </a:lnTo>
                <a:lnTo>
                  <a:pt x="0" y="0"/>
                </a:lnTo>
                <a:close/>
              </a:path>
            </a:pathLst>
          </a:custGeom>
          <a:blipFill>
            <a:blip r:embed="rId4"/>
            <a:stretch>
              <a:fillRect l="0" t="0" r="0" b="0"/>
            </a:stretch>
          </a:blipFill>
        </p:spPr>
      </p:sp>
      <p:sp>
        <p:nvSpPr>
          <p:cNvPr name="TextBox 5" id="5"/>
          <p:cNvSpPr txBox="true"/>
          <p:nvPr/>
        </p:nvSpPr>
        <p:spPr>
          <a:xfrm rot="0">
            <a:off x="1054471" y="647700"/>
            <a:ext cx="12798090" cy="1095357"/>
          </a:xfrm>
          <a:prstGeom prst="rect">
            <a:avLst/>
          </a:prstGeom>
        </p:spPr>
        <p:txBody>
          <a:bodyPr anchor="t" rtlCol="false" tIns="0" lIns="0" bIns="0" rIns="0">
            <a:spAutoFit/>
          </a:bodyPr>
          <a:lstStyle/>
          <a:p>
            <a:pPr algn="l" marL="0" indent="0" lvl="1">
              <a:lnSpc>
                <a:spcPts val="8400"/>
              </a:lnSpc>
              <a:spcBef>
                <a:spcPct val="0"/>
              </a:spcBef>
            </a:pPr>
            <a:r>
              <a:rPr lang="en-US" b="true" sz="6000">
                <a:solidFill>
                  <a:srgbClr val="FFFFFF"/>
                </a:solidFill>
                <a:latin typeface="Poppins Bold"/>
                <a:ea typeface="Poppins Bold"/>
                <a:cs typeface="Poppins Bold"/>
                <a:sym typeface="Poppins Bold"/>
              </a:rPr>
              <a:t>EDA Default Rate by Intent</a:t>
            </a:r>
          </a:p>
        </p:txBody>
      </p:sp>
      <p:sp>
        <p:nvSpPr>
          <p:cNvPr name="TextBox 6" id="6"/>
          <p:cNvSpPr txBox="true"/>
          <p:nvPr/>
        </p:nvSpPr>
        <p:spPr>
          <a:xfrm rot="0">
            <a:off x="10693166" y="1676382"/>
            <a:ext cx="6566134" cy="13044473"/>
          </a:xfrm>
          <a:prstGeom prst="rect">
            <a:avLst/>
          </a:prstGeom>
        </p:spPr>
        <p:txBody>
          <a:bodyPr anchor="t" rtlCol="false" tIns="0" lIns="0" bIns="0" rIns="0">
            <a:spAutoFit/>
          </a:bodyPr>
          <a:lstStyle/>
          <a:p>
            <a:pPr algn="l">
              <a:lnSpc>
                <a:spcPts val="2924"/>
              </a:lnSpc>
            </a:pPr>
            <a:r>
              <a:rPr lang="en-US" sz="2088">
                <a:solidFill>
                  <a:srgbClr val="FFFFFF"/>
                </a:solidFill>
                <a:latin typeface="Poppins"/>
                <a:ea typeface="Poppins"/>
                <a:cs typeface="Poppins"/>
                <a:sym typeface="Poppins"/>
              </a:rPr>
              <a:t>Insight :</a:t>
            </a: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Debt consolidation is the riskiest intent (28.3%).</a:t>
            </a:r>
            <a:r>
              <a:rPr lang="en-US" sz="2088">
                <a:solidFill>
                  <a:srgbClr val="FFFFFF"/>
                </a:solidFill>
                <a:latin typeface="Poppins"/>
                <a:ea typeface="Poppins"/>
                <a:cs typeface="Poppins"/>
                <a:sym typeface="Poppins"/>
              </a:rPr>
              <a:t> Borrowers taking loans to repay other debts are already in a financially critical condition</a:t>
            </a: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The loan median is nearly identical across all categories ($8,000-$9,000), </a:t>
            </a:r>
            <a:r>
              <a:rPr lang="en-US" sz="2088">
                <a:solidFill>
                  <a:srgbClr val="FFFFFF"/>
                </a:solidFill>
                <a:latin typeface="Poppins"/>
                <a:ea typeface="Poppins"/>
                <a:cs typeface="Poppins"/>
                <a:sym typeface="Poppins"/>
              </a:rPr>
              <a:t>meaning differences in default rates across loan purposes are</a:t>
            </a:r>
            <a:r>
              <a:rPr lang="en-US" b="true" sz="2088">
                <a:solidFill>
                  <a:srgbClr val="FFFFFF"/>
                </a:solidFill>
                <a:latin typeface="Poppins Bold"/>
                <a:ea typeface="Poppins Bold"/>
                <a:cs typeface="Poppins Bold"/>
                <a:sym typeface="Poppins Bold"/>
              </a:rPr>
              <a:t> not driven by loan size, but by the distinct financial characteristics</a:t>
            </a:r>
            <a:r>
              <a:rPr lang="en-US" sz="2088">
                <a:solidFill>
                  <a:srgbClr val="FFFFFF"/>
                </a:solidFill>
                <a:latin typeface="Poppins"/>
                <a:ea typeface="Poppins"/>
                <a:cs typeface="Poppins"/>
                <a:sym typeface="Poppins"/>
              </a:rPr>
              <a:t> of borrowers with different intents.</a:t>
            </a:r>
          </a:p>
          <a:p>
            <a:pPr algn="l">
              <a:lnSpc>
                <a:spcPts val="2924"/>
              </a:lnSpc>
            </a:pP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Debt consolidation and medical</a:t>
            </a:r>
            <a:r>
              <a:rPr lang="en-US" sz="2088">
                <a:solidFill>
                  <a:srgbClr val="FFFFFF"/>
                </a:solidFill>
                <a:latin typeface="Poppins"/>
                <a:ea typeface="Poppins"/>
                <a:cs typeface="Poppins"/>
                <a:sym typeface="Poppins"/>
              </a:rPr>
              <a:t> </a:t>
            </a:r>
            <a:r>
              <a:rPr lang="en-US" sz="2088">
                <a:solidFill>
                  <a:srgbClr val="FFFFFF"/>
                </a:solidFill>
                <a:latin typeface="Poppins"/>
                <a:ea typeface="Poppins"/>
                <a:cs typeface="Poppins"/>
                <a:sym typeface="Poppins"/>
              </a:rPr>
              <a:t>loan a</a:t>
            </a:r>
            <a:r>
              <a:rPr lang="en-US" sz="2088">
                <a:solidFill>
                  <a:srgbClr val="FFFFFF"/>
                </a:solidFill>
                <a:latin typeface="Poppins"/>
                <a:ea typeface="Poppins"/>
                <a:cs typeface="Poppins"/>
                <a:sym typeface="Poppins"/>
              </a:rPr>
              <a:t>p</a:t>
            </a:r>
            <a:r>
              <a:rPr lang="en-US" sz="2088">
                <a:solidFill>
                  <a:srgbClr val="FFFFFF"/>
                </a:solidFill>
                <a:latin typeface="Poppins"/>
                <a:ea typeface="Poppins"/>
                <a:cs typeface="Poppins"/>
                <a:sym typeface="Poppins"/>
              </a:rPr>
              <a:t>p</a:t>
            </a:r>
            <a:r>
              <a:rPr lang="en-US" sz="2088">
                <a:solidFill>
                  <a:srgbClr val="FFFFFF"/>
                </a:solidFill>
                <a:latin typeface="Poppins"/>
                <a:ea typeface="Poppins"/>
                <a:cs typeface="Poppins"/>
                <a:sym typeface="Poppins"/>
              </a:rPr>
              <a:t>l</a:t>
            </a:r>
            <a:r>
              <a:rPr lang="en-US" sz="2088">
                <a:solidFill>
                  <a:srgbClr val="FFFFFF"/>
                </a:solidFill>
                <a:latin typeface="Poppins"/>
                <a:ea typeface="Poppins"/>
                <a:cs typeface="Poppins"/>
                <a:sym typeface="Poppins"/>
              </a:rPr>
              <a:t>icants</a:t>
            </a:r>
            <a:r>
              <a:rPr lang="en-US" sz="2088">
                <a:solidFill>
                  <a:srgbClr val="FFFFFF"/>
                </a:solidFill>
                <a:latin typeface="Poppins"/>
                <a:ea typeface="Poppins"/>
                <a:cs typeface="Poppins"/>
                <a:sym typeface="Poppins"/>
              </a:rPr>
              <a:t> re</a:t>
            </a:r>
            <a:r>
              <a:rPr lang="en-US" sz="2088">
                <a:solidFill>
                  <a:srgbClr val="FFFFFF"/>
                </a:solidFill>
                <a:latin typeface="Poppins"/>
                <a:ea typeface="Poppins"/>
                <a:cs typeface="Poppins"/>
                <a:sym typeface="Poppins"/>
              </a:rPr>
              <a:t>qu</a:t>
            </a:r>
            <a:r>
              <a:rPr lang="en-US" sz="2088">
                <a:solidFill>
                  <a:srgbClr val="FFFFFF"/>
                </a:solidFill>
                <a:latin typeface="Poppins"/>
                <a:ea typeface="Poppins"/>
                <a:cs typeface="Poppins"/>
                <a:sym typeface="Poppins"/>
              </a:rPr>
              <a:t>i</a:t>
            </a:r>
            <a:r>
              <a:rPr lang="en-US" sz="2088">
                <a:solidFill>
                  <a:srgbClr val="FFFFFF"/>
                </a:solidFill>
                <a:latin typeface="Poppins"/>
                <a:ea typeface="Poppins"/>
                <a:cs typeface="Poppins"/>
                <a:sym typeface="Poppins"/>
              </a:rPr>
              <a:t>r</a:t>
            </a:r>
            <a:r>
              <a:rPr lang="en-US" sz="2088">
                <a:solidFill>
                  <a:srgbClr val="FFFFFF"/>
                </a:solidFill>
                <a:latin typeface="Poppins"/>
                <a:ea typeface="Poppins"/>
                <a:cs typeface="Poppins"/>
                <a:sym typeface="Poppins"/>
              </a:rPr>
              <a:t>e</a:t>
            </a:r>
            <a:r>
              <a:rPr lang="en-US" sz="2088">
                <a:solidFill>
                  <a:srgbClr val="FFFFFF"/>
                </a:solidFill>
                <a:latin typeface="Poppins"/>
                <a:ea typeface="Poppins"/>
                <a:cs typeface="Poppins"/>
                <a:sym typeface="Poppins"/>
              </a:rPr>
              <a:t> stricter borro</a:t>
            </a:r>
            <a:r>
              <a:rPr lang="en-US" sz="2088">
                <a:solidFill>
                  <a:srgbClr val="FFFFFF"/>
                </a:solidFill>
                <a:latin typeface="Poppins"/>
                <a:ea typeface="Poppins"/>
                <a:cs typeface="Poppins"/>
                <a:sym typeface="Poppins"/>
              </a:rPr>
              <a:t>w</a:t>
            </a:r>
            <a:r>
              <a:rPr lang="en-US" sz="2088">
                <a:solidFill>
                  <a:srgbClr val="FFFFFF"/>
                </a:solidFill>
                <a:latin typeface="Poppins"/>
                <a:ea typeface="Poppins"/>
                <a:cs typeface="Poppins"/>
                <a:sym typeface="Poppins"/>
              </a:rPr>
              <a:t>er</a:t>
            </a:r>
            <a:r>
              <a:rPr lang="en-US" sz="2088">
                <a:solidFill>
                  <a:srgbClr val="FFFFFF"/>
                </a:solidFill>
                <a:latin typeface="Poppins"/>
                <a:ea typeface="Poppins"/>
                <a:cs typeface="Poppins"/>
                <a:sym typeface="Poppins"/>
              </a:rPr>
              <a:t> profile </a:t>
            </a:r>
            <a:r>
              <a:rPr lang="en-US" sz="2088">
                <a:solidFill>
                  <a:srgbClr val="FFFFFF"/>
                </a:solidFill>
                <a:latin typeface="Poppins"/>
                <a:ea typeface="Poppins"/>
                <a:cs typeface="Poppins"/>
                <a:sym typeface="Poppins"/>
              </a:rPr>
              <a:t>r</a:t>
            </a:r>
            <a:r>
              <a:rPr lang="en-US" sz="2088">
                <a:solidFill>
                  <a:srgbClr val="FFFFFF"/>
                </a:solidFill>
                <a:latin typeface="Poppins"/>
                <a:ea typeface="Poppins"/>
                <a:cs typeface="Poppins"/>
                <a:sym typeface="Poppins"/>
              </a:rPr>
              <a:t>e</a:t>
            </a:r>
            <a:r>
              <a:rPr lang="en-US" sz="2088">
                <a:solidFill>
                  <a:srgbClr val="FFFFFF"/>
                </a:solidFill>
                <a:latin typeface="Poppins"/>
                <a:ea typeface="Poppins"/>
                <a:cs typeface="Poppins"/>
                <a:sym typeface="Poppins"/>
              </a:rPr>
              <a:t>v</a:t>
            </a:r>
            <a:r>
              <a:rPr lang="en-US" sz="2088">
                <a:solidFill>
                  <a:srgbClr val="FFFFFF"/>
                </a:solidFill>
                <a:latin typeface="Poppins"/>
                <a:ea typeface="Poppins"/>
                <a:cs typeface="Poppins"/>
                <a:sym typeface="Poppins"/>
              </a:rPr>
              <a:t>ie</a:t>
            </a:r>
            <a:r>
              <a:rPr lang="en-US" sz="2088">
                <a:solidFill>
                  <a:srgbClr val="FFFFFF"/>
                </a:solidFill>
                <a:latin typeface="Poppins"/>
                <a:ea typeface="Poppins"/>
                <a:cs typeface="Poppins"/>
                <a:sym typeface="Poppins"/>
              </a:rPr>
              <a:t>ws, as their financial conditions are more vulnerable.</a:t>
            </a:r>
          </a:p>
          <a:p>
            <a:pPr algn="l">
              <a:lnSpc>
                <a:spcPts val="2924"/>
              </a:lnSpc>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p:txBody>
      </p:sp>
      <p:sp>
        <p:nvSpPr>
          <p:cNvPr name="AutoShape 7" id="7"/>
          <p:cNvSpPr/>
          <p:nvPr/>
        </p:nvSpPr>
        <p:spPr>
          <a:xfrm>
            <a:off x="2892799" y="5418521"/>
            <a:ext cx="1081550" cy="0"/>
          </a:xfrm>
          <a:prstGeom prst="line">
            <a:avLst/>
          </a:prstGeom>
          <a:ln cap="flat" w="57150">
            <a:solidFill>
              <a:srgbClr val="000000"/>
            </a:solidFill>
            <a:prstDash val="solid"/>
            <a:headEnd type="none" len="sm" w="sm"/>
            <a:tailEnd type="none" len="sm" w="sm"/>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28700" y="6356715"/>
            <a:ext cx="9159609" cy="2582053"/>
          </a:xfrm>
          <a:custGeom>
            <a:avLst/>
            <a:gdLst/>
            <a:ahLst/>
            <a:cxnLst/>
            <a:rect r="r" b="b" t="t" l="l"/>
            <a:pathLst>
              <a:path h="2582053" w="9159609">
                <a:moveTo>
                  <a:pt x="0" y="0"/>
                </a:moveTo>
                <a:lnTo>
                  <a:pt x="9159609" y="0"/>
                </a:lnTo>
                <a:lnTo>
                  <a:pt x="9159609" y="2582052"/>
                </a:lnTo>
                <a:lnTo>
                  <a:pt x="0" y="2582052"/>
                </a:lnTo>
                <a:lnTo>
                  <a:pt x="0" y="0"/>
                </a:lnTo>
                <a:close/>
              </a:path>
            </a:pathLst>
          </a:custGeom>
          <a:blipFill>
            <a:blip r:embed="rId3"/>
            <a:stretch>
              <a:fillRect l="0" t="0" r="0" b="0"/>
            </a:stretch>
          </a:blipFill>
        </p:spPr>
      </p:sp>
      <p:sp>
        <p:nvSpPr>
          <p:cNvPr name="Freeform 4" id="4"/>
          <p:cNvSpPr/>
          <p:nvPr/>
        </p:nvSpPr>
        <p:spPr>
          <a:xfrm flipH="false" flipV="false" rot="0">
            <a:off x="1054471" y="1847832"/>
            <a:ext cx="6473900" cy="4251708"/>
          </a:xfrm>
          <a:custGeom>
            <a:avLst/>
            <a:gdLst/>
            <a:ahLst/>
            <a:cxnLst/>
            <a:rect r="r" b="b" t="t" l="l"/>
            <a:pathLst>
              <a:path h="4251708" w="6473900">
                <a:moveTo>
                  <a:pt x="0" y="0"/>
                </a:moveTo>
                <a:lnTo>
                  <a:pt x="6473900" y="0"/>
                </a:lnTo>
                <a:lnTo>
                  <a:pt x="6473900" y="4251708"/>
                </a:lnTo>
                <a:lnTo>
                  <a:pt x="0" y="4251708"/>
                </a:lnTo>
                <a:lnTo>
                  <a:pt x="0" y="0"/>
                </a:lnTo>
                <a:close/>
              </a:path>
            </a:pathLst>
          </a:custGeom>
          <a:blipFill>
            <a:blip r:embed="rId4"/>
            <a:stretch>
              <a:fillRect l="0" t="0" r="0" b="0"/>
            </a:stretch>
          </a:blipFill>
        </p:spPr>
      </p:sp>
      <p:sp>
        <p:nvSpPr>
          <p:cNvPr name="TextBox 5" id="5"/>
          <p:cNvSpPr txBox="true"/>
          <p:nvPr/>
        </p:nvSpPr>
        <p:spPr>
          <a:xfrm rot="0">
            <a:off x="1054471" y="752475"/>
            <a:ext cx="16719115" cy="1095357"/>
          </a:xfrm>
          <a:prstGeom prst="rect">
            <a:avLst/>
          </a:prstGeom>
        </p:spPr>
        <p:txBody>
          <a:bodyPr anchor="t" rtlCol="false" tIns="0" lIns="0" bIns="0" rIns="0">
            <a:spAutoFit/>
          </a:bodyPr>
          <a:lstStyle/>
          <a:p>
            <a:pPr algn="l" marL="0" indent="0" lvl="1">
              <a:lnSpc>
                <a:spcPts val="8400"/>
              </a:lnSpc>
              <a:spcBef>
                <a:spcPct val="0"/>
              </a:spcBef>
            </a:pPr>
            <a:r>
              <a:rPr lang="en-US" b="true" sz="6000">
                <a:solidFill>
                  <a:srgbClr val="FFFFFF"/>
                </a:solidFill>
                <a:latin typeface="Poppins Bold"/>
                <a:ea typeface="Poppins Bold"/>
                <a:cs typeface="Poppins Bold"/>
                <a:sym typeface="Poppins Bold"/>
              </a:rPr>
              <a:t>EDA Home Ownership</a:t>
            </a:r>
          </a:p>
        </p:txBody>
      </p:sp>
      <p:sp>
        <p:nvSpPr>
          <p:cNvPr name="TextBox 6" id="6"/>
          <p:cNvSpPr txBox="true"/>
          <p:nvPr/>
        </p:nvSpPr>
        <p:spPr>
          <a:xfrm rot="0">
            <a:off x="10693166" y="1781157"/>
            <a:ext cx="6566134" cy="11234632"/>
          </a:xfrm>
          <a:prstGeom prst="rect">
            <a:avLst/>
          </a:prstGeom>
        </p:spPr>
        <p:txBody>
          <a:bodyPr anchor="t" rtlCol="false" tIns="0" lIns="0" bIns="0" rIns="0">
            <a:spAutoFit/>
          </a:bodyPr>
          <a:lstStyle/>
          <a:p>
            <a:pPr algn="l">
              <a:lnSpc>
                <a:spcPts val="2924"/>
              </a:lnSpc>
            </a:pPr>
            <a:r>
              <a:rPr lang="en-US" sz="2088">
                <a:solidFill>
                  <a:srgbClr val="FFFFFF"/>
                </a:solidFill>
                <a:latin typeface="Poppins"/>
                <a:ea typeface="Poppins"/>
                <a:cs typeface="Poppins"/>
                <a:sym typeface="Poppins"/>
              </a:rPr>
              <a:t>Insight :</a:t>
            </a: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Mortgage is the most interesting finding. </a:t>
            </a:r>
            <a:r>
              <a:rPr lang="en-US" sz="2088">
                <a:solidFill>
                  <a:srgbClr val="FFFFFF"/>
                </a:solidFill>
                <a:latin typeface="Poppins"/>
                <a:ea typeface="Poppins"/>
                <a:cs typeface="Poppins"/>
                <a:sym typeface="Poppins"/>
              </a:rPr>
              <a:t>Borrowers currently paying a mortgage have a default rate below the average</a:t>
            </a:r>
            <a:r>
              <a:rPr lang="en-US" b="true" sz="2088">
                <a:solidFill>
                  <a:srgbClr val="FFFFFF"/>
                </a:solidFill>
                <a:latin typeface="Poppins Bold"/>
                <a:ea typeface="Poppins Bold"/>
                <a:cs typeface="Poppins Bold"/>
                <a:sym typeface="Poppins Bold"/>
              </a:rPr>
              <a:t> (21.5%)</a:t>
            </a:r>
            <a:r>
              <a:rPr lang="en-US" sz="2088">
                <a:solidFill>
                  <a:srgbClr val="FFFFFF"/>
                </a:solidFill>
                <a:latin typeface="Poppins"/>
                <a:ea typeface="Poppins"/>
                <a:cs typeface="Poppins"/>
                <a:sym typeface="Poppins"/>
              </a:rPr>
              <a:t>, as they have already been pre screened by the credit system.</a:t>
            </a: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Renters represent 50.7% of all borrowers, </a:t>
            </a:r>
            <a:r>
              <a:rPr lang="en-US" sz="2088">
                <a:solidFill>
                  <a:srgbClr val="FFFFFF"/>
                </a:solidFill>
                <a:latin typeface="Poppins"/>
                <a:ea typeface="Poppins"/>
                <a:cs typeface="Poppins"/>
                <a:sym typeface="Poppins"/>
              </a:rPr>
              <a:t>half the loan portfolio is held by the group with the highest default rate.</a:t>
            </a:r>
          </a:p>
          <a:p>
            <a:pPr algn="l">
              <a:lnSpc>
                <a:spcPts val="2924"/>
              </a:lnSpc>
            </a:pPr>
          </a:p>
          <a:p>
            <a:pPr algn="l" marL="450935" indent="-225468" lvl="1">
              <a:lnSpc>
                <a:spcPts val="2924"/>
              </a:lnSpc>
              <a:buFont typeface="Arial"/>
              <a:buChar char="•"/>
            </a:pPr>
            <a:r>
              <a:rPr lang="en-US" sz="2088">
                <a:solidFill>
                  <a:srgbClr val="FFFFFF"/>
                </a:solidFill>
                <a:latin typeface="Poppins"/>
                <a:ea typeface="Poppins"/>
                <a:cs typeface="Poppins"/>
                <a:sym typeface="Poppins"/>
              </a:rPr>
              <a:t>Rental borrowers</a:t>
            </a:r>
            <a:r>
              <a:rPr lang="en-US" sz="2088">
                <a:solidFill>
                  <a:srgbClr val="FFFFFF"/>
                </a:solidFill>
                <a:latin typeface="Poppins"/>
                <a:ea typeface="Poppins"/>
                <a:cs typeface="Poppins"/>
                <a:sym typeface="Poppins"/>
              </a:rPr>
              <a:t> s</a:t>
            </a:r>
            <a:r>
              <a:rPr lang="en-US" sz="2088">
                <a:solidFill>
                  <a:srgbClr val="FFFFFF"/>
                </a:solidFill>
                <a:latin typeface="Poppins"/>
                <a:ea typeface="Poppins"/>
                <a:cs typeface="Poppins"/>
                <a:sym typeface="Poppins"/>
              </a:rPr>
              <a:t>ho</a:t>
            </a:r>
            <a:r>
              <a:rPr lang="en-US" sz="2088">
                <a:solidFill>
                  <a:srgbClr val="FFFFFF"/>
                </a:solidFill>
                <a:latin typeface="Poppins"/>
                <a:ea typeface="Poppins"/>
                <a:cs typeface="Poppins"/>
                <a:sym typeface="Poppins"/>
              </a:rPr>
              <a:t>ul</a:t>
            </a:r>
            <a:r>
              <a:rPr lang="en-US" sz="2088">
                <a:solidFill>
                  <a:srgbClr val="FFFFFF"/>
                </a:solidFill>
                <a:latin typeface="Poppins"/>
                <a:ea typeface="Poppins"/>
                <a:cs typeface="Poppins"/>
                <a:sym typeface="Poppins"/>
              </a:rPr>
              <a:t>d be </a:t>
            </a:r>
            <a:r>
              <a:rPr lang="en-US" sz="2088">
                <a:solidFill>
                  <a:srgbClr val="FFFFFF"/>
                </a:solidFill>
                <a:latin typeface="Poppins"/>
                <a:ea typeface="Poppins"/>
                <a:cs typeface="Poppins"/>
                <a:sym typeface="Poppins"/>
              </a:rPr>
              <a:t>e</a:t>
            </a:r>
            <a:r>
              <a:rPr lang="en-US" sz="2088">
                <a:solidFill>
                  <a:srgbClr val="FFFFFF"/>
                </a:solidFill>
                <a:latin typeface="Poppins"/>
                <a:ea typeface="Poppins"/>
                <a:cs typeface="Poppins"/>
                <a:sym typeface="Poppins"/>
              </a:rPr>
              <a:t>va</a:t>
            </a:r>
            <a:r>
              <a:rPr lang="en-US" sz="2088">
                <a:solidFill>
                  <a:srgbClr val="FFFFFF"/>
                </a:solidFill>
                <a:latin typeface="Poppins"/>
                <a:ea typeface="Poppins"/>
                <a:cs typeface="Poppins"/>
                <a:sym typeface="Poppins"/>
              </a:rPr>
              <a:t>l</a:t>
            </a:r>
            <a:r>
              <a:rPr lang="en-US" sz="2088">
                <a:solidFill>
                  <a:srgbClr val="FFFFFF"/>
                </a:solidFill>
                <a:latin typeface="Poppins"/>
                <a:ea typeface="Poppins"/>
                <a:cs typeface="Poppins"/>
                <a:sym typeface="Poppins"/>
              </a:rPr>
              <a:t>u</a:t>
            </a:r>
            <a:r>
              <a:rPr lang="en-US" sz="2088">
                <a:solidFill>
                  <a:srgbClr val="FFFFFF"/>
                </a:solidFill>
                <a:latin typeface="Poppins"/>
                <a:ea typeface="Poppins"/>
                <a:cs typeface="Poppins"/>
                <a:sym typeface="Poppins"/>
              </a:rPr>
              <a:t>ated more strictly</a:t>
            </a:r>
            <a:r>
              <a:rPr lang="en-US" sz="2088">
                <a:solidFill>
                  <a:srgbClr val="FFFFFF"/>
                </a:solidFill>
                <a:latin typeface="Poppins"/>
                <a:ea typeface="Poppins"/>
                <a:cs typeface="Poppins"/>
                <a:sym typeface="Poppins"/>
              </a:rPr>
              <a:t>, while mortgage borrowers can be treated with more flexibility.</a:t>
            </a: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p:txBody>
      </p:sp>
      <p:sp>
        <p:nvSpPr>
          <p:cNvPr name="AutoShape 7" id="7"/>
          <p:cNvSpPr/>
          <p:nvPr/>
        </p:nvSpPr>
        <p:spPr>
          <a:xfrm>
            <a:off x="5067730" y="6766663"/>
            <a:ext cx="1081550" cy="0"/>
          </a:xfrm>
          <a:prstGeom prst="line">
            <a:avLst/>
          </a:prstGeom>
          <a:ln cap="flat" w="76200">
            <a:solidFill>
              <a:srgbClr val="000000"/>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54471" y="1914507"/>
            <a:ext cx="5810789" cy="3868253"/>
          </a:xfrm>
          <a:custGeom>
            <a:avLst/>
            <a:gdLst/>
            <a:ahLst/>
            <a:cxnLst/>
            <a:rect r="r" b="b" t="t" l="l"/>
            <a:pathLst>
              <a:path h="3868253" w="5810789">
                <a:moveTo>
                  <a:pt x="0" y="0"/>
                </a:moveTo>
                <a:lnTo>
                  <a:pt x="5810789" y="0"/>
                </a:lnTo>
                <a:lnTo>
                  <a:pt x="5810789" y="3868253"/>
                </a:lnTo>
                <a:lnTo>
                  <a:pt x="0" y="3868253"/>
                </a:lnTo>
                <a:lnTo>
                  <a:pt x="0" y="0"/>
                </a:lnTo>
                <a:close/>
              </a:path>
            </a:pathLst>
          </a:custGeom>
          <a:blipFill>
            <a:blip r:embed="rId3"/>
            <a:stretch>
              <a:fillRect l="0" t="0" r="0" b="0"/>
            </a:stretch>
          </a:blipFill>
        </p:spPr>
      </p:sp>
      <p:sp>
        <p:nvSpPr>
          <p:cNvPr name="Freeform 4" id="4"/>
          <p:cNvSpPr/>
          <p:nvPr/>
        </p:nvSpPr>
        <p:spPr>
          <a:xfrm flipH="false" flipV="false" rot="0">
            <a:off x="1054471" y="5905779"/>
            <a:ext cx="8955500" cy="2562568"/>
          </a:xfrm>
          <a:custGeom>
            <a:avLst/>
            <a:gdLst/>
            <a:ahLst/>
            <a:cxnLst/>
            <a:rect r="r" b="b" t="t" l="l"/>
            <a:pathLst>
              <a:path h="2562568" w="8955500">
                <a:moveTo>
                  <a:pt x="0" y="0"/>
                </a:moveTo>
                <a:lnTo>
                  <a:pt x="8955500" y="0"/>
                </a:lnTo>
                <a:lnTo>
                  <a:pt x="8955500" y="2562568"/>
                </a:lnTo>
                <a:lnTo>
                  <a:pt x="0" y="2562568"/>
                </a:lnTo>
                <a:lnTo>
                  <a:pt x="0" y="0"/>
                </a:lnTo>
                <a:close/>
              </a:path>
            </a:pathLst>
          </a:custGeom>
          <a:blipFill>
            <a:blip r:embed="rId4"/>
            <a:stretch>
              <a:fillRect l="0" t="0" r="0" b="0"/>
            </a:stretch>
          </a:blipFill>
        </p:spPr>
      </p:sp>
      <p:sp>
        <p:nvSpPr>
          <p:cNvPr name="TextBox 5" id="5"/>
          <p:cNvSpPr txBox="true"/>
          <p:nvPr/>
        </p:nvSpPr>
        <p:spPr>
          <a:xfrm rot="0">
            <a:off x="1054471" y="762000"/>
            <a:ext cx="16719115" cy="1095357"/>
          </a:xfrm>
          <a:prstGeom prst="rect">
            <a:avLst/>
          </a:prstGeom>
        </p:spPr>
        <p:txBody>
          <a:bodyPr anchor="t" rtlCol="false" tIns="0" lIns="0" bIns="0" rIns="0">
            <a:spAutoFit/>
          </a:bodyPr>
          <a:lstStyle/>
          <a:p>
            <a:pPr algn="l" marL="0" indent="0" lvl="1">
              <a:lnSpc>
                <a:spcPts val="8400"/>
              </a:lnSpc>
              <a:spcBef>
                <a:spcPct val="0"/>
              </a:spcBef>
            </a:pPr>
            <a:r>
              <a:rPr lang="en-US" b="true" sz="6000">
                <a:solidFill>
                  <a:srgbClr val="FFFFFF"/>
                </a:solidFill>
                <a:latin typeface="Poppins Bold"/>
                <a:ea typeface="Poppins Bold"/>
                <a:cs typeface="Poppins Bold"/>
                <a:sym typeface="Poppins Bold"/>
              </a:rPr>
              <a:t>EDA Income vs Loan Status</a:t>
            </a:r>
          </a:p>
        </p:txBody>
      </p:sp>
      <p:sp>
        <p:nvSpPr>
          <p:cNvPr name="TextBox 6" id="6"/>
          <p:cNvSpPr txBox="true"/>
          <p:nvPr/>
        </p:nvSpPr>
        <p:spPr>
          <a:xfrm rot="0">
            <a:off x="10693166" y="1790682"/>
            <a:ext cx="6566134" cy="11958568"/>
          </a:xfrm>
          <a:prstGeom prst="rect">
            <a:avLst/>
          </a:prstGeom>
        </p:spPr>
        <p:txBody>
          <a:bodyPr anchor="t" rtlCol="false" tIns="0" lIns="0" bIns="0" rIns="0">
            <a:spAutoFit/>
          </a:bodyPr>
          <a:lstStyle/>
          <a:p>
            <a:pPr algn="l">
              <a:lnSpc>
                <a:spcPts val="2924"/>
              </a:lnSpc>
            </a:pPr>
            <a:r>
              <a:rPr lang="en-US" sz="2088">
                <a:solidFill>
                  <a:srgbClr val="FFFFFF"/>
                </a:solidFill>
                <a:latin typeface="Poppins"/>
                <a:ea typeface="Poppins"/>
                <a:cs typeface="Poppins"/>
                <a:sym typeface="Poppins"/>
              </a:rPr>
              <a:t>Insight :</a:t>
            </a: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Even the lowest income non default borrowers have higher income than the lowest income defaulting borrowers.</a:t>
            </a: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There is significant overlap: half of non-default borrowers have income below $60,000</a:t>
            </a:r>
            <a:r>
              <a:rPr lang="en-US" sz="2088">
                <a:solidFill>
                  <a:srgbClr val="FFFFFF"/>
                </a:solidFill>
                <a:latin typeface="Poppins"/>
                <a:ea typeface="Poppins"/>
                <a:cs typeface="Poppins"/>
                <a:sym typeface="Poppins"/>
              </a:rPr>
              <a:t>, while a quarter of defaulting borrowers earn above $60,000 (Q3 default is approximately Q2 non default).</a:t>
            </a:r>
          </a:p>
          <a:p>
            <a:pPr algn="l">
              <a:lnSpc>
                <a:spcPts val="2924"/>
              </a:lnSpc>
            </a:pPr>
          </a:p>
          <a:p>
            <a:pPr algn="l" marL="450935" indent="-225468" lvl="1">
              <a:lnSpc>
                <a:spcPts val="2924"/>
              </a:lnSpc>
              <a:buFont typeface="Arial"/>
              <a:buChar char="•"/>
            </a:pPr>
            <a:r>
              <a:rPr lang="en-US" sz="2088">
                <a:solidFill>
                  <a:srgbClr val="FFFFFF"/>
                </a:solidFill>
                <a:latin typeface="Poppins"/>
                <a:ea typeface="Poppins"/>
                <a:cs typeface="Poppins"/>
                <a:sym typeface="Poppins"/>
              </a:rPr>
              <a:t>Income alone is insufficient as a credit policy consideration. Income must always be evaluated relative to the loan amount requested.</a:t>
            </a:r>
          </a:p>
          <a:p>
            <a:pPr algn="l">
              <a:lnSpc>
                <a:spcPts val="2924"/>
              </a:lnSpc>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72551" y="1883186"/>
            <a:ext cx="4685670" cy="3344898"/>
          </a:xfrm>
          <a:custGeom>
            <a:avLst/>
            <a:gdLst/>
            <a:ahLst/>
            <a:cxnLst/>
            <a:rect r="r" b="b" t="t" l="l"/>
            <a:pathLst>
              <a:path h="3344898" w="4685670">
                <a:moveTo>
                  <a:pt x="0" y="0"/>
                </a:moveTo>
                <a:lnTo>
                  <a:pt x="4685671" y="0"/>
                </a:lnTo>
                <a:lnTo>
                  <a:pt x="4685671" y="3344898"/>
                </a:lnTo>
                <a:lnTo>
                  <a:pt x="0" y="3344898"/>
                </a:lnTo>
                <a:lnTo>
                  <a:pt x="0" y="0"/>
                </a:lnTo>
                <a:close/>
              </a:path>
            </a:pathLst>
          </a:custGeom>
          <a:blipFill>
            <a:blip r:embed="rId3"/>
            <a:stretch>
              <a:fillRect l="-958" t="0" r="-958" b="0"/>
            </a:stretch>
          </a:blipFill>
        </p:spPr>
      </p:sp>
      <p:sp>
        <p:nvSpPr>
          <p:cNvPr name="Freeform 4" id="4"/>
          <p:cNvSpPr/>
          <p:nvPr/>
        </p:nvSpPr>
        <p:spPr>
          <a:xfrm flipH="false" flipV="false" rot="0">
            <a:off x="5249937" y="1883186"/>
            <a:ext cx="4564135" cy="3344898"/>
          </a:xfrm>
          <a:custGeom>
            <a:avLst/>
            <a:gdLst/>
            <a:ahLst/>
            <a:cxnLst/>
            <a:rect r="r" b="b" t="t" l="l"/>
            <a:pathLst>
              <a:path h="3344898" w="4564135">
                <a:moveTo>
                  <a:pt x="0" y="0"/>
                </a:moveTo>
                <a:lnTo>
                  <a:pt x="4564135" y="0"/>
                </a:lnTo>
                <a:lnTo>
                  <a:pt x="4564135" y="3344898"/>
                </a:lnTo>
                <a:lnTo>
                  <a:pt x="0" y="3344898"/>
                </a:lnTo>
                <a:lnTo>
                  <a:pt x="0" y="0"/>
                </a:lnTo>
                <a:close/>
              </a:path>
            </a:pathLst>
          </a:custGeom>
          <a:blipFill>
            <a:blip r:embed="rId4"/>
            <a:stretch>
              <a:fillRect l="0" t="0" r="-2029" b="0"/>
            </a:stretch>
          </a:blipFill>
        </p:spPr>
      </p:sp>
      <p:sp>
        <p:nvSpPr>
          <p:cNvPr name="Freeform 5" id="5"/>
          <p:cNvSpPr/>
          <p:nvPr/>
        </p:nvSpPr>
        <p:spPr>
          <a:xfrm flipH="false" flipV="false" rot="0">
            <a:off x="372551" y="5418584"/>
            <a:ext cx="4685670" cy="3920234"/>
          </a:xfrm>
          <a:custGeom>
            <a:avLst/>
            <a:gdLst/>
            <a:ahLst/>
            <a:cxnLst/>
            <a:rect r="r" b="b" t="t" l="l"/>
            <a:pathLst>
              <a:path h="3920234" w="4685670">
                <a:moveTo>
                  <a:pt x="0" y="0"/>
                </a:moveTo>
                <a:lnTo>
                  <a:pt x="4685671" y="0"/>
                </a:lnTo>
                <a:lnTo>
                  <a:pt x="4685671" y="3920234"/>
                </a:lnTo>
                <a:lnTo>
                  <a:pt x="0" y="3920234"/>
                </a:lnTo>
                <a:lnTo>
                  <a:pt x="0" y="0"/>
                </a:lnTo>
                <a:close/>
              </a:path>
            </a:pathLst>
          </a:custGeom>
          <a:blipFill>
            <a:blip r:embed="rId5"/>
            <a:stretch>
              <a:fillRect l="0" t="0" r="0" b="-2362"/>
            </a:stretch>
          </a:blipFill>
        </p:spPr>
      </p:sp>
      <p:sp>
        <p:nvSpPr>
          <p:cNvPr name="Freeform 6" id="6"/>
          <p:cNvSpPr/>
          <p:nvPr/>
        </p:nvSpPr>
        <p:spPr>
          <a:xfrm flipH="false" flipV="false" rot="0">
            <a:off x="5249937" y="5485259"/>
            <a:ext cx="6002257" cy="1741442"/>
          </a:xfrm>
          <a:custGeom>
            <a:avLst/>
            <a:gdLst/>
            <a:ahLst/>
            <a:cxnLst/>
            <a:rect r="r" b="b" t="t" l="l"/>
            <a:pathLst>
              <a:path h="1741442" w="6002257">
                <a:moveTo>
                  <a:pt x="0" y="0"/>
                </a:moveTo>
                <a:lnTo>
                  <a:pt x="6002256" y="0"/>
                </a:lnTo>
                <a:lnTo>
                  <a:pt x="6002256" y="1741442"/>
                </a:lnTo>
                <a:lnTo>
                  <a:pt x="0" y="1741442"/>
                </a:lnTo>
                <a:lnTo>
                  <a:pt x="0" y="0"/>
                </a:lnTo>
                <a:close/>
              </a:path>
            </a:pathLst>
          </a:custGeom>
          <a:blipFill>
            <a:blip r:embed="rId6"/>
            <a:stretch>
              <a:fillRect l="0" t="-430" r="0" b="-430"/>
            </a:stretch>
          </a:blipFill>
        </p:spPr>
      </p:sp>
      <p:sp>
        <p:nvSpPr>
          <p:cNvPr name="TextBox 7" id="7"/>
          <p:cNvSpPr txBox="true"/>
          <p:nvPr/>
        </p:nvSpPr>
        <p:spPr>
          <a:xfrm rot="0">
            <a:off x="1054471" y="954811"/>
            <a:ext cx="16719115" cy="734095"/>
          </a:xfrm>
          <a:prstGeom prst="rect">
            <a:avLst/>
          </a:prstGeom>
        </p:spPr>
        <p:txBody>
          <a:bodyPr anchor="t" rtlCol="false" tIns="0" lIns="0" bIns="0" rIns="0">
            <a:spAutoFit/>
          </a:bodyPr>
          <a:lstStyle/>
          <a:p>
            <a:pPr algn="l" marL="0" indent="0" lvl="1">
              <a:lnSpc>
                <a:spcPts val="5740"/>
              </a:lnSpc>
              <a:spcBef>
                <a:spcPct val="0"/>
              </a:spcBef>
            </a:pPr>
            <a:r>
              <a:rPr lang="en-US" b="true" sz="4100">
                <a:solidFill>
                  <a:srgbClr val="FFFFFF"/>
                </a:solidFill>
                <a:latin typeface="Poppins Bold"/>
                <a:ea typeface="Poppins Bold"/>
                <a:cs typeface="Poppins Bold"/>
                <a:sym typeface="Poppins Bold"/>
              </a:rPr>
              <a:t>EDA Distribusi Suku Bunga &amp; Jumlah Pinjaman vs Loan Status</a:t>
            </a:r>
          </a:p>
        </p:txBody>
      </p:sp>
      <p:sp>
        <p:nvSpPr>
          <p:cNvPr name="TextBox 8" id="8"/>
          <p:cNvSpPr txBox="true"/>
          <p:nvPr/>
        </p:nvSpPr>
        <p:spPr>
          <a:xfrm rot="0">
            <a:off x="11465021" y="1916818"/>
            <a:ext cx="6566134" cy="13406440"/>
          </a:xfrm>
          <a:prstGeom prst="rect">
            <a:avLst/>
          </a:prstGeom>
        </p:spPr>
        <p:txBody>
          <a:bodyPr anchor="t" rtlCol="false" tIns="0" lIns="0" bIns="0" rIns="0">
            <a:spAutoFit/>
          </a:bodyPr>
          <a:lstStyle/>
          <a:p>
            <a:pPr algn="l">
              <a:lnSpc>
                <a:spcPts val="2924"/>
              </a:lnSpc>
            </a:pPr>
            <a:r>
              <a:rPr lang="en-US" sz="2088">
                <a:solidFill>
                  <a:srgbClr val="FFFFFF"/>
                </a:solidFill>
                <a:latin typeface="Poppins"/>
                <a:ea typeface="Poppins"/>
                <a:cs typeface="Poppins"/>
                <a:sym typeface="Poppins"/>
              </a:rPr>
              <a:t>Insight :</a:t>
            </a: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The entire interest rate distribution for defaulting borrowers shifts consistently to the right.</a:t>
            </a:r>
            <a:r>
              <a:rPr lang="en-US" sz="2088">
                <a:solidFill>
                  <a:srgbClr val="FFFFFF"/>
                </a:solidFill>
                <a:latin typeface="Poppins"/>
                <a:ea typeface="Poppins"/>
                <a:cs typeface="Poppins"/>
                <a:sym typeface="Poppins"/>
              </a:rPr>
              <a:t> Even the lowest rate among defaulting borrowers is roughly equal to the median rate of non-default borrowers.</a:t>
            </a: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Default loan amounts are slightly higher, but interest rates show a much sharper contrast. </a:t>
            </a:r>
            <a:r>
              <a:rPr lang="en-US" sz="2088">
                <a:solidFill>
                  <a:srgbClr val="FFFFFF"/>
                </a:solidFill>
                <a:latin typeface="Poppins"/>
                <a:ea typeface="Poppins"/>
                <a:cs typeface="Poppins"/>
                <a:sym typeface="Poppins"/>
              </a:rPr>
              <a:t>This means the absolute loan amount is not a strong default predictor, what matters is not how large the loan is, but how large it is relative to income (DTI).</a:t>
            </a: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An interest rate above 13% can serve as an early warning signal</a:t>
            </a:r>
            <a:r>
              <a:rPr lang="en-US" sz="2088">
                <a:solidFill>
                  <a:srgbClr val="FFFFFF"/>
                </a:solidFill>
                <a:latin typeface="Poppins"/>
                <a:ea typeface="Poppins"/>
                <a:cs typeface="Poppins"/>
                <a:sym typeface="Poppins"/>
              </a:rPr>
              <a:t>. Borrowers assigned a rate above this threshold require closer monitoring, as they carry above average risk.</a:t>
            </a:r>
          </a:p>
          <a:p>
            <a:pPr algn="l">
              <a:lnSpc>
                <a:spcPts val="2924"/>
              </a:lnSpc>
            </a:pPr>
          </a:p>
          <a:p>
            <a:pPr algn="l">
              <a:lnSpc>
                <a:spcPts val="2924"/>
              </a:lnSpc>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54471" y="1676382"/>
            <a:ext cx="4742665" cy="3796440"/>
          </a:xfrm>
          <a:custGeom>
            <a:avLst/>
            <a:gdLst/>
            <a:ahLst/>
            <a:cxnLst/>
            <a:rect r="r" b="b" t="t" l="l"/>
            <a:pathLst>
              <a:path h="3796440" w="4742665">
                <a:moveTo>
                  <a:pt x="0" y="0"/>
                </a:moveTo>
                <a:lnTo>
                  <a:pt x="4742665" y="0"/>
                </a:lnTo>
                <a:lnTo>
                  <a:pt x="4742665" y="3796440"/>
                </a:lnTo>
                <a:lnTo>
                  <a:pt x="0" y="3796440"/>
                </a:lnTo>
                <a:lnTo>
                  <a:pt x="0" y="0"/>
                </a:lnTo>
                <a:close/>
              </a:path>
            </a:pathLst>
          </a:custGeom>
          <a:blipFill>
            <a:blip r:embed="rId3"/>
            <a:stretch>
              <a:fillRect l="0" t="0" r="0" b="0"/>
            </a:stretch>
          </a:blipFill>
        </p:spPr>
      </p:sp>
      <p:sp>
        <p:nvSpPr>
          <p:cNvPr name="Freeform 4" id="4"/>
          <p:cNvSpPr/>
          <p:nvPr/>
        </p:nvSpPr>
        <p:spPr>
          <a:xfrm flipH="false" flipV="false" rot="0">
            <a:off x="1028700" y="5609496"/>
            <a:ext cx="5797000" cy="3563915"/>
          </a:xfrm>
          <a:custGeom>
            <a:avLst/>
            <a:gdLst/>
            <a:ahLst/>
            <a:cxnLst/>
            <a:rect r="r" b="b" t="t" l="l"/>
            <a:pathLst>
              <a:path h="3563915" w="5797000">
                <a:moveTo>
                  <a:pt x="0" y="0"/>
                </a:moveTo>
                <a:lnTo>
                  <a:pt x="5797000" y="0"/>
                </a:lnTo>
                <a:lnTo>
                  <a:pt x="5797000" y="3563915"/>
                </a:lnTo>
                <a:lnTo>
                  <a:pt x="0" y="3563915"/>
                </a:lnTo>
                <a:lnTo>
                  <a:pt x="0" y="0"/>
                </a:lnTo>
                <a:close/>
              </a:path>
            </a:pathLst>
          </a:custGeom>
          <a:blipFill>
            <a:blip r:embed="rId4"/>
            <a:stretch>
              <a:fillRect l="0" t="0" r="0" b="0"/>
            </a:stretch>
          </a:blipFill>
        </p:spPr>
      </p:sp>
      <p:sp>
        <p:nvSpPr>
          <p:cNvPr name="TextBox 5" id="5"/>
          <p:cNvSpPr txBox="true"/>
          <p:nvPr/>
        </p:nvSpPr>
        <p:spPr>
          <a:xfrm rot="0">
            <a:off x="1054471" y="619125"/>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EDA Heatmap Korelasi dengan Loan Status</a:t>
            </a:r>
          </a:p>
        </p:txBody>
      </p:sp>
      <p:sp>
        <p:nvSpPr>
          <p:cNvPr name="TextBox 6" id="6"/>
          <p:cNvSpPr txBox="true"/>
          <p:nvPr/>
        </p:nvSpPr>
        <p:spPr>
          <a:xfrm rot="0">
            <a:off x="10693166" y="1609707"/>
            <a:ext cx="6566134" cy="11958568"/>
          </a:xfrm>
          <a:prstGeom prst="rect">
            <a:avLst/>
          </a:prstGeom>
        </p:spPr>
        <p:txBody>
          <a:bodyPr anchor="t" rtlCol="false" tIns="0" lIns="0" bIns="0" rIns="0">
            <a:spAutoFit/>
          </a:bodyPr>
          <a:lstStyle/>
          <a:p>
            <a:pPr algn="l">
              <a:lnSpc>
                <a:spcPts val="2924"/>
              </a:lnSpc>
            </a:pPr>
            <a:r>
              <a:rPr lang="en-US" sz="2088">
                <a:solidFill>
                  <a:srgbClr val="FFFFFF"/>
                </a:solidFill>
                <a:latin typeface="Poppins"/>
                <a:ea typeface="Poppins"/>
                <a:cs typeface="Poppins"/>
                <a:sym typeface="Poppins"/>
              </a:rPr>
              <a:t>Insight :</a:t>
            </a: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loan_percent_income (DTI) has the strongest correlation with default, </a:t>
            </a:r>
            <a:r>
              <a:rPr lang="en-US" sz="2088">
                <a:solidFill>
                  <a:srgbClr val="FFFFFF"/>
                </a:solidFill>
                <a:latin typeface="Poppins"/>
                <a:ea typeface="Poppins"/>
                <a:cs typeface="Poppins"/>
                <a:sym typeface="Poppins"/>
              </a:rPr>
              <a:t>as DTI reflects actual repayment capacity</a:t>
            </a:r>
            <a:r>
              <a:rPr lang="en-US" b="true" sz="2088">
                <a:solidFill>
                  <a:srgbClr val="FFFFFF"/>
                </a:solidFill>
                <a:latin typeface="Poppins Bold"/>
                <a:ea typeface="Poppins Bold"/>
                <a:cs typeface="Poppins Bold"/>
                <a:sym typeface="Poppins Bold"/>
              </a:rPr>
              <a:t>.</a:t>
            </a: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The top three variables (DTI, grade, interest rate) are nearly equal in strength, with correlations of 0.33-0.38.</a:t>
            </a:r>
            <a:r>
              <a:rPr lang="en-US" sz="2088">
                <a:solidFill>
                  <a:srgbClr val="FFFFFF"/>
                </a:solidFill>
                <a:latin typeface="Poppins"/>
                <a:ea typeface="Poppins"/>
                <a:cs typeface="Poppins"/>
                <a:sym typeface="Poppins"/>
              </a:rPr>
              <a:t> Credit risk isn't driven by a single isolated variable; a sound predictive model must integrate all three metrics for an accurate assessment.</a:t>
            </a:r>
          </a:p>
          <a:p>
            <a:pPr algn="l">
              <a:lnSpc>
                <a:spcPts val="2924"/>
              </a:lnSpc>
            </a:pPr>
          </a:p>
          <a:p>
            <a:pPr algn="l" marL="450935" indent="-225468" lvl="1">
              <a:lnSpc>
                <a:spcPts val="2924"/>
              </a:lnSpc>
              <a:spcBef>
                <a:spcPct val="0"/>
              </a:spcBef>
              <a:buFont typeface="Arial"/>
              <a:buChar char="•"/>
            </a:pPr>
            <a:r>
              <a:rPr lang="en-US" b="true" sz="2088">
                <a:solidFill>
                  <a:srgbClr val="FFFFFF"/>
                </a:solidFill>
                <a:latin typeface="Poppins Bold"/>
                <a:ea typeface="Poppins Bold"/>
                <a:cs typeface="Poppins Bold"/>
                <a:sym typeface="Poppins Bold"/>
              </a:rPr>
              <a:t>hist_default (historical default record) ranks fourth.</a:t>
            </a:r>
            <a:r>
              <a:rPr lang="en-US" sz="2088">
                <a:solidFill>
                  <a:srgbClr val="FFFFFF"/>
                </a:solidFill>
                <a:latin typeface="Poppins"/>
                <a:ea typeface="Poppins"/>
                <a:cs typeface="Poppins"/>
                <a:sym typeface="Poppins"/>
              </a:rPr>
              <a:t> Its</a:t>
            </a:r>
            <a:r>
              <a:rPr lang="en-US" sz="2088">
                <a:solidFill>
                  <a:srgbClr val="FFFFFF"/>
                </a:solidFill>
                <a:latin typeface="Poppins"/>
                <a:ea typeface="Poppins"/>
                <a:cs typeface="Poppins"/>
                <a:sym typeface="Poppins"/>
              </a:rPr>
              <a:t> </a:t>
            </a:r>
            <a:r>
              <a:rPr lang="en-US" sz="2088">
                <a:solidFill>
                  <a:srgbClr val="FFFFFF"/>
                </a:solidFill>
                <a:latin typeface="Poppins"/>
                <a:ea typeface="Poppins"/>
                <a:cs typeface="Poppins"/>
                <a:sym typeface="Poppins"/>
              </a:rPr>
              <a:t>pre</a:t>
            </a:r>
            <a:r>
              <a:rPr lang="en-US" sz="2088">
                <a:solidFill>
                  <a:srgbClr val="FFFFFF"/>
                </a:solidFill>
                <a:latin typeface="Poppins"/>
                <a:ea typeface="Poppins"/>
                <a:cs typeface="Poppins"/>
                <a:sym typeface="Poppins"/>
              </a:rPr>
              <a:t>di</a:t>
            </a:r>
            <a:r>
              <a:rPr lang="en-US" sz="2088">
                <a:solidFill>
                  <a:srgbClr val="FFFFFF"/>
                </a:solidFill>
                <a:latin typeface="Poppins"/>
                <a:ea typeface="Poppins"/>
                <a:cs typeface="Poppins"/>
                <a:sym typeface="Poppins"/>
              </a:rPr>
              <a:t>ctive</a:t>
            </a:r>
            <a:r>
              <a:rPr lang="en-US" sz="2088">
                <a:solidFill>
                  <a:srgbClr val="FFFFFF"/>
                </a:solidFill>
                <a:latin typeface="Poppins"/>
                <a:ea typeface="Poppins"/>
                <a:cs typeface="Poppins"/>
                <a:sym typeface="Poppins"/>
              </a:rPr>
              <a:t> s</a:t>
            </a:r>
            <a:r>
              <a:rPr lang="en-US" sz="2088">
                <a:solidFill>
                  <a:srgbClr val="FFFFFF"/>
                </a:solidFill>
                <a:latin typeface="Poppins"/>
                <a:ea typeface="Poppins"/>
                <a:cs typeface="Poppins"/>
                <a:sym typeface="Poppins"/>
              </a:rPr>
              <a:t>trength </a:t>
            </a:r>
            <a:r>
              <a:rPr lang="en-US" sz="2088">
                <a:solidFill>
                  <a:srgbClr val="FFFFFF"/>
                </a:solidFill>
                <a:latin typeface="Poppins"/>
                <a:ea typeface="Poppins"/>
                <a:cs typeface="Poppins"/>
                <a:sym typeface="Poppins"/>
              </a:rPr>
              <a:t>is m</a:t>
            </a:r>
            <a:r>
              <a:rPr lang="en-US" sz="2088">
                <a:solidFill>
                  <a:srgbClr val="FFFFFF"/>
                </a:solidFill>
                <a:latin typeface="Poppins"/>
                <a:ea typeface="Poppins"/>
                <a:cs typeface="Poppins"/>
                <a:sym typeface="Poppins"/>
              </a:rPr>
              <a:t>eaningful, </a:t>
            </a:r>
            <a:r>
              <a:rPr lang="en-US" sz="2088">
                <a:solidFill>
                  <a:srgbClr val="FFFFFF"/>
                </a:solidFill>
                <a:latin typeface="Poppins"/>
                <a:ea typeface="Poppins"/>
                <a:cs typeface="Poppins"/>
                <a:sym typeface="Poppins"/>
              </a:rPr>
              <a:t>p</a:t>
            </a:r>
            <a:r>
              <a:rPr lang="en-US" sz="2088">
                <a:solidFill>
                  <a:srgbClr val="FFFFFF"/>
                </a:solidFill>
                <a:latin typeface="Poppins"/>
                <a:ea typeface="Poppins"/>
                <a:cs typeface="Poppins"/>
                <a:sym typeface="Poppins"/>
              </a:rPr>
              <a:t>ast default history can indicate future default, though it is not a guaranteed indicator.</a:t>
            </a: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28700" y="1758967"/>
            <a:ext cx="4163687" cy="3755012"/>
          </a:xfrm>
          <a:custGeom>
            <a:avLst/>
            <a:gdLst/>
            <a:ahLst/>
            <a:cxnLst/>
            <a:rect r="r" b="b" t="t" l="l"/>
            <a:pathLst>
              <a:path h="3755012" w="4163687">
                <a:moveTo>
                  <a:pt x="0" y="0"/>
                </a:moveTo>
                <a:lnTo>
                  <a:pt x="4163687" y="0"/>
                </a:lnTo>
                <a:lnTo>
                  <a:pt x="4163687" y="3755012"/>
                </a:lnTo>
                <a:lnTo>
                  <a:pt x="0" y="3755012"/>
                </a:lnTo>
                <a:lnTo>
                  <a:pt x="0" y="0"/>
                </a:lnTo>
                <a:close/>
              </a:path>
            </a:pathLst>
          </a:custGeom>
          <a:blipFill>
            <a:blip r:embed="rId3"/>
            <a:stretch>
              <a:fillRect l="0" t="-412" r="0" b="-412"/>
            </a:stretch>
          </a:blipFill>
        </p:spPr>
      </p:sp>
      <p:sp>
        <p:nvSpPr>
          <p:cNvPr name="Freeform 4" id="4"/>
          <p:cNvSpPr/>
          <p:nvPr/>
        </p:nvSpPr>
        <p:spPr>
          <a:xfrm flipH="false" flipV="false" rot="0">
            <a:off x="5827453" y="1758967"/>
            <a:ext cx="3996405" cy="3755012"/>
          </a:xfrm>
          <a:custGeom>
            <a:avLst/>
            <a:gdLst/>
            <a:ahLst/>
            <a:cxnLst/>
            <a:rect r="r" b="b" t="t" l="l"/>
            <a:pathLst>
              <a:path h="3755012" w="3996405">
                <a:moveTo>
                  <a:pt x="0" y="0"/>
                </a:moveTo>
                <a:lnTo>
                  <a:pt x="3996405" y="0"/>
                </a:lnTo>
                <a:lnTo>
                  <a:pt x="3996405" y="3755012"/>
                </a:lnTo>
                <a:lnTo>
                  <a:pt x="0" y="3755012"/>
                </a:lnTo>
                <a:lnTo>
                  <a:pt x="0" y="0"/>
                </a:lnTo>
                <a:close/>
              </a:path>
            </a:pathLst>
          </a:custGeom>
          <a:blipFill>
            <a:blip r:embed="rId4"/>
            <a:stretch>
              <a:fillRect l="0" t="0" r="0" b="0"/>
            </a:stretch>
          </a:blipFill>
        </p:spPr>
      </p:sp>
      <p:sp>
        <p:nvSpPr>
          <p:cNvPr name="Freeform 5" id="5"/>
          <p:cNvSpPr/>
          <p:nvPr/>
        </p:nvSpPr>
        <p:spPr>
          <a:xfrm flipH="false" flipV="false" rot="0">
            <a:off x="1028700" y="5553441"/>
            <a:ext cx="5322756" cy="3342794"/>
          </a:xfrm>
          <a:custGeom>
            <a:avLst/>
            <a:gdLst/>
            <a:ahLst/>
            <a:cxnLst/>
            <a:rect r="r" b="b" t="t" l="l"/>
            <a:pathLst>
              <a:path h="3342794" w="5322756">
                <a:moveTo>
                  <a:pt x="0" y="0"/>
                </a:moveTo>
                <a:lnTo>
                  <a:pt x="5322756" y="0"/>
                </a:lnTo>
                <a:lnTo>
                  <a:pt x="5322756" y="3342793"/>
                </a:lnTo>
                <a:lnTo>
                  <a:pt x="0" y="3342793"/>
                </a:lnTo>
                <a:lnTo>
                  <a:pt x="0" y="0"/>
                </a:lnTo>
                <a:close/>
              </a:path>
            </a:pathLst>
          </a:custGeom>
          <a:blipFill>
            <a:blip r:embed="rId5"/>
            <a:stretch>
              <a:fillRect l="0" t="0" r="0" b="0"/>
            </a:stretch>
          </a:blipFill>
        </p:spPr>
      </p:sp>
      <p:sp>
        <p:nvSpPr>
          <p:cNvPr name="TextBox 6" id="6"/>
          <p:cNvSpPr txBox="true"/>
          <p:nvPr/>
        </p:nvSpPr>
        <p:spPr>
          <a:xfrm rot="0">
            <a:off x="1054471" y="800100"/>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EDA Risk Score Distribution</a:t>
            </a:r>
          </a:p>
        </p:txBody>
      </p:sp>
      <p:sp>
        <p:nvSpPr>
          <p:cNvPr name="TextBox 7" id="7"/>
          <p:cNvSpPr txBox="true"/>
          <p:nvPr/>
        </p:nvSpPr>
        <p:spPr>
          <a:xfrm rot="0">
            <a:off x="10693166" y="1790682"/>
            <a:ext cx="6566134" cy="13406440"/>
          </a:xfrm>
          <a:prstGeom prst="rect">
            <a:avLst/>
          </a:prstGeom>
        </p:spPr>
        <p:txBody>
          <a:bodyPr anchor="t" rtlCol="false" tIns="0" lIns="0" bIns="0" rIns="0">
            <a:spAutoFit/>
          </a:bodyPr>
          <a:lstStyle/>
          <a:p>
            <a:pPr algn="l">
              <a:lnSpc>
                <a:spcPts val="2924"/>
              </a:lnSpc>
            </a:pPr>
            <a:r>
              <a:rPr lang="en-US" sz="2088">
                <a:solidFill>
                  <a:srgbClr val="FFFFFF"/>
                </a:solidFill>
                <a:latin typeface="Poppins"/>
                <a:ea typeface="Poppins"/>
                <a:cs typeface="Poppins"/>
                <a:sym typeface="Poppins"/>
              </a:rPr>
              <a:t>Insight :</a:t>
            </a: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Most borrowers fall into the low risk category with scores below 25</a:t>
            </a:r>
            <a:r>
              <a:rPr lang="en-US" sz="2088">
                <a:solidFill>
                  <a:srgbClr val="FFFFFF"/>
                </a:solidFill>
                <a:latin typeface="Poppins"/>
                <a:ea typeface="Poppins"/>
                <a:cs typeface="Poppins"/>
                <a:sym typeface="Poppins"/>
              </a:rPr>
              <a:t>, creating a heavily left skewed distribution that reflects a portfolio dominated by strong credit profiles.</a:t>
            </a:r>
          </a:p>
          <a:p>
            <a:pPr algn="l">
              <a:lnSpc>
                <a:spcPts val="2924"/>
              </a:lnSpc>
            </a:pPr>
          </a:p>
          <a:p>
            <a:pPr algn="l" marL="450935" indent="-225468" lvl="1">
              <a:lnSpc>
                <a:spcPts val="2924"/>
              </a:lnSpc>
              <a:buFont typeface="Arial"/>
              <a:buChar char="•"/>
            </a:pPr>
            <a:r>
              <a:rPr lang="en-US" b="true" sz="2088">
                <a:solidFill>
                  <a:srgbClr val="FFFFFF"/>
                </a:solidFill>
                <a:latin typeface="Poppins Bold"/>
                <a:ea typeface="Poppins Bold"/>
                <a:cs typeface="Poppins Bold"/>
                <a:sym typeface="Poppins Bold"/>
              </a:rPr>
              <a:t>risk_score can be implemented as an automated scoring tool. </a:t>
            </a:r>
            <a:r>
              <a:rPr lang="en-US" sz="2088">
                <a:solidFill>
                  <a:srgbClr val="FFFFFF"/>
                </a:solidFill>
                <a:latin typeface="Poppins"/>
                <a:ea typeface="Poppins"/>
                <a:cs typeface="Poppins"/>
                <a:sym typeface="Poppins"/>
              </a:rPr>
              <a:t>When a new borrower applies for a loan, the system calculates four components (credit grade, DTI, interest rate, and default history) and generates a score between 0 and 100. It then determines the applicable policy.</a:t>
            </a:r>
          </a:p>
          <a:p>
            <a:pPr algn="l" marL="901870" indent="-300623" lvl="2">
              <a:lnSpc>
                <a:spcPts val="2924"/>
              </a:lnSpc>
              <a:buFont typeface="Arial"/>
              <a:buChar char="⚬"/>
            </a:pPr>
            <a:r>
              <a:rPr lang="en-US" sz="2088">
                <a:solidFill>
                  <a:srgbClr val="FFFFFF"/>
                </a:solidFill>
                <a:latin typeface="Poppins"/>
                <a:ea typeface="Poppins"/>
                <a:cs typeface="Poppins"/>
                <a:sym typeface="Poppins"/>
              </a:rPr>
              <a:t>Low = fast processing</a:t>
            </a:r>
          </a:p>
          <a:p>
            <a:pPr algn="l" marL="901870" indent="-300623" lvl="2">
              <a:lnSpc>
                <a:spcPts val="2924"/>
              </a:lnSpc>
              <a:buFont typeface="Arial"/>
              <a:buChar char="⚬"/>
            </a:pPr>
            <a:r>
              <a:rPr lang="en-US" sz="2088">
                <a:solidFill>
                  <a:srgbClr val="FFFFFF"/>
                </a:solidFill>
                <a:latin typeface="Poppins"/>
                <a:ea typeface="Poppins"/>
                <a:cs typeface="Poppins"/>
                <a:sym typeface="Poppins"/>
              </a:rPr>
              <a:t>Medium = standard review</a:t>
            </a:r>
          </a:p>
          <a:p>
            <a:pPr algn="l" marL="901870" indent="-300623" lvl="2">
              <a:lnSpc>
                <a:spcPts val="2924"/>
              </a:lnSpc>
              <a:buFont typeface="Arial"/>
              <a:buChar char="⚬"/>
            </a:pPr>
            <a:r>
              <a:rPr lang="en-US" sz="2088">
                <a:solidFill>
                  <a:srgbClr val="FFFFFF"/>
                </a:solidFill>
                <a:latin typeface="Poppins"/>
                <a:ea typeface="Poppins"/>
                <a:cs typeface="Poppins"/>
                <a:sym typeface="Poppins"/>
              </a:rPr>
              <a:t>High = requires collateral and an advanced review</a:t>
            </a:r>
          </a:p>
          <a:p>
            <a:pPr algn="l" marL="901870" indent="-300623" lvl="2">
              <a:lnSpc>
                <a:spcPts val="2924"/>
              </a:lnSpc>
              <a:buFont typeface="Arial"/>
              <a:buChar char="⚬"/>
            </a:pPr>
            <a:r>
              <a:rPr lang="en-US" sz="2088">
                <a:solidFill>
                  <a:srgbClr val="FFFFFF"/>
                </a:solidFill>
                <a:latin typeface="Poppins"/>
                <a:ea typeface="Poppins"/>
                <a:cs typeface="Poppins"/>
                <a:sym typeface="Poppins"/>
              </a:rPr>
              <a:t>Very High = reject or offer an alternative product</a:t>
            </a:r>
          </a:p>
          <a:p>
            <a:pPr algn="l">
              <a:lnSpc>
                <a:spcPts val="2924"/>
              </a:lnSpc>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a:p>
            <a:pPr algn="l">
              <a:lnSpc>
                <a:spcPts val="2924"/>
              </a:lnSpc>
              <a:spcBef>
                <a:spcPct val="0"/>
              </a:spcBef>
            </a:pPr>
          </a:p>
        </p:txBody>
      </p:sp>
      <p:sp>
        <p:nvSpPr>
          <p:cNvPr name="AutoShape 8" id="8"/>
          <p:cNvSpPr/>
          <p:nvPr/>
        </p:nvSpPr>
        <p:spPr>
          <a:xfrm>
            <a:off x="4214033" y="6137981"/>
            <a:ext cx="1373309" cy="0"/>
          </a:xfrm>
          <a:prstGeom prst="line">
            <a:avLst/>
          </a:prstGeom>
          <a:ln cap="flat" w="104775">
            <a:solidFill>
              <a:srgbClr val="000000"/>
            </a:solidFill>
            <a:prstDash val="solid"/>
            <a:headEnd type="none" len="sm" w="sm"/>
            <a:tailEnd type="none" len="sm" w="sm"/>
          </a:ln>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aphicFrame>
        <p:nvGraphicFramePr>
          <p:cNvPr name="Table 3" id="3"/>
          <p:cNvGraphicFramePr>
            <a:graphicFrameLocks noGrp="true"/>
          </p:cNvGraphicFramePr>
          <p:nvPr/>
        </p:nvGraphicFramePr>
        <p:xfrm>
          <a:off x="348331" y="2432258"/>
          <a:ext cx="17591338" cy="6848924"/>
        </p:xfrm>
        <a:graphic>
          <a:graphicData uri="http://schemas.openxmlformats.org/drawingml/2006/table">
            <a:tbl>
              <a:tblPr/>
              <a:tblGrid>
                <a:gridCol w="2845968"/>
                <a:gridCol w="2845968"/>
                <a:gridCol w="2845968"/>
                <a:gridCol w="2845968"/>
                <a:gridCol w="2845968"/>
                <a:gridCol w="3361498"/>
              </a:tblGrid>
              <a:tr h="900359">
                <a:tc>
                  <a:txBody>
                    <a:bodyPr anchor="t" rtlCol="false"/>
                    <a:lstStyle/>
                    <a:p>
                      <a:pPr algn="ctr">
                        <a:lnSpc>
                          <a:spcPts val="2659"/>
                        </a:lnSpc>
                        <a:defRPr/>
                      </a:pPr>
                      <a:r>
                        <a:rPr lang="en-US" b="true" sz="1899">
                          <a:solidFill>
                            <a:srgbClr val="FFFFFF"/>
                          </a:solidFill>
                          <a:latin typeface="Poppins Bold"/>
                          <a:ea typeface="Poppins Bold"/>
                          <a:cs typeface="Poppins Bold"/>
                          <a:sym typeface="Poppins Bold"/>
                        </a:rPr>
                        <a:t>H1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c>
                  <a:txBody>
                    <a:bodyPr anchor="t" rtlCol="false"/>
                    <a:lstStyle/>
                    <a:p>
                      <a:pPr algn="ctr">
                        <a:lnSpc>
                          <a:spcPts val="2659"/>
                        </a:lnSpc>
                        <a:defRPr/>
                      </a:pPr>
                      <a:r>
                        <a:rPr lang="en-US" b="true" sz="1899">
                          <a:solidFill>
                            <a:srgbClr val="FFFFFF"/>
                          </a:solidFill>
                          <a:latin typeface="Poppins Bold"/>
                          <a:ea typeface="Poppins Bold"/>
                          <a:cs typeface="Poppins Bold"/>
                          <a:sym typeface="Poppins Bold"/>
                        </a:rPr>
                        <a:t>H2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c>
                  <a:txBody>
                    <a:bodyPr anchor="t" rtlCol="false"/>
                    <a:lstStyle/>
                    <a:p>
                      <a:pPr algn="ctr">
                        <a:lnSpc>
                          <a:spcPts val="2659"/>
                        </a:lnSpc>
                        <a:defRPr/>
                      </a:pPr>
                      <a:r>
                        <a:rPr lang="en-US" b="true" sz="1899">
                          <a:solidFill>
                            <a:srgbClr val="FFFFFF"/>
                          </a:solidFill>
                          <a:latin typeface="Poppins Bold"/>
                          <a:ea typeface="Poppins Bold"/>
                          <a:cs typeface="Poppins Bold"/>
                          <a:sym typeface="Poppins Bold"/>
                        </a:rPr>
                        <a:t>H3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c>
                  <a:txBody>
                    <a:bodyPr anchor="t" rtlCol="false"/>
                    <a:lstStyle/>
                    <a:p>
                      <a:pPr algn="ctr">
                        <a:lnSpc>
                          <a:spcPts val="2659"/>
                        </a:lnSpc>
                        <a:defRPr/>
                      </a:pPr>
                      <a:r>
                        <a:rPr lang="en-US" b="true" sz="1899">
                          <a:solidFill>
                            <a:srgbClr val="FFFFFF"/>
                          </a:solidFill>
                          <a:latin typeface="Poppins Bold"/>
                          <a:ea typeface="Poppins Bold"/>
                          <a:cs typeface="Poppins Bold"/>
                          <a:sym typeface="Poppins Bold"/>
                        </a:rPr>
                        <a:t>H5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c>
                  <a:txBody>
                    <a:bodyPr anchor="t" rtlCol="false"/>
                    <a:lstStyle/>
                    <a:p>
                      <a:pPr algn="ctr">
                        <a:lnSpc>
                          <a:spcPts val="2659"/>
                        </a:lnSpc>
                        <a:defRPr/>
                      </a:pPr>
                      <a:r>
                        <a:rPr lang="en-US" b="true" sz="1899">
                          <a:solidFill>
                            <a:srgbClr val="FFFFFF"/>
                          </a:solidFill>
                          <a:latin typeface="Poppins Bold"/>
                          <a:ea typeface="Poppins Bold"/>
                          <a:cs typeface="Poppins Bold"/>
                          <a:sym typeface="Poppins Bold"/>
                        </a:rPr>
                        <a:t>H4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c>
                  <a:txBody>
                    <a:bodyPr anchor="t" rtlCol="false"/>
                    <a:lstStyle/>
                    <a:p>
                      <a:pPr algn="ctr">
                        <a:lnSpc>
                          <a:spcPts val="2659"/>
                        </a:lnSpc>
                        <a:defRPr/>
                      </a:pPr>
                      <a:r>
                        <a:rPr lang="en-US" b="true" sz="1899">
                          <a:solidFill>
                            <a:srgbClr val="FFFFFF"/>
                          </a:solidFill>
                          <a:latin typeface="Poppins Bold"/>
                          <a:ea typeface="Poppins Bold"/>
                          <a:cs typeface="Poppins Bold"/>
                          <a:sym typeface="Poppins Bold"/>
                        </a:rPr>
                        <a:t>H6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CA3B2"/>
                    </a:solidFill>
                  </a:tcPr>
                </a:tc>
              </a:tr>
              <a:tr h="1570838">
                <a:tc>
                  <a:txBody>
                    <a:bodyPr anchor="t" rtlCol="false"/>
                    <a:lstStyle/>
                    <a:p>
                      <a:pPr algn="ctr">
                        <a:lnSpc>
                          <a:spcPts val="2659"/>
                        </a:lnSpc>
                        <a:defRPr/>
                      </a:pPr>
                      <a:r>
                        <a:rPr lang="en-US" sz="1899">
                          <a:solidFill>
                            <a:srgbClr val="FFFFFF"/>
                          </a:solidFill>
                          <a:latin typeface="Poppins"/>
                          <a:ea typeface="Poppins"/>
                          <a:cs typeface="Poppins"/>
                          <a:sym typeface="Poppins"/>
                        </a:rPr>
                        <a:t>loan grade</a:t>
                      </a:r>
                      <a:endParaRPr lang="en-US" sz="1100"/>
                    </a:p>
                    <a:p>
                      <a:pPr algn="ctr">
                        <a:lnSpc>
                          <a:spcPts val="2659"/>
                        </a:lnSpc>
                      </a:pPr>
                      <a:r>
                        <a:rPr lang="en-US" sz="1899">
                          <a:solidFill>
                            <a:srgbClr val="FFFFFF"/>
                          </a:solidFill>
                          <a:latin typeface="Poppins"/>
                          <a:ea typeface="Poppins"/>
                          <a:cs typeface="Poppins"/>
                          <a:sym typeface="Poppins"/>
                        </a:rPr>
                        <a:t>vs</a:t>
                      </a:r>
                    </a:p>
                    <a:p>
                      <a:pPr algn="ctr">
                        <a:lnSpc>
                          <a:spcPts val="2659"/>
                        </a:lnSpc>
                      </a:pPr>
                      <a:r>
                        <a:rPr lang="en-US" sz="1899">
                          <a:solidFill>
                            <a:srgbClr val="FFFFFF"/>
                          </a:solidFill>
                          <a:latin typeface="Poppins"/>
                          <a:ea typeface="Poppins"/>
                          <a:cs typeface="Poppins"/>
                          <a:sym typeface="Poppins"/>
                        </a:rPr>
                        <a:t>loan status</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person_income</a:t>
                      </a:r>
                      <a:endParaRPr lang="en-US" sz="1100"/>
                    </a:p>
                    <a:p>
                      <a:pPr algn="ctr">
                        <a:lnSpc>
                          <a:spcPts val="2659"/>
                        </a:lnSpc>
                      </a:pPr>
                      <a:r>
                        <a:rPr lang="en-US" sz="1899">
                          <a:solidFill>
                            <a:srgbClr val="FFFFFF"/>
                          </a:solidFill>
                          <a:latin typeface="Poppins"/>
                          <a:ea typeface="Poppins"/>
                          <a:cs typeface="Poppins"/>
                          <a:sym typeface="Poppins"/>
                        </a:rPr>
                        <a:t>vs</a:t>
                      </a:r>
                    </a:p>
                    <a:p>
                      <a:pPr algn="ctr">
                        <a:lnSpc>
                          <a:spcPts val="2659"/>
                        </a:lnSpc>
                      </a:pPr>
                      <a:r>
                        <a:rPr lang="en-US" sz="1899">
                          <a:solidFill>
                            <a:srgbClr val="FFFFFF"/>
                          </a:solidFill>
                          <a:latin typeface="Poppins"/>
                          <a:ea typeface="Poppins"/>
                          <a:cs typeface="Poppins"/>
                          <a:sym typeface="Poppins"/>
                        </a:rPr>
                        <a:t>loan stat</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loan_int_rate</a:t>
                      </a:r>
                      <a:endParaRPr lang="en-US" sz="1100"/>
                    </a:p>
                    <a:p>
                      <a:pPr algn="ctr">
                        <a:lnSpc>
                          <a:spcPts val="2659"/>
                        </a:lnSpc>
                      </a:pPr>
                      <a:r>
                        <a:rPr lang="en-US" sz="1899">
                          <a:solidFill>
                            <a:srgbClr val="FFFFFF"/>
                          </a:solidFill>
                          <a:latin typeface="Poppins"/>
                          <a:ea typeface="Poppins"/>
                          <a:cs typeface="Poppins"/>
                          <a:sym typeface="Poppins"/>
                        </a:rPr>
                        <a:t>vs</a:t>
                      </a:r>
                    </a:p>
                    <a:p>
                      <a:pPr algn="ctr">
                        <a:lnSpc>
                          <a:spcPts val="2659"/>
                        </a:lnSpc>
                      </a:pPr>
                      <a:r>
                        <a:rPr lang="en-US" sz="1899">
                          <a:solidFill>
                            <a:srgbClr val="FFFFFF"/>
                          </a:solidFill>
                          <a:latin typeface="Poppins"/>
                          <a:ea typeface="Poppins"/>
                          <a:cs typeface="Poppins"/>
                          <a:sym typeface="Poppins"/>
                        </a:rPr>
                        <a:t>loan_status</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c</a:t>
                      </a:r>
                      <a:r>
                        <a:rPr lang="en-US" sz="1899">
                          <a:solidFill>
                            <a:srgbClr val="FFFFFF"/>
                          </a:solidFill>
                          <a:latin typeface="Poppins"/>
                          <a:ea typeface="Poppins"/>
                          <a:cs typeface="Poppins"/>
                          <a:sym typeface="Poppins"/>
                        </a:rPr>
                        <a:t>b_person_default</a:t>
                      </a:r>
                      <a:endParaRPr lang="en-US" sz="1100"/>
                    </a:p>
                    <a:p>
                      <a:pPr algn="ctr">
                        <a:lnSpc>
                          <a:spcPts val="2659"/>
                        </a:lnSpc>
                      </a:pPr>
                      <a:r>
                        <a:rPr lang="en-US" sz="1899">
                          <a:solidFill>
                            <a:srgbClr val="FFFFFF"/>
                          </a:solidFill>
                          <a:latin typeface="Poppins"/>
                          <a:ea typeface="Poppins"/>
                          <a:cs typeface="Poppins"/>
                          <a:sym typeface="Poppins"/>
                        </a:rPr>
                        <a:t>vs</a:t>
                      </a:r>
                    </a:p>
                    <a:p>
                      <a:pPr algn="ctr">
                        <a:lnSpc>
                          <a:spcPts val="2659"/>
                        </a:lnSpc>
                      </a:pPr>
                      <a:r>
                        <a:rPr lang="en-US" sz="1899">
                          <a:solidFill>
                            <a:srgbClr val="FFFFFF"/>
                          </a:solidFill>
                          <a:latin typeface="Poppins"/>
                          <a:ea typeface="Poppins"/>
                          <a:cs typeface="Poppins"/>
                          <a:sym typeface="Poppins"/>
                        </a:rPr>
                        <a:t>loan_status</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loan_intent</a:t>
                      </a:r>
                      <a:endParaRPr lang="en-US" sz="1100"/>
                    </a:p>
                    <a:p>
                      <a:pPr algn="ctr">
                        <a:lnSpc>
                          <a:spcPts val="2659"/>
                        </a:lnSpc>
                      </a:pPr>
                      <a:r>
                        <a:rPr lang="en-US" sz="1899">
                          <a:solidFill>
                            <a:srgbClr val="FFFFFF"/>
                          </a:solidFill>
                          <a:latin typeface="Poppins"/>
                          <a:ea typeface="Poppins"/>
                          <a:cs typeface="Poppins"/>
                          <a:sym typeface="Poppins"/>
                        </a:rPr>
                        <a:t>vs</a:t>
                      </a:r>
                    </a:p>
                    <a:p>
                      <a:pPr algn="ctr">
                        <a:lnSpc>
                          <a:spcPts val="2659"/>
                        </a:lnSpc>
                      </a:pPr>
                      <a:r>
                        <a:rPr lang="en-US" sz="1899">
                          <a:solidFill>
                            <a:srgbClr val="FFFFFF"/>
                          </a:solidFill>
                          <a:latin typeface="Poppins"/>
                          <a:ea typeface="Poppins"/>
                          <a:cs typeface="Poppins"/>
                          <a:sym typeface="Poppins"/>
                        </a:rPr>
                        <a:t>loan_amnt</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l</a:t>
                      </a:r>
                      <a:r>
                        <a:rPr lang="en-US" sz="1899">
                          <a:solidFill>
                            <a:srgbClr val="FFFFFF"/>
                          </a:solidFill>
                          <a:latin typeface="Poppins"/>
                          <a:ea typeface="Poppins"/>
                          <a:cs typeface="Poppins"/>
                          <a:sym typeface="Poppins"/>
                        </a:rPr>
                        <a:t>oan_percent_income</a:t>
                      </a:r>
                      <a:endParaRPr lang="en-US" sz="1100"/>
                    </a:p>
                    <a:p>
                      <a:pPr algn="ctr">
                        <a:lnSpc>
                          <a:spcPts val="2659"/>
                        </a:lnSpc>
                      </a:pPr>
                      <a:r>
                        <a:rPr lang="en-US" sz="1899">
                          <a:solidFill>
                            <a:srgbClr val="FFFFFF"/>
                          </a:solidFill>
                          <a:latin typeface="Poppins"/>
                          <a:ea typeface="Poppins"/>
                          <a:cs typeface="Poppins"/>
                          <a:sym typeface="Poppins"/>
                        </a:rPr>
                        <a:t>vs</a:t>
                      </a:r>
                    </a:p>
                    <a:p>
                      <a:pPr algn="ctr">
                        <a:lnSpc>
                          <a:spcPts val="2659"/>
                        </a:lnSpc>
                      </a:pPr>
                      <a:r>
                        <a:rPr lang="en-US" sz="1899">
                          <a:solidFill>
                            <a:srgbClr val="FFFFFF"/>
                          </a:solidFill>
                          <a:latin typeface="Poppins"/>
                          <a:ea typeface="Poppins"/>
                          <a:cs typeface="Poppins"/>
                          <a:sym typeface="Poppins"/>
                        </a:rPr>
                        <a:t>loan_status</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4377727">
                <a:tc>
                  <a:txBody>
                    <a:bodyPr anchor="t" rtlCol="false"/>
                    <a:lstStyle/>
                    <a:p>
                      <a:pPr algn="l">
                        <a:lnSpc>
                          <a:spcPts val="2659"/>
                        </a:lnSpc>
                        <a:defRPr/>
                      </a:pPr>
                      <a:r>
                        <a:rPr lang="en-US" sz="1899">
                          <a:solidFill>
                            <a:srgbClr val="FFFFFF"/>
                          </a:solidFill>
                          <a:latin typeface="Poppins"/>
                          <a:ea typeface="Poppins"/>
                          <a:cs typeface="Poppins"/>
                          <a:sym typeface="Poppins"/>
                        </a:rPr>
                        <a:t>Grade is significantly associated</a:t>
                      </a:r>
                      <a:endParaRPr lang="en-US" sz="1100"/>
                    </a:p>
                    <a:p>
                      <a:pPr algn="l">
                        <a:lnSpc>
                          <a:spcPts val="2659"/>
                        </a:lnSpc>
                      </a:pPr>
                    </a:p>
                    <a:p>
                      <a:pPr algn="l">
                        <a:lnSpc>
                          <a:spcPts val="2659"/>
                        </a:lnSpc>
                      </a:pPr>
                      <a:r>
                        <a:rPr lang="en-US" sz="1899">
                          <a:solidFill>
                            <a:srgbClr val="FFFFFF"/>
                          </a:solidFill>
                          <a:latin typeface="Poppins"/>
                          <a:ea typeface="Poppins"/>
                          <a:cs typeface="Poppins"/>
                          <a:sym typeface="Poppins"/>
                        </a:rPr>
                        <a:t>The grading system is validated as a predictor</a:t>
                      </a:r>
                    </a:p>
                    <a:p>
                      <a:pPr algn="l">
                        <a:lnSpc>
                          <a:spcPts val="2659"/>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FFFFFF"/>
                          </a:solidFill>
                          <a:latin typeface="Poppins"/>
                          <a:ea typeface="Poppins"/>
                          <a:cs typeface="Poppins"/>
                          <a:sym typeface="Poppins"/>
                        </a:rPr>
                        <a:t>Non default median income is significantly higher than that of defaulting borrowers</a:t>
                      </a:r>
                      <a:endParaRPr lang="en-US" sz="1100"/>
                    </a:p>
                    <a:p>
                      <a:pPr algn="l">
                        <a:lnSpc>
                          <a:spcPts val="2659"/>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FFFFFF"/>
                          </a:solidFill>
                          <a:latin typeface="Poppins"/>
                          <a:ea typeface="Poppins"/>
                          <a:cs typeface="Poppins"/>
                          <a:sym typeface="Poppins"/>
                        </a:rPr>
                        <a:t>Interest rate is positively correlated with default.</a:t>
                      </a:r>
                      <a:endParaRPr lang="en-US" sz="1100"/>
                    </a:p>
                    <a:p>
                      <a:pPr algn="l">
                        <a:lnSpc>
                          <a:spcPts val="2659"/>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FFFFFF"/>
                          </a:solidFill>
                          <a:latin typeface="Poppins"/>
                          <a:ea typeface="Poppins"/>
                          <a:cs typeface="Poppins"/>
                          <a:sym typeface="Poppins"/>
                        </a:rPr>
                        <a:t>Loan distribution differs significantly across loan purposes.</a:t>
                      </a:r>
                      <a:endParaRPr lang="en-US" sz="1100"/>
                    </a:p>
                    <a:p>
                      <a:pPr algn="l">
                        <a:lnSpc>
                          <a:spcPts val="2659"/>
                        </a:lnSpc>
                      </a:pPr>
                    </a:p>
                    <a:p>
                      <a:pPr algn="l">
                        <a:lnSpc>
                          <a:spcPts val="2659"/>
                        </a:lnSpc>
                      </a:pPr>
                      <a:r>
                        <a:rPr lang="en-US" sz="1899">
                          <a:solidFill>
                            <a:srgbClr val="FFFFFF"/>
                          </a:solidFill>
                          <a:latin typeface="Poppins"/>
                          <a:ea typeface="Poppins"/>
                          <a:cs typeface="Poppins"/>
                          <a:sym typeface="Poppins"/>
                        </a:rPr>
                        <a:t>Intent is significant, but the practical difference is small.</a:t>
                      </a:r>
                    </a:p>
                    <a:p>
                      <a:pPr algn="l">
                        <a:lnSpc>
                          <a:spcPts val="2659"/>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FFFFFF"/>
                          </a:solidFill>
                          <a:latin typeface="Poppins"/>
                          <a:ea typeface="Poppins"/>
                          <a:cs typeface="Poppins"/>
                          <a:sym typeface="Poppins"/>
                        </a:rPr>
                        <a:t>Default history is correlated with loan_status.</a:t>
                      </a:r>
                      <a:endParaRPr lang="en-US" sz="1100"/>
                    </a:p>
                    <a:p>
                      <a:pPr algn="l">
                        <a:lnSpc>
                          <a:spcPts val="2659"/>
                        </a:lnSpc>
                      </a:pPr>
                    </a:p>
                    <a:p>
                      <a:pPr algn="l">
                        <a:lnSpc>
                          <a:spcPts val="2659"/>
                        </a:lnSpc>
                      </a:pPr>
                      <a:r>
                        <a:rPr lang="en-US" sz="1899">
                          <a:solidFill>
                            <a:srgbClr val="FFFFFF"/>
                          </a:solidFill>
                          <a:latin typeface="Poppins"/>
                          <a:ea typeface="Poppins"/>
                          <a:cs typeface="Poppins"/>
                          <a:sym typeface="Poppins"/>
                        </a:rPr>
                        <a:t>Borrowers with history (Y) have a 37.5% default rate, versus 18% for those without (N).</a:t>
                      </a:r>
                    </a:p>
                    <a:p>
                      <a:pPr algn="l">
                        <a:lnSpc>
                          <a:spcPts val="2659"/>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FFFFFF"/>
                          </a:solidFill>
                          <a:latin typeface="Poppins"/>
                          <a:ea typeface="Poppins"/>
                          <a:cs typeface="Poppins"/>
                          <a:sym typeface="Poppins"/>
                        </a:rPr>
                        <a:t>DTI of defaulting borrowers (24%) is nearly twice that of non default borrowers (13%).</a:t>
                      </a:r>
                      <a:endParaRPr lang="en-US" sz="1100"/>
                    </a:p>
                    <a:p>
                      <a:pPr algn="l">
                        <a:lnSpc>
                          <a:spcPts val="2659"/>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4" id="4"/>
          <p:cNvSpPr txBox="true"/>
          <p:nvPr/>
        </p:nvSpPr>
        <p:spPr>
          <a:xfrm rot="0">
            <a:off x="1054471" y="672443"/>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Hypothesis Testing</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54471" y="809625"/>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Borrower Segmentation (K-Means)</a:t>
            </a:r>
          </a:p>
        </p:txBody>
      </p:sp>
      <p:grpSp>
        <p:nvGrpSpPr>
          <p:cNvPr name="Group 4" id="4"/>
          <p:cNvGrpSpPr/>
          <p:nvPr/>
        </p:nvGrpSpPr>
        <p:grpSpPr>
          <a:xfrm rot="0">
            <a:off x="618850" y="1991938"/>
            <a:ext cx="4086292" cy="7372520"/>
            <a:chOff x="0" y="0"/>
            <a:chExt cx="900412" cy="1624531"/>
          </a:xfrm>
        </p:grpSpPr>
        <p:sp>
          <p:nvSpPr>
            <p:cNvPr name="Freeform 5" id="5"/>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6" id="6"/>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483091" y="2136677"/>
            <a:ext cx="4538324" cy="737572"/>
          </a:xfrm>
          <a:prstGeom prst="rect">
            <a:avLst/>
          </a:prstGeom>
        </p:spPr>
        <p:txBody>
          <a:bodyPr anchor="t" rtlCol="false" tIns="0" lIns="0" bIns="0" rIns="0">
            <a:spAutoFit/>
          </a:bodyPr>
          <a:lstStyle/>
          <a:p>
            <a:pPr algn="ctr">
              <a:lnSpc>
                <a:spcPts val="2923"/>
              </a:lnSpc>
            </a:pPr>
            <a:r>
              <a:rPr lang="en-US" b="true" sz="2088">
                <a:solidFill>
                  <a:srgbClr val="1CD24F"/>
                </a:solidFill>
                <a:latin typeface="Poppins Bold"/>
                <a:ea typeface="Poppins Bold"/>
                <a:cs typeface="Poppins Bold"/>
                <a:sym typeface="Poppins Bold"/>
              </a:rPr>
              <a:t>Segment A</a:t>
            </a:r>
          </a:p>
          <a:p>
            <a:pPr algn="ctr">
              <a:lnSpc>
                <a:spcPts val="2923"/>
              </a:lnSpc>
            </a:pPr>
            <a:r>
              <a:rPr lang="en-US" b="true" sz="2088">
                <a:solidFill>
                  <a:srgbClr val="1CD24F"/>
                </a:solidFill>
                <a:latin typeface="Poppins Bold"/>
                <a:ea typeface="Poppins Bold"/>
                <a:cs typeface="Poppins Bold"/>
                <a:sym typeface="Poppins Bold"/>
              </a:rPr>
              <a:t>Prime </a:t>
            </a:r>
          </a:p>
        </p:txBody>
      </p:sp>
      <p:sp>
        <p:nvSpPr>
          <p:cNvPr name="TextBox 8" id="8"/>
          <p:cNvSpPr txBox="true"/>
          <p:nvPr/>
        </p:nvSpPr>
        <p:spPr>
          <a:xfrm rot="0">
            <a:off x="618850" y="3379601"/>
            <a:ext cx="4086292" cy="6010097"/>
          </a:xfrm>
          <a:prstGeom prst="rect">
            <a:avLst/>
          </a:prstGeom>
        </p:spPr>
        <p:txBody>
          <a:bodyPr anchor="t" rtlCol="false" tIns="0" lIns="0" bIns="0" rIns="0">
            <a:spAutoFit/>
          </a:bodyPr>
          <a:lstStyle/>
          <a:p>
            <a:pPr algn="ctr">
              <a:lnSpc>
                <a:spcPts val="2634"/>
              </a:lnSpc>
            </a:pPr>
            <a:r>
              <a:rPr lang="en-US" sz="1881">
                <a:solidFill>
                  <a:srgbClr val="1CD24F"/>
                </a:solidFill>
                <a:latin typeface="Poppins"/>
                <a:ea typeface="Poppins"/>
                <a:cs typeface="Poppins"/>
                <a:sym typeface="Poppins"/>
              </a:rPr>
              <a:t>14.215 </a:t>
            </a:r>
          </a:p>
          <a:p>
            <a:pPr algn="ctr">
              <a:lnSpc>
                <a:spcPts val="2634"/>
              </a:lnSpc>
            </a:pPr>
            <a:r>
              <a:rPr lang="en-US" sz="1881">
                <a:solidFill>
                  <a:srgbClr val="FFFFFF"/>
                </a:solidFill>
                <a:latin typeface="Poppins"/>
                <a:ea typeface="Poppins"/>
                <a:cs typeface="Poppins"/>
                <a:sym typeface="Poppins"/>
              </a:rPr>
              <a:t>44,7% of total</a:t>
            </a:r>
          </a:p>
          <a:p>
            <a:pPr algn="ctr">
              <a:lnSpc>
                <a:spcPts val="2634"/>
              </a:lnSpc>
            </a:pPr>
          </a:p>
          <a:p>
            <a:pPr algn="ctr">
              <a:lnSpc>
                <a:spcPts val="2634"/>
              </a:lnSpc>
            </a:pPr>
            <a:r>
              <a:rPr lang="en-US" sz="1881">
                <a:solidFill>
                  <a:srgbClr val="FFFFFF"/>
                </a:solidFill>
                <a:latin typeface="Poppins"/>
                <a:ea typeface="Poppins"/>
                <a:cs typeface="Poppins"/>
                <a:sym typeface="Poppins"/>
              </a:rPr>
              <a:t>Default</a:t>
            </a:r>
          </a:p>
          <a:p>
            <a:pPr algn="ctr">
              <a:lnSpc>
                <a:spcPts val="2634"/>
              </a:lnSpc>
            </a:pPr>
            <a:r>
              <a:rPr lang="en-US" sz="1881">
                <a:solidFill>
                  <a:srgbClr val="1CD24F"/>
                </a:solidFill>
                <a:latin typeface="Poppins"/>
                <a:ea typeface="Poppins"/>
                <a:cs typeface="Poppins"/>
                <a:sym typeface="Poppins"/>
              </a:rPr>
              <a:t>7,84%</a:t>
            </a:r>
          </a:p>
          <a:p>
            <a:pPr algn="ctr">
              <a:lnSpc>
                <a:spcPts val="2634"/>
              </a:lnSpc>
            </a:pPr>
          </a:p>
          <a:p>
            <a:pPr algn="ctr">
              <a:lnSpc>
                <a:spcPts val="2634"/>
              </a:lnSpc>
            </a:pPr>
            <a:r>
              <a:rPr lang="en-US" sz="1881">
                <a:solidFill>
                  <a:srgbClr val="FFFFFF"/>
                </a:solidFill>
                <a:latin typeface="Poppins"/>
                <a:ea typeface="Poppins"/>
                <a:cs typeface="Poppins"/>
                <a:sym typeface="Poppins"/>
              </a:rPr>
              <a:t>Income</a:t>
            </a:r>
          </a:p>
          <a:p>
            <a:pPr algn="ctr">
              <a:lnSpc>
                <a:spcPts val="2634"/>
              </a:lnSpc>
            </a:pPr>
            <a:r>
              <a:rPr lang="en-US" sz="1881">
                <a:solidFill>
                  <a:srgbClr val="1CD24F"/>
                </a:solidFill>
                <a:latin typeface="Poppins"/>
                <a:ea typeface="Poppins"/>
                <a:cs typeface="Poppins"/>
                <a:sym typeface="Poppins"/>
              </a:rPr>
              <a:t>$56k</a:t>
            </a:r>
          </a:p>
          <a:p>
            <a:pPr algn="ctr">
              <a:lnSpc>
                <a:spcPts val="2634"/>
              </a:lnSpc>
            </a:pPr>
          </a:p>
          <a:p>
            <a:pPr algn="ctr">
              <a:lnSpc>
                <a:spcPts val="2634"/>
              </a:lnSpc>
            </a:pPr>
            <a:r>
              <a:rPr lang="en-US" sz="1881">
                <a:solidFill>
                  <a:srgbClr val="FFFFFF"/>
                </a:solidFill>
                <a:latin typeface="Poppins"/>
                <a:ea typeface="Poppins"/>
                <a:cs typeface="Poppins"/>
                <a:sym typeface="Poppins"/>
              </a:rPr>
              <a:t>Loan</a:t>
            </a:r>
          </a:p>
          <a:p>
            <a:pPr algn="ctr">
              <a:lnSpc>
                <a:spcPts val="2634"/>
              </a:lnSpc>
            </a:pPr>
            <a:r>
              <a:rPr lang="en-US" sz="1881">
                <a:solidFill>
                  <a:srgbClr val="1CD24F"/>
                </a:solidFill>
                <a:latin typeface="Poppins"/>
                <a:ea typeface="Poppins"/>
                <a:cs typeface="Poppins"/>
                <a:sym typeface="Poppins"/>
              </a:rPr>
              <a:t>$6.300</a:t>
            </a:r>
          </a:p>
          <a:p>
            <a:pPr algn="ctr">
              <a:lnSpc>
                <a:spcPts val="2634"/>
              </a:lnSpc>
            </a:pPr>
          </a:p>
          <a:p>
            <a:pPr algn="ctr">
              <a:lnSpc>
                <a:spcPts val="2634"/>
              </a:lnSpc>
            </a:pPr>
            <a:r>
              <a:rPr lang="en-US" sz="1881">
                <a:solidFill>
                  <a:srgbClr val="FFFFFF"/>
                </a:solidFill>
                <a:latin typeface="Poppins"/>
                <a:ea typeface="Poppins"/>
                <a:cs typeface="Poppins"/>
                <a:sym typeface="Poppins"/>
              </a:rPr>
              <a:t>Bunga</a:t>
            </a:r>
          </a:p>
          <a:p>
            <a:pPr algn="ctr">
              <a:lnSpc>
                <a:spcPts val="2634"/>
              </a:lnSpc>
            </a:pPr>
            <a:r>
              <a:rPr lang="en-US" sz="1881">
                <a:solidFill>
                  <a:srgbClr val="1CD24F"/>
                </a:solidFill>
                <a:latin typeface="Poppins"/>
                <a:ea typeface="Poppins"/>
                <a:cs typeface="Poppins"/>
                <a:sym typeface="Poppins"/>
              </a:rPr>
              <a:t>8,49%</a:t>
            </a:r>
          </a:p>
          <a:p>
            <a:pPr algn="ctr">
              <a:lnSpc>
                <a:spcPts val="2634"/>
              </a:lnSpc>
            </a:pPr>
          </a:p>
          <a:p>
            <a:pPr algn="ctr">
              <a:lnSpc>
                <a:spcPts val="2634"/>
              </a:lnSpc>
            </a:pPr>
            <a:r>
              <a:rPr lang="en-US" sz="1881">
                <a:solidFill>
                  <a:srgbClr val="FFFFFF"/>
                </a:solidFill>
                <a:latin typeface="Poppins"/>
                <a:ea typeface="Poppins"/>
                <a:cs typeface="Poppins"/>
                <a:sym typeface="Poppins"/>
              </a:rPr>
              <a:t>DTI</a:t>
            </a:r>
          </a:p>
          <a:p>
            <a:pPr algn="ctr">
              <a:lnSpc>
                <a:spcPts val="2634"/>
              </a:lnSpc>
            </a:pPr>
            <a:r>
              <a:rPr lang="en-US" sz="1881">
                <a:solidFill>
                  <a:srgbClr val="1CD24F"/>
                </a:solidFill>
                <a:latin typeface="Poppins"/>
                <a:ea typeface="Poppins"/>
                <a:cs typeface="Poppins"/>
                <a:sym typeface="Poppins"/>
              </a:rPr>
              <a:t>12%</a:t>
            </a:r>
          </a:p>
          <a:p>
            <a:pPr algn="ctr">
              <a:lnSpc>
                <a:spcPts val="2634"/>
              </a:lnSpc>
            </a:pPr>
          </a:p>
        </p:txBody>
      </p:sp>
      <p:sp>
        <p:nvSpPr>
          <p:cNvPr name="AutoShape 9" id="9"/>
          <p:cNvSpPr/>
          <p:nvPr/>
        </p:nvSpPr>
        <p:spPr>
          <a:xfrm flipV="true">
            <a:off x="618850" y="3095000"/>
            <a:ext cx="4086292" cy="0"/>
          </a:xfrm>
          <a:prstGeom prst="line">
            <a:avLst/>
          </a:prstGeom>
          <a:ln cap="flat" w="38100">
            <a:solidFill>
              <a:srgbClr val="FFFFFF"/>
            </a:solidFill>
            <a:prstDash val="solid"/>
            <a:headEnd type="none" len="sm" w="sm"/>
            <a:tailEnd type="none" len="sm" w="sm"/>
          </a:ln>
        </p:spPr>
      </p:sp>
      <p:grpSp>
        <p:nvGrpSpPr>
          <p:cNvPr name="Group 10" id="10"/>
          <p:cNvGrpSpPr/>
          <p:nvPr/>
        </p:nvGrpSpPr>
        <p:grpSpPr>
          <a:xfrm rot="0">
            <a:off x="5021416" y="1991938"/>
            <a:ext cx="4086292" cy="7372520"/>
            <a:chOff x="0" y="0"/>
            <a:chExt cx="900412" cy="1624531"/>
          </a:xfrm>
        </p:grpSpPr>
        <p:sp>
          <p:nvSpPr>
            <p:cNvPr name="Freeform 11" id="11"/>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12" id="12"/>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5021416" y="3379601"/>
            <a:ext cx="4086292" cy="6010097"/>
          </a:xfrm>
          <a:prstGeom prst="rect">
            <a:avLst/>
          </a:prstGeom>
        </p:spPr>
        <p:txBody>
          <a:bodyPr anchor="t" rtlCol="false" tIns="0" lIns="0" bIns="0" rIns="0">
            <a:spAutoFit/>
          </a:bodyPr>
          <a:lstStyle/>
          <a:p>
            <a:pPr algn="ctr">
              <a:lnSpc>
                <a:spcPts val="2634"/>
              </a:lnSpc>
            </a:pPr>
            <a:r>
              <a:rPr lang="en-US" sz="1881">
                <a:solidFill>
                  <a:srgbClr val="C0BE29"/>
                </a:solidFill>
                <a:latin typeface="Poppins"/>
                <a:ea typeface="Poppins"/>
                <a:cs typeface="Poppins"/>
                <a:sym typeface="Poppins"/>
              </a:rPr>
              <a:t>3.439 </a:t>
            </a:r>
          </a:p>
          <a:p>
            <a:pPr algn="ctr">
              <a:lnSpc>
                <a:spcPts val="2634"/>
              </a:lnSpc>
            </a:pPr>
            <a:r>
              <a:rPr lang="en-US" sz="1881">
                <a:solidFill>
                  <a:srgbClr val="FFFFFF"/>
                </a:solidFill>
                <a:latin typeface="Poppins"/>
                <a:ea typeface="Poppins"/>
                <a:cs typeface="Poppins"/>
                <a:sym typeface="Poppins"/>
              </a:rPr>
              <a:t>10,8% of total</a:t>
            </a:r>
          </a:p>
          <a:p>
            <a:pPr algn="ctr">
              <a:lnSpc>
                <a:spcPts val="2634"/>
              </a:lnSpc>
            </a:pPr>
          </a:p>
          <a:p>
            <a:pPr algn="ctr">
              <a:lnSpc>
                <a:spcPts val="2634"/>
              </a:lnSpc>
            </a:pPr>
            <a:r>
              <a:rPr lang="en-US" sz="1881">
                <a:solidFill>
                  <a:srgbClr val="FFFFFF"/>
                </a:solidFill>
                <a:latin typeface="Poppins"/>
                <a:ea typeface="Poppins"/>
                <a:cs typeface="Poppins"/>
                <a:sym typeface="Poppins"/>
              </a:rPr>
              <a:t>Default</a:t>
            </a:r>
          </a:p>
          <a:p>
            <a:pPr algn="ctr">
              <a:lnSpc>
                <a:spcPts val="2634"/>
              </a:lnSpc>
            </a:pPr>
            <a:r>
              <a:rPr lang="en-US" sz="1881">
                <a:solidFill>
                  <a:srgbClr val="C0BE29"/>
                </a:solidFill>
                <a:latin typeface="Poppins"/>
                <a:ea typeface="Poppins"/>
                <a:cs typeface="Poppins"/>
                <a:sym typeface="Poppins"/>
              </a:rPr>
              <a:t>18,3%</a:t>
            </a:r>
          </a:p>
          <a:p>
            <a:pPr algn="ctr">
              <a:lnSpc>
                <a:spcPts val="2634"/>
              </a:lnSpc>
            </a:pPr>
          </a:p>
          <a:p>
            <a:pPr algn="ctr">
              <a:lnSpc>
                <a:spcPts val="2634"/>
              </a:lnSpc>
            </a:pPr>
            <a:r>
              <a:rPr lang="en-US" sz="1881">
                <a:solidFill>
                  <a:srgbClr val="FFFFFF"/>
                </a:solidFill>
                <a:latin typeface="Poppins"/>
                <a:ea typeface="Poppins"/>
                <a:cs typeface="Poppins"/>
                <a:sym typeface="Poppins"/>
              </a:rPr>
              <a:t>Income</a:t>
            </a:r>
          </a:p>
          <a:p>
            <a:pPr algn="ctr">
              <a:lnSpc>
                <a:spcPts val="2634"/>
              </a:lnSpc>
            </a:pPr>
            <a:r>
              <a:rPr lang="en-US" sz="1881">
                <a:solidFill>
                  <a:srgbClr val="C0BE29"/>
                </a:solidFill>
                <a:latin typeface="Poppins"/>
                <a:ea typeface="Poppins"/>
                <a:cs typeface="Poppins"/>
                <a:sym typeface="Poppins"/>
              </a:rPr>
              <a:t>$60k</a:t>
            </a:r>
          </a:p>
          <a:p>
            <a:pPr algn="ctr">
              <a:lnSpc>
                <a:spcPts val="2634"/>
              </a:lnSpc>
            </a:pPr>
          </a:p>
          <a:p>
            <a:pPr algn="ctr">
              <a:lnSpc>
                <a:spcPts val="2634"/>
              </a:lnSpc>
            </a:pPr>
            <a:r>
              <a:rPr lang="en-US" sz="1881">
                <a:solidFill>
                  <a:srgbClr val="FFFFFF"/>
                </a:solidFill>
                <a:latin typeface="Poppins"/>
                <a:ea typeface="Poppins"/>
                <a:cs typeface="Poppins"/>
                <a:sym typeface="Poppins"/>
              </a:rPr>
              <a:t>Loan</a:t>
            </a:r>
          </a:p>
          <a:p>
            <a:pPr algn="ctr">
              <a:lnSpc>
                <a:spcPts val="2634"/>
              </a:lnSpc>
            </a:pPr>
            <a:r>
              <a:rPr lang="en-US" sz="1881">
                <a:solidFill>
                  <a:srgbClr val="ED8E52"/>
                </a:solidFill>
                <a:latin typeface="Poppins"/>
                <a:ea typeface="Poppins"/>
                <a:cs typeface="Poppins"/>
                <a:sym typeface="Poppins"/>
              </a:rPr>
              <a:t>$8.400</a:t>
            </a:r>
          </a:p>
          <a:p>
            <a:pPr algn="ctr">
              <a:lnSpc>
                <a:spcPts val="2634"/>
              </a:lnSpc>
            </a:pPr>
          </a:p>
          <a:p>
            <a:pPr algn="ctr">
              <a:lnSpc>
                <a:spcPts val="2634"/>
              </a:lnSpc>
            </a:pPr>
            <a:r>
              <a:rPr lang="en-US" sz="1881">
                <a:solidFill>
                  <a:srgbClr val="FFFFFF"/>
                </a:solidFill>
                <a:latin typeface="Poppins"/>
                <a:ea typeface="Poppins"/>
                <a:cs typeface="Poppins"/>
                <a:sym typeface="Poppins"/>
              </a:rPr>
              <a:t>Bunga</a:t>
            </a:r>
          </a:p>
          <a:p>
            <a:pPr algn="ctr">
              <a:lnSpc>
                <a:spcPts val="2634"/>
              </a:lnSpc>
            </a:pPr>
            <a:r>
              <a:rPr lang="en-US" sz="1881">
                <a:solidFill>
                  <a:srgbClr val="C0BE29"/>
                </a:solidFill>
                <a:latin typeface="Poppins"/>
                <a:ea typeface="Poppins"/>
                <a:cs typeface="Poppins"/>
                <a:sym typeface="Poppins"/>
              </a:rPr>
              <a:t>10,9%</a:t>
            </a:r>
          </a:p>
          <a:p>
            <a:pPr algn="ctr">
              <a:lnSpc>
                <a:spcPts val="2634"/>
              </a:lnSpc>
            </a:pPr>
          </a:p>
          <a:p>
            <a:pPr algn="ctr">
              <a:lnSpc>
                <a:spcPts val="2634"/>
              </a:lnSpc>
            </a:pPr>
            <a:r>
              <a:rPr lang="en-US" sz="1881">
                <a:solidFill>
                  <a:srgbClr val="FFFFFF"/>
                </a:solidFill>
                <a:latin typeface="Poppins"/>
                <a:ea typeface="Poppins"/>
                <a:cs typeface="Poppins"/>
                <a:sym typeface="Poppins"/>
              </a:rPr>
              <a:t>DTI</a:t>
            </a:r>
          </a:p>
          <a:p>
            <a:pPr algn="ctr">
              <a:lnSpc>
                <a:spcPts val="2634"/>
              </a:lnSpc>
            </a:pPr>
            <a:r>
              <a:rPr lang="en-US" sz="1881">
                <a:solidFill>
                  <a:srgbClr val="C0BE29"/>
                </a:solidFill>
                <a:latin typeface="Poppins"/>
                <a:ea typeface="Poppins"/>
                <a:cs typeface="Poppins"/>
                <a:sym typeface="Poppins"/>
              </a:rPr>
              <a:t>14%</a:t>
            </a:r>
          </a:p>
          <a:p>
            <a:pPr algn="ctr">
              <a:lnSpc>
                <a:spcPts val="2634"/>
              </a:lnSpc>
            </a:pPr>
          </a:p>
        </p:txBody>
      </p:sp>
      <p:sp>
        <p:nvSpPr>
          <p:cNvPr name="AutoShape 14" id="14"/>
          <p:cNvSpPr/>
          <p:nvPr/>
        </p:nvSpPr>
        <p:spPr>
          <a:xfrm>
            <a:off x="5021416" y="3095000"/>
            <a:ext cx="4086292" cy="0"/>
          </a:xfrm>
          <a:prstGeom prst="line">
            <a:avLst/>
          </a:prstGeom>
          <a:ln cap="flat" w="38100">
            <a:solidFill>
              <a:srgbClr val="FFFFFF"/>
            </a:solidFill>
            <a:prstDash val="solid"/>
            <a:headEnd type="none" len="sm" w="sm"/>
            <a:tailEnd type="none" len="sm" w="sm"/>
          </a:ln>
        </p:spPr>
      </p:sp>
      <p:grpSp>
        <p:nvGrpSpPr>
          <p:cNvPr name="Group 15" id="15"/>
          <p:cNvGrpSpPr/>
          <p:nvPr/>
        </p:nvGrpSpPr>
        <p:grpSpPr>
          <a:xfrm rot="0">
            <a:off x="9559740" y="1956691"/>
            <a:ext cx="4086292" cy="7372520"/>
            <a:chOff x="0" y="0"/>
            <a:chExt cx="900412" cy="1624531"/>
          </a:xfrm>
        </p:grpSpPr>
        <p:sp>
          <p:nvSpPr>
            <p:cNvPr name="Freeform 16" id="16"/>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17" id="17"/>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18" id="18"/>
          <p:cNvSpPr txBox="true"/>
          <p:nvPr/>
        </p:nvSpPr>
        <p:spPr>
          <a:xfrm rot="0">
            <a:off x="9559740" y="3344355"/>
            <a:ext cx="4086292" cy="6010097"/>
          </a:xfrm>
          <a:prstGeom prst="rect">
            <a:avLst/>
          </a:prstGeom>
        </p:spPr>
        <p:txBody>
          <a:bodyPr anchor="t" rtlCol="false" tIns="0" lIns="0" bIns="0" rIns="0">
            <a:spAutoFit/>
          </a:bodyPr>
          <a:lstStyle/>
          <a:p>
            <a:pPr algn="ctr">
              <a:lnSpc>
                <a:spcPts val="2634"/>
              </a:lnSpc>
            </a:pPr>
            <a:r>
              <a:rPr lang="en-US" sz="1881">
                <a:solidFill>
                  <a:srgbClr val="ED8E52"/>
                </a:solidFill>
                <a:latin typeface="Poppins"/>
                <a:ea typeface="Poppins"/>
                <a:cs typeface="Poppins"/>
                <a:sym typeface="Poppins"/>
              </a:rPr>
              <a:t>7.662 </a:t>
            </a:r>
          </a:p>
          <a:p>
            <a:pPr algn="ctr">
              <a:lnSpc>
                <a:spcPts val="2634"/>
              </a:lnSpc>
            </a:pPr>
            <a:r>
              <a:rPr lang="en-US" sz="1881">
                <a:solidFill>
                  <a:srgbClr val="FFFFFF"/>
                </a:solidFill>
                <a:latin typeface="Poppins"/>
                <a:ea typeface="Poppins"/>
                <a:cs typeface="Poppins"/>
                <a:sym typeface="Poppins"/>
              </a:rPr>
              <a:t>24,1% of total</a:t>
            </a:r>
          </a:p>
          <a:p>
            <a:pPr algn="ctr">
              <a:lnSpc>
                <a:spcPts val="2634"/>
              </a:lnSpc>
            </a:pPr>
          </a:p>
          <a:p>
            <a:pPr algn="ctr">
              <a:lnSpc>
                <a:spcPts val="2634"/>
              </a:lnSpc>
            </a:pPr>
            <a:r>
              <a:rPr lang="en-US" sz="1881">
                <a:solidFill>
                  <a:srgbClr val="FFFFFF"/>
                </a:solidFill>
                <a:latin typeface="Poppins"/>
                <a:ea typeface="Poppins"/>
                <a:cs typeface="Poppins"/>
                <a:sym typeface="Poppins"/>
              </a:rPr>
              <a:t>Default</a:t>
            </a:r>
          </a:p>
          <a:p>
            <a:pPr algn="ctr">
              <a:lnSpc>
                <a:spcPts val="2634"/>
              </a:lnSpc>
            </a:pPr>
            <a:r>
              <a:rPr lang="en-US" sz="1881">
                <a:solidFill>
                  <a:srgbClr val="ED8E52"/>
                </a:solidFill>
                <a:latin typeface="Poppins"/>
                <a:ea typeface="Poppins"/>
                <a:cs typeface="Poppins"/>
                <a:sym typeface="Poppins"/>
              </a:rPr>
              <a:t>35,8%</a:t>
            </a:r>
          </a:p>
          <a:p>
            <a:pPr algn="ctr">
              <a:lnSpc>
                <a:spcPts val="2634"/>
              </a:lnSpc>
            </a:pPr>
          </a:p>
          <a:p>
            <a:pPr algn="ctr">
              <a:lnSpc>
                <a:spcPts val="2634"/>
              </a:lnSpc>
            </a:pPr>
            <a:r>
              <a:rPr lang="en-US" sz="1881">
                <a:solidFill>
                  <a:srgbClr val="FFFFFF"/>
                </a:solidFill>
                <a:latin typeface="Poppins"/>
                <a:ea typeface="Poppins"/>
                <a:cs typeface="Poppins"/>
                <a:sym typeface="Poppins"/>
              </a:rPr>
              <a:t>Income</a:t>
            </a:r>
          </a:p>
          <a:p>
            <a:pPr algn="ctr">
              <a:lnSpc>
                <a:spcPts val="2634"/>
              </a:lnSpc>
            </a:pPr>
            <a:r>
              <a:rPr lang="en-US" sz="1881">
                <a:solidFill>
                  <a:srgbClr val="ED8E52"/>
                </a:solidFill>
                <a:latin typeface="Poppins"/>
                <a:ea typeface="Poppins"/>
                <a:cs typeface="Poppins"/>
                <a:sym typeface="Poppins"/>
              </a:rPr>
              <a:t>$52k</a:t>
            </a:r>
          </a:p>
          <a:p>
            <a:pPr algn="ctr">
              <a:lnSpc>
                <a:spcPts val="2634"/>
              </a:lnSpc>
            </a:pPr>
          </a:p>
          <a:p>
            <a:pPr algn="ctr">
              <a:lnSpc>
                <a:spcPts val="2634"/>
              </a:lnSpc>
            </a:pPr>
            <a:r>
              <a:rPr lang="en-US" sz="1881">
                <a:solidFill>
                  <a:srgbClr val="FFFFFF"/>
                </a:solidFill>
                <a:latin typeface="Poppins"/>
                <a:ea typeface="Poppins"/>
                <a:cs typeface="Poppins"/>
                <a:sym typeface="Poppins"/>
              </a:rPr>
              <a:t>Loan</a:t>
            </a:r>
          </a:p>
          <a:p>
            <a:pPr algn="ctr">
              <a:lnSpc>
                <a:spcPts val="2634"/>
              </a:lnSpc>
            </a:pPr>
            <a:r>
              <a:rPr lang="en-US" sz="1881">
                <a:solidFill>
                  <a:srgbClr val="ED8E52"/>
                </a:solidFill>
                <a:latin typeface="Poppins"/>
                <a:ea typeface="Poppins"/>
                <a:cs typeface="Poppins"/>
                <a:sym typeface="Poppins"/>
              </a:rPr>
              <a:t>$7.000</a:t>
            </a:r>
          </a:p>
          <a:p>
            <a:pPr algn="ctr">
              <a:lnSpc>
                <a:spcPts val="2634"/>
              </a:lnSpc>
            </a:pPr>
          </a:p>
          <a:p>
            <a:pPr algn="ctr">
              <a:lnSpc>
                <a:spcPts val="2634"/>
              </a:lnSpc>
            </a:pPr>
            <a:r>
              <a:rPr lang="en-US" sz="1881">
                <a:solidFill>
                  <a:srgbClr val="FFFFFF"/>
                </a:solidFill>
                <a:latin typeface="Poppins"/>
                <a:ea typeface="Poppins"/>
                <a:cs typeface="Poppins"/>
                <a:sym typeface="Poppins"/>
              </a:rPr>
              <a:t>Bunga</a:t>
            </a:r>
          </a:p>
          <a:p>
            <a:pPr algn="ctr">
              <a:lnSpc>
                <a:spcPts val="2634"/>
              </a:lnSpc>
            </a:pPr>
            <a:r>
              <a:rPr lang="en-US" sz="1881">
                <a:solidFill>
                  <a:srgbClr val="ED8E52"/>
                </a:solidFill>
                <a:latin typeface="Poppins"/>
                <a:ea typeface="Poppins"/>
                <a:cs typeface="Poppins"/>
                <a:sym typeface="Poppins"/>
              </a:rPr>
              <a:t>14,2%</a:t>
            </a:r>
          </a:p>
          <a:p>
            <a:pPr algn="ctr">
              <a:lnSpc>
                <a:spcPts val="2634"/>
              </a:lnSpc>
            </a:pPr>
          </a:p>
          <a:p>
            <a:pPr algn="ctr">
              <a:lnSpc>
                <a:spcPts val="2634"/>
              </a:lnSpc>
            </a:pPr>
            <a:r>
              <a:rPr lang="en-US" sz="1881">
                <a:solidFill>
                  <a:srgbClr val="FFFFFF"/>
                </a:solidFill>
                <a:latin typeface="Poppins"/>
                <a:ea typeface="Poppins"/>
                <a:cs typeface="Poppins"/>
                <a:sym typeface="Poppins"/>
              </a:rPr>
              <a:t>DTI</a:t>
            </a:r>
          </a:p>
          <a:p>
            <a:pPr algn="ctr">
              <a:lnSpc>
                <a:spcPts val="2634"/>
              </a:lnSpc>
            </a:pPr>
            <a:r>
              <a:rPr lang="en-US" sz="1881">
                <a:solidFill>
                  <a:srgbClr val="ED8E52"/>
                </a:solidFill>
                <a:latin typeface="Poppins"/>
                <a:ea typeface="Poppins"/>
                <a:cs typeface="Poppins"/>
                <a:sym typeface="Poppins"/>
              </a:rPr>
              <a:t>14%</a:t>
            </a:r>
          </a:p>
          <a:p>
            <a:pPr algn="ctr">
              <a:lnSpc>
                <a:spcPts val="2634"/>
              </a:lnSpc>
            </a:pPr>
          </a:p>
        </p:txBody>
      </p:sp>
      <p:sp>
        <p:nvSpPr>
          <p:cNvPr name="AutoShape 19" id="19"/>
          <p:cNvSpPr/>
          <p:nvPr/>
        </p:nvSpPr>
        <p:spPr>
          <a:xfrm>
            <a:off x="9559740" y="3059754"/>
            <a:ext cx="4086292" cy="0"/>
          </a:xfrm>
          <a:prstGeom prst="line">
            <a:avLst/>
          </a:prstGeom>
          <a:ln cap="flat" w="38100">
            <a:solidFill>
              <a:srgbClr val="FFFFFF"/>
            </a:solidFill>
            <a:prstDash val="solid"/>
            <a:headEnd type="none" len="sm" w="sm"/>
            <a:tailEnd type="none" len="sm" w="sm"/>
          </a:ln>
        </p:spPr>
      </p:sp>
      <p:grpSp>
        <p:nvGrpSpPr>
          <p:cNvPr name="Group 20" id="20"/>
          <p:cNvGrpSpPr/>
          <p:nvPr/>
        </p:nvGrpSpPr>
        <p:grpSpPr>
          <a:xfrm rot="0">
            <a:off x="13963193" y="1956691"/>
            <a:ext cx="4086292" cy="7372520"/>
            <a:chOff x="0" y="0"/>
            <a:chExt cx="900412" cy="1624531"/>
          </a:xfrm>
        </p:grpSpPr>
        <p:sp>
          <p:nvSpPr>
            <p:cNvPr name="Freeform 21" id="21"/>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22" id="22"/>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23" id="23"/>
          <p:cNvSpPr txBox="true"/>
          <p:nvPr/>
        </p:nvSpPr>
        <p:spPr>
          <a:xfrm rot="0">
            <a:off x="13963193" y="3344355"/>
            <a:ext cx="4086292" cy="6010097"/>
          </a:xfrm>
          <a:prstGeom prst="rect">
            <a:avLst/>
          </a:prstGeom>
        </p:spPr>
        <p:txBody>
          <a:bodyPr anchor="t" rtlCol="false" tIns="0" lIns="0" bIns="0" rIns="0">
            <a:spAutoFit/>
          </a:bodyPr>
          <a:lstStyle/>
          <a:p>
            <a:pPr algn="ctr">
              <a:lnSpc>
                <a:spcPts val="2634"/>
              </a:lnSpc>
            </a:pPr>
            <a:r>
              <a:rPr lang="en-US" sz="1881">
                <a:solidFill>
                  <a:srgbClr val="EB2D1A"/>
                </a:solidFill>
                <a:latin typeface="Poppins"/>
                <a:ea typeface="Poppins"/>
                <a:cs typeface="Poppins"/>
                <a:sym typeface="Poppins"/>
              </a:rPr>
              <a:t>6.363 </a:t>
            </a:r>
          </a:p>
          <a:p>
            <a:pPr algn="ctr">
              <a:lnSpc>
                <a:spcPts val="2634"/>
              </a:lnSpc>
            </a:pPr>
            <a:r>
              <a:rPr lang="en-US" sz="1881">
                <a:solidFill>
                  <a:srgbClr val="FFFFFF"/>
                </a:solidFill>
                <a:latin typeface="Poppins"/>
                <a:ea typeface="Poppins"/>
                <a:cs typeface="Poppins"/>
                <a:sym typeface="Poppins"/>
              </a:rPr>
              <a:t>20,9 of total</a:t>
            </a:r>
          </a:p>
          <a:p>
            <a:pPr algn="ctr">
              <a:lnSpc>
                <a:spcPts val="2634"/>
              </a:lnSpc>
            </a:pPr>
          </a:p>
          <a:p>
            <a:pPr algn="ctr">
              <a:lnSpc>
                <a:spcPts val="2634"/>
              </a:lnSpc>
            </a:pPr>
            <a:r>
              <a:rPr lang="en-US" sz="1881">
                <a:solidFill>
                  <a:srgbClr val="FFFFFF"/>
                </a:solidFill>
                <a:latin typeface="Poppins"/>
                <a:ea typeface="Poppins"/>
                <a:cs typeface="Poppins"/>
                <a:sym typeface="Poppins"/>
              </a:rPr>
              <a:t>Default</a:t>
            </a:r>
          </a:p>
          <a:p>
            <a:pPr algn="ctr">
              <a:lnSpc>
                <a:spcPts val="2634"/>
              </a:lnSpc>
            </a:pPr>
            <a:r>
              <a:rPr lang="en-US" sz="1881">
                <a:solidFill>
                  <a:srgbClr val="EB2D1A"/>
                </a:solidFill>
                <a:latin typeface="Poppins"/>
                <a:ea typeface="Poppins"/>
                <a:cs typeface="Poppins"/>
                <a:sym typeface="Poppins"/>
              </a:rPr>
              <a:t>37,6%</a:t>
            </a:r>
          </a:p>
          <a:p>
            <a:pPr algn="ctr">
              <a:lnSpc>
                <a:spcPts val="2634"/>
              </a:lnSpc>
            </a:pPr>
          </a:p>
          <a:p>
            <a:pPr algn="ctr">
              <a:lnSpc>
                <a:spcPts val="2634"/>
              </a:lnSpc>
            </a:pPr>
            <a:r>
              <a:rPr lang="en-US" sz="1881">
                <a:solidFill>
                  <a:srgbClr val="FFFFFF"/>
                </a:solidFill>
                <a:latin typeface="Poppins"/>
                <a:ea typeface="Poppins"/>
                <a:cs typeface="Poppins"/>
                <a:sym typeface="Poppins"/>
              </a:rPr>
              <a:t>Income</a:t>
            </a:r>
          </a:p>
          <a:p>
            <a:pPr algn="ctr">
              <a:lnSpc>
                <a:spcPts val="2634"/>
              </a:lnSpc>
            </a:pPr>
            <a:r>
              <a:rPr lang="en-US" sz="1881">
                <a:solidFill>
                  <a:srgbClr val="EB2D1A"/>
                </a:solidFill>
                <a:latin typeface="Poppins"/>
                <a:ea typeface="Poppins"/>
                <a:cs typeface="Poppins"/>
                <a:sym typeface="Poppins"/>
              </a:rPr>
              <a:t>$60k</a:t>
            </a:r>
          </a:p>
          <a:p>
            <a:pPr algn="ctr">
              <a:lnSpc>
                <a:spcPts val="2634"/>
              </a:lnSpc>
            </a:pPr>
          </a:p>
          <a:p>
            <a:pPr algn="ctr">
              <a:lnSpc>
                <a:spcPts val="2634"/>
              </a:lnSpc>
            </a:pPr>
            <a:r>
              <a:rPr lang="en-US" sz="1881">
                <a:solidFill>
                  <a:srgbClr val="FFFFFF"/>
                </a:solidFill>
                <a:latin typeface="Poppins"/>
                <a:ea typeface="Poppins"/>
                <a:cs typeface="Poppins"/>
                <a:sym typeface="Poppins"/>
              </a:rPr>
              <a:t>Loan</a:t>
            </a:r>
          </a:p>
          <a:p>
            <a:pPr algn="ctr">
              <a:lnSpc>
                <a:spcPts val="2634"/>
              </a:lnSpc>
            </a:pPr>
            <a:r>
              <a:rPr lang="en-US" sz="1881">
                <a:solidFill>
                  <a:srgbClr val="EB2D1A"/>
                </a:solidFill>
                <a:latin typeface="Poppins"/>
                <a:ea typeface="Poppins"/>
                <a:cs typeface="Poppins"/>
                <a:sym typeface="Poppins"/>
              </a:rPr>
              <a:t>$17.000</a:t>
            </a:r>
          </a:p>
          <a:p>
            <a:pPr algn="ctr">
              <a:lnSpc>
                <a:spcPts val="2634"/>
              </a:lnSpc>
            </a:pPr>
          </a:p>
          <a:p>
            <a:pPr algn="ctr">
              <a:lnSpc>
                <a:spcPts val="2634"/>
              </a:lnSpc>
            </a:pPr>
            <a:r>
              <a:rPr lang="en-US" sz="1881">
                <a:solidFill>
                  <a:srgbClr val="FFFFFF"/>
                </a:solidFill>
                <a:latin typeface="Poppins"/>
                <a:ea typeface="Poppins"/>
                <a:cs typeface="Poppins"/>
                <a:sym typeface="Poppins"/>
              </a:rPr>
              <a:t>Bunga</a:t>
            </a:r>
          </a:p>
          <a:p>
            <a:pPr algn="ctr">
              <a:lnSpc>
                <a:spcPts val="2634"/>
              </a:lnSpc>
            </a:pPr>
            <a:r>
              <a:rPr lang="en-US" sz="1881">
                <a:solidFill>
                  <a:srgbClr val="EB2D1A"/>
                </a:solidFill>
                <a:latin typeface="Poppins"/>
                <a:ea typeface="Poppins"/>
                <a:cs typeface="Poppins"/>
                <a:sym typeface="Poppins"/>
              </a:rPr>
              <a:t>11,4%</a:t>
            </a:r>
          </a:p>
          <a:p>
            <a:pPr algn="ctr">
              <a:lnSpc>
                <a:spcPts val="2634"/>
              </a:lnSpc>
            </a:pPr>
          </a:p>
          <a:p>
            <a:pPr algn="ctr">
              <a:lnSpc>
                <a:spcPts val="2634"/>
              </a:lnSpc>
            </a:pPr>
            <a:r>
              <a:rPr lang="en-US" sz="1881">
                <a:solidFill>
                  <a:srgbClr val="FFFFFF"/>
                </a:solidFill>
                <a:latin typeface="Poppins"/>
                <a:ea typeface="Poppins"/>
                <a:cs typeface="Poppins"/>
                <a:sym typeface="Poppins"/>
              </a:rPr>
              <a:t>DTI</a:t>
            </a:r>
          </a:p>
          <a:p>
            <a:pPr algn="ctr">
              <a:lnSpc>
                <a:spcPts val="2634"/>
              </a:lnSpc>
            </a:pPr>
            <a:r>
              <a:rPr lang="en-US" sz="1881">
                <a:solidFill>
                  <a:srgbClr val="EB2D1A"/>
                </a:solidFill>
                <a:latin typeface="Poppins"/>
                <a:ea typeface="Poppins"/>
                <a:cs typeface="Poppins"/>
                <a:sym typeface="Poppins"/>
              </a:rPr>
              <a:t>29%</a:t>
            </a:r>
          </a:p>
          <a:p>
            <a:pPr algn="ctr">
              <a:lnSpc>
                <a:spcPts val="2634"/>
              </a:lnSpc>
            </a:pPr>
          </a:p>
        </p:txBody>
      </p:sp>
      <p:sp>
        <p:nvSpPr>
          <p:cNvPr name="AutoShape 24" id="24"/>
          <p:cNvSpPr/>
          <p:nvPr/>
        </p:nvSpPr>
        <p:spPr>
          <a:xfrm>
            <a:off x="13963193" y="3059754"/>
            <a:ext cx="4086292" cy="0"/>
          </a:xfrm>
          <a:prstGeom prst="line">
            <a:avLst/>
          </a:prstGeom>
          <a:ln cap="flat" w="38100">
            <a:solidFill>
              <a:srgbClr val="FFFFFF"/>
            </a:solidFill>
            <a:prstDash val="solid"/>
            <a:headEnd type="none" len="sm" w="sm"/>
            <a:tailEnd type="none" len="sm" w="sm"/>
          </a:ln>
        </p:spPr>
      </p:sp>
      <p:sp>
        <p:nvSpPr>
          <p:cNvPr name="TextBox 25" id="25"/>
          <p:cNvSpPr txBox="true"/>
          <p:nvPr/>
        </p:nvSpPr>
        <p:spPr>
          <a:xfrm rot="0">
            <a:off x="4790423" y="2136677"/>
            <a:ext cx="4538324" cy="737572"/>
          </a:xfrm>
          <a:prstGeom prst="rect">
            <a:avLst/>
          </a:prstGeom>
        </p:spPr>
        <p:txBody>
          <a:bodyPr anchor="t" rtlCol="false" tIns="0" lIns="0" bIns="0" rIns="0">
            <a:spAutoFit/>
          </a:bodyPr>
          <a:lstStyle/>
          <a:p>
            <a:pPr algn="ctr">
              <a:lnSpc>
                <a:spcPts val="2923"/>
              </a:lnSpc>
            </a:pPr>
            <a:r>
              <a:rPr lang="en-US" b="true" sz="2088">
                <a:solidFill>
                  <a:srgbClr val="C0BE29"/>
                </a:solidFill>
                <a:latin typeface="Poppins Bold"/>
                <a:ea typeface="Poppins Bold"/>
                <a:cs typeface="Poppins Bold"/>
                <a:sym typeface="Poppins Bold"/>
              </a:rPr>
              <a:t>Segment B</a:t>
            </a:r>
          </a:p>
          <a:p>
            <a:pPr algn="ctr">
              <a:lnSpc>
                <a:spcPts val="2923"/>
              </a:lnSpc>
            </a:pPr>
            <a:r>
              <a:rPr lang="en-US" b="true" sz="2088">
                <a:solidFill>
                  <a:srgbClr val="C0BE29"/>
                </a:solidFill>
                <a:latin typeface="Poppins Bold"/>
                <a:ea typeface="Poppins Bold"/>
                <a:cs typeface="Poppins Bold"/>
                <a:sym typeface="Poppins Bold"/>
              </a:rPr>
              <a:t>Standard</a:t>
            </a:r>
          </a:p>
        </p:txBody>
      </p:sp>
      <p:sp>
        <p:nvSpPr>
          <p:cNvPr name="TextBox 26" id="26"/>
          <p:cNvSpPr txBox="true"/>
          <p:nvPr/>
        </p:nvSpPr>
        <p:spPr>
          <a:xfrm rot="0">
            <a:off x="9376808" y="2136677"/>
            <a:ext cx="4538324" cy="737572"/>
          </a:xfrm>
          <a:prstGeom prst="rect">
            <a:avLst/>
          </a:prstGeom>
        </p:spPr>
        <p:txBody>
          <a:bodyPr anchor="t" rtlCol="false" tIns="0" lIns="0" bIns="0" rIns="0">
            <a:spAutoFit/>
          </a:bodyPr>
          <a:lstStyle/>
          <a:p>
            <a:pPr algn="ctr">
              <a:lnSpc>
                <a:spcPts val="2923"/>
              </a:lnSpc>
            </a:pPr>
            <a:r>
              <a:rPr lang="en-US" sz="2088" b="true">
                <a:solidFill>
                  <a:srgbClr val="ED8E52"/>
                </a:solidFill>
                <a:latin typeface="Poppins Bold"/>
                <a:ea typeface="Poppins Bold"/>
                <a:cs typeface="Poppins Bold"/>
                <a:sym typeface="Poppins Bold"/>
              </a:rPr>
              <a:t>Segment C</a:t>
            </a:r>
          </a:p>
          <a:p>
            <a:pPr algn="ctr">
              <a:lnSpc>
                <a:spcPts val="2923"/>
              </a:lnSpc>
            </a:pPr>
            <a:r>
              <a:rPr lang="en-US" b="true" sz="2088">
                <a:solidFill>
                  <a:srgbClr val="ED8E52"/>
                </a:solidFill>
                <a:latin typeface="Poppins Bold"/>
                <a:ea typeface="Poppins Bold"/>
                <a:cs typeface="Poppins Bold"/>
                <a:sym typeface="Poppins Bold"/>
              </a:rPr>
              <a:t>Subprime</a:t>
            </a:r>
          </a:p>
        </p:txBody>
      </p:sp>
      <p:sp>
        <p:nvSpPr>
          <p:cNvPr name="TextBox 27" id="27"/>
          <p:cNvSpPr txBox="true"/>
          <p:nvPr/>
        </p:nvSpPr>
        <p:spPr>
          <a:xfrm rot="0">
            <a:off x="13731757" y="2136677"/>
            <a:ext cx="4538324" cy="737572"/>
          </a:xfrm>
          <a:prstGeom prst="rect">
            <a:avLst/>
          </a:prstGeom>
        </p:spPr>
        <p:txBody>
          <a:bodyPr anchor="t" rtlCol="false" tIns="0" lIns="0" bIns="0" rIns="0">
            <a:spAutoFit/>
          </a:bodyPr>
          <a:lstStyle/>
          <a:p>
            <a:pPr algn="ctr">
              <a:lnSpc>
                <a:spcPts val="2923"/>
              </a:lnSpc>
            </a:pPr>
            <a:r>
              <a:rPr lang="en-US" sz="2088" b="true">
                <a:solidFill>
                  <a:srgbClr val="EB2D1A"/>
                </a:solidFill>
                <a:latin typeface="Poppins Bold"/>
                <a:ea typeface="Poppins Bold"/>
                <a:cs typeface="Poppins Bold"/>
                <a:sym typeface="Poppins Bold"/>
              </a:rPr>
              <a:t>Segment D</a:t>
            </a:r>
          </a:p>
          <a:p>
            <a:pPr algn="ctr">
              <a:lnSpc>
                <a:spcPts val="2923"/>
              </a:lnSpc>
            </a:pPr>
            <a:r>
              <a:rPr lang="en-US" b="true" sz="2088">
                <a:solidFill>
                  <a:srgbClr val="EB2D1A"/>
                </a:solidFill>
                <a:latin typeface="Poppins Bold"/>
                <a:ea typeface="Poppins Bold"/>
                <a:cs typeface="Poppins Bold"/>
                <a:sym typeface="Poppins Bold"/>
              </a:rPr>
              <a:t>High Risk</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593462" y="2782274"/>
            <a:ext cx="5805004" cy="4702053"/>
          </a:xfrm>
          <a:custGeom>
            <a:avLst/>
            <a:gdLst/>
            <a:ahLst/>
            <a:cxnLst/>
            <a:rect r="r" b="b" t="t" l="l"/>
            <a:pathLst>
              <a:path h="4702053" w="5805004">
                <a:moveTo>
                  <a:pt x="0" y="0"/>
                </a:moveTo>
                <a:lnTo>
                  <a:pt x="5805004" y="0"/>
                </a:lnTo>
                <a:lnTo>
                  <a:pt x="5805004" y="4702053"/>
                </a:lnTo>
                <a:lnTo>
                  <a:pt x="0" y="47020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3112175"/>
            <a:ext cx="8115300" cy="976666"/>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Dashboard </a:t>
            </a:r>
          </a:p>
        </p:txBody>
      </p:sp>
      <p:sp>
        <p:nvSpPr>
          <p:cNvPr name="TextBox 9" id="9"/>
          <p:cNvSpPr txBox="true"/>
          <p:nvPr/>
        </p:nvSpPr>
        <p:spPr>
          <a:xfrm rot="0">
            <a:off x="1028700" y="5066625"/>
            <a:ext cx="5267183" cy="1317733"/>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Poppins"/>
                <a:ea typeface="Poppins"/>
                <a:cs typeface="Poppins"/>
                <a:sym typeface="Poppins"/>
              </a:rPr>
              <a:t>Overview</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Risk Analysis</a:t>
            </a:r>
          </a:p>
          <a:p>
            <a:pPr algn="just" marL="539749" indent="-269875" lvl="1">
              <a:lnSpc>
                <a:spcPts val="3499"/>
              </a:lnSpc>
              <a:spcBef>
                <a:spcPct val="0"/>
              </a:spcBef>
              <a:buFont typeface="Arial"/>
              <a:buChar char="•"/>
            </a:pPr>
            <a:r>
              <a:rPr lang="en-US" sz="2499">
                <a:solidFill>
                  <a:srgbClr val="FFFFFF"/>
                </a:solidFill>
                <a:latin typeface="Poppins"/>
                <a:ea typeface="Poppins"/>
                <a:cs typeface="Poppins"/>
                <a:sym typeface="Poppins"/>
              </a:rPr>
              <a:t>Borrower Segmentation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54471" y="2279134"/>
            <a:ext cx="9591854" cy="6697659"/>
            <a:chOff x="0" y="0"/>
            <a:chExt cx="815631" cy="569527"/>
          </a:xfrm>
        </p:grpSpPr>
        <p:sp>
          <p:nvSpPr>
            <p:cNvPr name="Freeform 4" id="4"/>
            <p:cNvSpPr/>
            <p:nvPr/>
          </p:nvSpPr>
          <p:spPr>
            <a:xfrm flipH="false" flipV="false" rot="0">
              <a:off x="0" y="0"/>
              <a:ext cx="815631" cy="569527"/>
            </a:xfrm>
            <a:custGeom>
              <a:avLst/>
              <a:gdLst/>
              <a:ahLst/>
              <a:cxnLst/>
              <a:rect r="r" b="b" t="t" l="l"/>
              <a:pathLst>
                <a:path h="569527" w="815631">
                  <a:moveTo>
                    <a:pt x="0" y="0"/>
                  </a:moveTo>
                  <a:lnTo>
                    <a:pt x="815631" y="0"/>
                  </a:lnTo>
                  <a:lnTo>
                    <a:pt x="815631" y="569527"/>
                  </a:lnTo>
                  <a:lnTo>
                    <a:pt x="0" y="569527"/>
                  </a:lnTo>
                  <a:close/>
                </a:path>
              </a:pathLst>
            </a:custGeom>
            <a:ln w="38100" cap="sq">
              <a:solidFill>
                <a:srgbClr val="9A9ED9"/>
              </a:solidFill>
              <a:prstDash val="solid"/>
              <a:miter/>
            </a:ln>
          </p:spPr>
        </p:sp>
        <p:sp>
          <p:nvSpPr>
            <p:cNvPr name="TextBox 5" id="5"/>
            <p:cNvSpPr txBox="true"/>
            <p:nvPr/>
          </p:nvSpPr>
          <p:spPr>
            <a:xfrm>
              <a:off x="0" y="-57150"/>
              <a:ext cx="815631" cy="626677"/>
            </a:xfrm>
            <a:prstGeom prst="rect">
              <a:avLst/>
            </a:prstGeom>
          </p:spPr>
          <p:txBody>
            <a:bodyPr anchor="ctr" rtlCol="false" tIns="50800" lIns="50800" bIns="50800" rIns="50800"/>
            <a:lstStyle/>
            <a:p>
              <a:pPr algn="ctr">
                <a:lnSpc>
                  <a:spcPts val="2634"/>
                </a:lnSpc>
              </a:pPr>
            </a:p>
          </p:txBody>
        </p:sp>
      </p:grpSp>
      <p:sp>
        <p:nvSpPr>
          <p:cNvPr name="Freeform 6" id="6"/>
          <p:cNvSpPr/>
          <p:nvPr/>
        </p:nvSpPr>
        <p:spPr>
          <a:xfrm flipH="false" flipV="false" rot="0">
            <a:off x="1166040" y="3632254"/>
            <a:ext cx="9368717" cy="5099861"/>
          </a:xfrm>
          <a:custGeom>
            <a:avLst/>
            <a:gdLst/>
            <a:ahLst/>
            <a:cxnLst/>
            <a:rect r="r" b="b" t="t" l="l"/>
            <a:pathLst>
              <a:path h="5099861" w="9368717">
                <a:moveTo>
                  <a:pt x="0" y="0"/>
                </a:moveTo>
                <a:lnTo>
                  <a:pt x="9368717" y="0"/>
                </a:lnTo>
                <a:lnTo>
                  <a:pt x="9368717" y="5099860"/>
                </a:lnTo>
                <a:lnTo>
                  <a:pt x="0" y="5099860"/>
                </a:lnTo>
                <a:lnTo>
                  <a:pt x="0" y="0"/>
                </a:lnTo>
                <a:close/>
              </a:path>
            </a:pathLst>
          </a:custGeom>
          <a:blipFill>
            <a:blip r:embed="rId3"/>
            <a:stretch>
              <a:fillRect l="-991" t="0" r="-2436" b="-7115"/>
            </a:stretch>
          </a:blipFill>
        </p:spPr>
      </p:sp>
      <p:grpSp>
        <p:nvGrpSpPr>
          <p:cNvPr name="Group 7" id="7"/>
          <p:cNvGrpSpPr/>
          <p:nvPr/>
        </p:nvGrpSpPr>
        <p:grpSpPr>
          <a:xfrm rot="0">
            <a:off x="1166040" y="2397374"/>
            <a:ext cx="9368717" cy="1134721"/>
            <a:chOff x="0" y="0"/>
            <a:chExt cx="796657" cy="96490"/>
          </a:xfrm>
        </p:grpSpPr>
        <p:sp>
          <p:nvSpPr>
            <p:cNvPr name="Freeform 8" id="8"/>
            <p:cNvSpPr/>
            <p:nvPr/>
          </p:nvSpPr>
          <p:spPr>
            <a:xfrm flipH="false" flipV="false" rot="0">
              <a:off x="0" y="0"/>
              <a:ext cx="796657" cy="96490"/>
            </a:xfrm>
            <a:custGeom>
              <a:avLst/>
              <a:gdLst/>
              <a:ahLst/>
              <a:cxnLst/>
              <a:rect r="r" b="b" t="t" l="l"/>
              <a:pathLst>
                <a:path h="96490" w="796657">
                  <a:moveTo>
                    <a:pt x="0" y="0"/>
                  </a:moveTo>
                  <a:lnTo>
                    <a:pt x="796657" y="0"/>
                  </a:lnTo>
                  <a:lnTo>
                    <a:pt x="796657" y="96490"/>
                  </a:lnTo>
                  <a:lnTo>
                    <a:pt x="0" y="96490"/>
                  </a:lnTo>
                  <a:close/>
                </a:path>
              </a:pathLst>
            </a:custGeom>
            <a:solidFill>
              <a:srgbClr val="9A9ED9"/>
            </a:solidFill>
            <a:ln cap="sq">
              <a:noFill/>
              <a:prstDash val="solid"/>
              <a:miter/>
            </a:ln>
          </p:spPr>
        </p:sp>
        <p:sp>
          <p:nvSpPr>
            <p:cNvPr name="TextBox 9" id="9"/>
            <p:cNvSpPr txBox="true"/>
            <p:nvPr/>
          </p:nvSpPr>
          <p:spPr>
            <a:xfrm>
              <a:off x="0" y="-95250"/>
              <a:ext cx="796657" cy="191740"/>
            </a:xfrm>
            <a:prstGeom prst="rect">
              <a:avLst/>
            </a:prstGeom>
          </p:spPr>
          <p:txBody>
            <a:bodyPr anchor="ctr" rtlCol="false" tIns="50800" lIns="50800" bIns="50800" rIns="50800"/>
            <a:lstStyle/>
            <a:p>
              <a:pPr algn="l">
                <a:lnSpc>
                  <a:spcPts val="4314"/>
                </a:lnSpc>
              </a:pPr>
              <a:r>
                <a:rPr lang="en-US" sz="3081" b="true">
                  <a:solidFill>
                    <a:srgbClr val="FFFFFF"/>
                  </a:solidFill>
                  <a:latin typeface="Poppins Bold"/>
                  <a:ea typeface="Poppins Bold"/>
                  <a:cs typeface="Poppins Bold"/>
                  <a:sym typeface="Poppins Bold"/>
                </a:rPr>
                <a:t> Overview</a:t>
              </a:r>
            </a:p>
          </p:txBody>
        </p:sp>
      </p:grpSp>
      <p:grpSp>
        <p:nvGrpSpPr>
          <p:cNvPr name="Group 10" id="10"/>
          <p:cNvGrpSpPr/>
          <p:nvPr/>
        </p:nvGrpSpPr>
        <p:grpSpPr>
          <a:xfrm rot="0">
            <a:off x="11487150" y="2397374"/>
            <a:ext cx="6286436" cy="6579418"/>
            <a:chOff x="0" y="0"/>
            <a:chExt cx="1051848" cy="1100870"/>
          </a:xfrm>
        </p:grpSpPr>
        <p:sp>
          <p:nvSpPr>
            <p:cNvPr name="Freeform 11" id="11"/>
            <p:cNvSpPr/>
            <p:nvPr/>
          </p:nvSpPr>
          <p:spPr>
            <a:xfrm flipH="false" flipV="false" rot="0">
              <a:off x="0" y="0"/>
              <a:ext cx="1051848" cy="1100870"/>
            </a:xfrm>
            <a:custGeom>
              <a:avLst/>
              <a:gdLst/>
              <a:ahLst/>
              <a:cxnLst/>
              <a:rect r="r" b="b" t="t" l="l"/>
              <a:pathLst>
                <a:path h="1100870" w="1051848">
                  <a:moveTo>
                    <a:pt x="0" y="0"/>
                  </a:moveTo>
                  <a:lnTo>
                    <a:pt x="1051848" y="0"/>
                  </a:lnTo>
                  <a:lnTo>
                    <a:pt x="1051848" y="1100870"/>
                  </a:lnTo>
                  <a:lnTo>
                    <a:pt x="0" y="1100870"/>
                  </a:lnTo>
                  <a:close/>
                </a:path>
              </a:pathLst>
            </a:custGeom>
            <a:ln w="114300" cap="sq">
              <a:solidFill>
                <a:srgbClr val="9A9ED9"/>
              </a:solidFill>
              <a:prstDash val="solid"/>
              <a:miter/>
            </a:ln>
          </p:spPr>
        </p:sp>
        <p:sp>
          <p:nvSpPr>
            <p:cNvPr name="TextBox 12" id="12"/>
            <p:cNvSpPr txBox="true"/>
            <p:nvPr/>
          </p:nvSpPr>
          <p:spPr>
            <a:xfrm>
              <a:off x="0" y="-57150"/>
              <a:ext cx="1051848" cy="1158020"/>
            </a:xfrm>
            <a:prstGeom prst="rect">
              <a:avLst/>
            </a:prstGeom>
          </p:spPr>
          <p:txBody>
            <a:bodyPr anchor="ctr" rtlCol="false" tIns="50800" lIns="50800" bIns="50800" rIns="50800"/>
            <a:lstStyle/>
            <a:p>
              <a:pPr algn="l" marL="406323" indent="-203162" lvl="1">
                <a:lnSpc>
                  <a:spcPts val="2634"/>
                </a:lnSpc>
                <a:buFont typeface="Arial"/>
                <a:buChar char="•"/>
              </a:pPr>
            </a:p>
            <a:p>
              <a:pPr algn="l" marL="406323" indent="-203162" lvl="1">
                <a:lnSpc>
                  <a:spcPts val="2634"/>
                </a:lnSpc>
                <a:buFont typeface="Arial"/>
                <a:buChar char="•"/>
              </a:pPr>
              <a:r>
                <a:rPr lang="en-US" sz="1881">
                  <a:solidFill>
                    <a:srgbClr val="FFFFFF"/>
                  </a:solidFill>
                  <a:latin typeface="Poppins"/>
                  <a:ea typeface="Poppins"/>
                  <a:cs typeface="Poppins"/>
                  <a:sym typeface="Poppins"/>
                </a:rPr>
                <a:t>5 KPI Card : Peminjam, Default Rate, Portofolio, Avg Loan, Avg Rate</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Donut Chart : Default vs Non default composition</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Column Chart : Default rate per Grade A - G</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Line Chart : Avg intereset rate per grade</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Bar chart : Portfolio per Home Ownership</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Slicer : Grade, Intent, Home Ownership</a:t>
              </a:r>
            </a:p>
          </p:txBody>
        </p:sp>
      </p:grpSp>
      <p:grpSp>
        <p:nvGrpSpPr>
          <p:cNvPr name="Group 13" id="13"/>
          <p:cNvGrpSpPr/>
          <p:nvPr/>
        </p:nvGrpSpPr>
        <p:grpSpPr>
          <a:xfrm rot="0">
            <a:off x="11621455" y="2538306"/>
            <a:ext cx="6017827" cy="1029719"/>
            <a:chOff x="0" y="0"/>
            <a:chExt cx="511718" cy="87561"/>
          </a:xfrm>
        </p:grpSpPr>
        <p:sp>
          <p:nvSpPr>
            <p:cNvPr name="Freeform 14" id="14"/>
            <p:cNvSpPr/>
            <p:nvPr/>
          </p:nvSpPr>
          <p:spPr>
            <a:xfrm flipH="false" flipV="false" rot="0">
              <a:off x="0" y="0"/>
              <a:ext cx="511718" cy="87561"/>
            </a:xfrm>
            <a:custGeom>
              <a:avLst/>
              <a:gdLst/>
              <a:ahLst/>
              <a:cxnLst/>
              <a:rect r="r" b="b" t="t" l="l"/>
              <a:pathLst>
                <a:path h="87561" w="511718">
                  <a:moveTo>
                    <a:pt x="0" y="0"/>
                  </a:moveTo>
                  <a:lnTo>
                    <a:pt x="511718" y="0"/>
                  </a:lnTo>
                  <a:lnTo>
                    <a:pt x="511718" y="87561"/>
                  </a:lnTo>
                  <a:lnTo>
                    <a:pt x="0" y="87561"/>
                  </a:lnTo>
                  <a:close/>
                </a:path>
              </a:pathLst>
            </a:custGeom>
            <a:solidFill>
              <a:srgbClr val="9A9ED9"/>
            </a:solidFill>
          </p:spPr>
        </p:sp>
        <p:sp>
          <p:nvSpPr>
            <p:cNvPr name="TextBox 15" id="15"/>
            <p:cNvSpPr txBox="true"/>
            <p:nvPr/>
          </p:nvSpPr>
          <p:spPr>
            <a:xfrm>
              <a:off x="0" y="-95250"/>
              <a:ext cx="511718" cy="182811"/>
            </a:xfrm>
            <a:prstGeom prst="rect">
              <a:avLst/>
            </a:prstGeom>
          </p:spPr>
          <p:txBody>
            <a:bodyPr anchor="ctr" rtlCol="false" tIns="50800" lIns="50800" bIns="50800" rIns="50800"/>
            <a:lstStyle/>
            <a:p>
              <a:pPr algn="l">
                <a:lnSpc>
                  <a:spcPts val="4314"/>
                </a:lnSpc>
              </a:pPr>
              <a:r>
                <a:rPr lang="en-US" sz="3081" b="true">
                  <a:solidFill>
                    <a:srgbClr val="FFFFFF"/>
                  </a:solidFill>
                  <a:latin typeface="Poppins Bold"/>
                  <a:ea typeface="Poppins Bold"/>
                  <a:cs typeface="Poppins Bold"/>
                  <a:sym typeface="Poppins Bold"/>
                </a:rPr>
                <a:t>              Overview</a:t>
              </a:r>
            </a:p>
          </p:txBody>
        </p:sp>
      </p:grpSp>
      <p:sp>
        <p:nvSpPr>
          <p:cNvPr name="Freeform 16" id="16"/>
          <p:cNvSpPr/>
          <p:nvPr/>
        </p:nvSpPr>
        <p:spPr>
          <a:xfrm flipH="false" flipV="false" rot="0">
            <a:off x="11850055" y="2602534"/>
            <a:ext cx="901262" cy="901262"/>
          </a:xfrm>
          <a:custGeom>
            <a:avLst/>
            <a:gdLst/>
            <a:ahLst/>
            <a:cxnLst/>
            <a:rect r="r" b="b" t="t" l="l"/>
            <a:pathLst>
              <a:path h="901262" w="901262">
                <a:moveTo>
                  <a:pt x="0" y="0"/>
                </a:moveTo>
                <a:lnTo>
                  <a:pt x="901262" y="0"/>
                </a:lnTo>
                <a:lnTo>
                  <a:pt x="901262" y="901262"/>
                </a:lnTo>
                <a:lnTo>
                  <a:pt x="0" y="901262"/>
                </a:lnTo>
                <a:lnTo>
                  <a:pt x="0" y="0"/>
                </a:lnTo>
                <a:close/>
              </a:path>
            </a:pathLst>
          </a:custGeom>
          <a:blipFill>
            <a:blip r:embed="rId4"/>
            <a:stretch>
              <a:fillRect l="0" t="0" r="0" b="0"/>
            </a:stretch>
          </a:blipFill>
        </p:spPr>
      </p:sp>
      <p:sp>
        <p:nvSpPr>
          <p:cNvPr name="TextBox 17" id="17"/>
          <p:cNvSpPr txBox="true"/>
          <p:nvPr/>
        </p:nvSpPr>
        <p:spPr>
          <a:xfrm rot="0">
            <a:off x="1054471" y="800100"/>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Dashboard Power BI</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54471" y="2355334"/>
            <a:ext cx="9591854" cy="6697659"/>
            <a:chOff x="0" y="0"/>
            <a:chExt cx="815631" cy="569527"/>
          </a:xfrm>
        </p:grpSpPr>
        <p:sp>
          <p:nvSpPr>
            <p:cNvPr name="Freeform 4" id="4"/>
            <p:cNvSpPr/>
            <p:nvPr/>
          </p:nvSpPr>
          <p:spPr>
            <a:xfrm flipH="false" flipV="false" rot="0">
              <a:off x="0" y="0"/>
              <a:ext cx="815631" cy="569527"/>
            </a:xfrm>
            <a:custGeom>
              <a:avLst/>
              <a:gdLst/>
              <a:ahLst/>
              <a:cxnLst/>
              <a:rect r="r" b="b" t="t" l="l"/>
              <a:pathLst>
                <a:path h="569527" w="815631">
                  <a:moveTo>
                    <a:pt x="0" y="0"/>
                  </a:moveTo>
                  <a:lnTo>
                    <a:pt x="815631" y="0"/>
                  </a:lnTo>
                  <a:lnTo>
                    <a:pt x="815631" y="569527"/>
                  </a:lnTo>
                  <a:lnTo>
                    <a:pt x="0" y="569527"/>
                  </a:lnTo>
                  <a:close/>
                </a:path>
              </a:pathLst>
            </a:custGeom>
            <a:ln w="38100" cap="sq">
              <a:solidFill>
                <a:srgbClr val="C81E32"/>
              </a:solidFill>
              <a:prstDash val="solid"/>
              <a:miter/>
            </a:ln>
          </p:spPr>
        </p:sp>
        <p:sp>
          <p:nvSpPr>
            <p:cNvPr name="TextBox 5" id="5"/>
            <p:cNvSpPr txBox="true"/>
            <p:nvPr/>
          </p:nvSpPr>
          <p:spPr>
            <a:xfrm>
              <a:off x="0" y="-57150"/>
              <a:ext cx="815631" cy="626677"/>
            </a:xfrm>
            <a:prstGeom prst="rect">
              <a:avLst/>
            </a:prstGeom>
          </p:spPr>
          <p:txBody>
            <a:bodyPr anchor="ctr" rtlCol="false" tIns="50800" lIns="50800" bIns="50800" rIns="50800"/>
            <a:lstStyle/>
            <a:p>
              <a:pPr algn="ctr">
                <a:lnSpc>
                  <a:spcPts val="2634"/>
                </a:lnSpc>
              </a:pPr>
            </a:p>
          </p:txBody>
        </p:sp>
      </p:grpSp>
      <p:grpSp>
        <p:nvGrpSpPr>
          <p:cNvPr name="Group 6" id="6"/>
          <p:cNvGrpSpPr/>
          <p:nvPr/>
        </p:nvGrpSpPr>
        <p:grpSpPr>
          <a:xfrm rot="0">
            <a:off x="1166040" y="2473574"/>
            <a:ext cx="9368717" cy="1134721"/>
            <a:chOff x="0" y="0"/>
            <a:chExt cx="796657" cy="96490"/>
          </a:xfrm>
        </p:grpSpPr>
        <p:sp>
          <p:nvSpPr>
            <p:cNvPr name="Freeform 7" id="7"/>
            <p:cNvSpPr/>
            <p:nvPr/>
          </p:nvSpPr>
          <p:spPr>
            <a:xfrm flipH="false" flipV="false" rot="0">
              <a:off x="0" y="0"/>
              <a:ext cx="796657" cy="96490"/>
            </a:xfrm>
            <a:custGeom>
              <a:avLst/>
              <a:gdLst/>
              <a:ahLst/>
              <a:cxnLst/>
              <a:rect r="r" b="b" t="t" l="l"/>
              <a:pathLst>
                <a:path h="96490" w="796657">
                  <a:moveTo>
                    <a:pt x="0" y="0"/>
                  </a:moveTo>
                  <a:lnTo>
                    <a:pt x="796657" y="0"/>
                  </a:lnTo>
                  <a:lnTo>
                    <a:pt x="796657" y="96490"/>
                  </a:lnTo>
                  <a:lnTo>
                    <a:pt x="0" y="96490"/>
                  </a:lnTo>
                  <a:close/>
                </a:path>
              </a:pathLst>
            </a:custGeom>
            <a:solidFill>
              <a:srgbClr val="C81E32"/>
            </a:solidFill>
            <a:ln cap="sq">
              <a:noFill/>
              <a:prstDash val="solid"/>
              <a:miter/>
            </a:ln>
          </p:spPr>
        </p:sp>
        <p:sp>
          <p:nvSpPr>
            <p:cNvPr name="TextBox 8" id="8"/>
            <p:cNvSpPr txBox="true"/>
            <p:nvPr/>
          </p:nvSpPr>
          <p:spPr>
            <a:xfrm>
              <a:off x="0" y="-95250"/>
              <a:ext cx="796657" cy="191740"/>
            </a:xfrm>
            <a:prstGeom prst="rect">
              <a:avLst/>
            </a:prstGeom>
          </p:spPr>
          <p:txBody>
            <a:bodyPr anchor="ctr" rtlCol="false" tIns="50800" lIns="50800" bIns="50800" rIns="50800"/>
            <a:lstStyle/>
            <a:p>
              <a:pPr algn="l">
                <a:lnSpc>
                  <a:spcPts val="4314"/>
                </a:lnSpc>
              </a:pPr>
              <a:r>
                <a:rPr lang="en-US" sz="3081" b="true">
                  <a:solidFill>
                    <a:srgbClr val="FFFFFF"/>
                  </a:solidFill>
                  <a:latin typeface="Poppins Bold"/>
                  <a:ea typeface="Poppins Bold"/>
                  <a:cs typeface="Poppins Bold"/>
                  <a:sym typeface="Poppins Bold"/>
                </a:rPr>
                <a:t> Risk Analysis</a:t>
              </a:r>
            </a:p>
          </p:txBody>
        </p:sp>
      </p:grpSp>
      <p:grpSp>
        <p:nvGrpSpPr>
          <p:cNvPr name="Group 9" id="9"/>
          <p:cNvGrpSpPr/>
          <p:nvPr/>
        </p:nvGrpSpPr>
        <p:grpSpPr>
          <a:xfrm rot="0">
            <a:off x="11487150" y="2473574"/>
            <a:ext cx="6286436" cy="6579418"/>
            <a:chOff x="0" y="0"/>
            <a:chExt cx="1051848" cy="1100870"/>
          </a:xfrm>
        </p:grpSpPr>
        <p:sp>
          <p:nvSpPr>
            <p:cNvPr name="Freeform 10" id="10"/>
            <p:cNvSpPr/>
            <p:nvPr/>
          </p:nvSpPr>
          <p:spPr>
            <a:xfrm flipH="false" flipV="false" rot="0">
              <a:off x="0" y="0"/>
              <a:ext cx="1051848" cy="1100870"/>
            </a:xfrm>
            <a:custGeom>
              <a:avLst/>
              <a:gdLst/>
              <a:ahLst/>
              <a:cxnLst/>
              <a:rect r="r" b="b" t="t" l="l"/>
              <a:pathLst>
                <a:path h="1100870" w="1051848">
                  <a:moveTo>
                    <a:pt x="0" y="0"/>
                  </a:moveTo>
                  <a:lnTo>
                    <a:pt x="1051848" y="0"/>
                  </a:lnTo>
                  <a:lnTo>
                    <a:pt x="1051848" y="1100870"/>
                  </a:lnTo>
                  <a:lnTo>
                    <a:pt x="0" y="1100870"/>
                  </a:lnTo>
                  <a:close/>
                </a:path>
              </a:pathLst>
            </a:custGeom>
            <a:ln w="114300" cap="sq">
              <a:solidFill>
                <a:srgbClr val="C81E32"/>
              </a:solidFill>
              <a:prstDash val="solid"/>
              <a:miter/>
            </a:ln>
          </p:spPr>
        </p:sp>
        <p:sp>
          <p:nvSpPr>
            <p:cNvPr name="TextBox 11" id="11"/>
            <p:cNvSpPr txBox="true"/>
            <p:nvPr/>
          </p:nvSpPr>
          <p:spPr>
            <a:xfrm>
              <a:off x="0" y="-57150"/>
              <a:ext cx="1051848" cy="1158020"/>
            </a:xfrm>
            <a:prstGeom prst="rect">
              <a:avLst/>
            </a:prstGeom>
          </p:spPr>
          <p:txBody>
            <a:bodyPr anchor="ctr" rtlCol="false" tIns="50800" lIns="50800" bIns="50800" rIns="50800"/>
            <a:lstStyle/>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5 KPI Card : Total default, High Risk%, Potential Losses, Loss Ratio, Avg Risk Score</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Bar </a:t>
              </a:r>
              <a:r>
                <a:rPr lang="en-US" sz="1881">
                  <a:solidFill>
                    <a:srgbClr val="FFFFFF"/>
                  </a:solidFill>
                  <a:latin typeface="Poppins"/>
                  <a:ea typeface="Poppins"/>
                  <a:cs typeface="Poppins"/>
                  <a:sym typeface="Poppins"/>
                </a:rPr>
                <a:t>Chart : Default Rate per loan intent</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Column Chart : Defaut rate per risk category</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Scatter </a:t>
              </a:r>
              <a:r>
                <a:rPr lang="en-US" sz="1881">
                  <a:solidFill>
                    <a:srgbClr val="FFFFFF"/>
                  </a:solidFill>
                  <a:latin typeface="Poppins"/>
                  <a:ea typeface="Poppins"/>
                  <a:cs typeface="Poppins"/>
                  <a:sym typeface="Poppins"/>
                </a:rPr>
                <a:t>Chart : Income vs loan amount per grade</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Bar chart : Rate per Home Ownership</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Slicer : Risk Category, Grade,, Intent</a:t>
              </a:r>
            </a:p>
          </p:txBody>
        </p:sp>
      </p:grpSp>
      <p:grpSp>
        <p:nvGrpSpPr>
          <p:cNvPr name="Group 12" id="12"/>
          <p:cNvGrpSpPr/>
          <p:nvPr/>
        </p:nvGrpSpPr>
        <p:grpSpPr>
          <a:xfrm rot="0">
            <a:off x="11621455" y="2614506"/>
            <a:ext cx="6017827" cy="1029719"/>
            <a:chOff x="0" y="0"/>
            <a:chExt cx="511718" cy="87561"/>
          </a:xfrm>
        </p:grpSpPr>
        <p:sp>
          <p:nvSpPr>
            <p:cNvPr name="Freeform 13" id="13"/>
            <p:cNvSpPr/>
            <p:nvPr/>
          </p:nvSpPr>
          <p:spPr>
            <a:xfrm flipH="false" flipV="false" rot="0">
              <a:off x="0" y="0"/>
              <a:ext cx="511718" cy="87561"/>
            </a:xfrm>
            <a:custGeom>
              <a:avLst/>
              <a:gdLst/>
              <a:ahLst/>
              <a:cxnLst/>
              <a:rect r="r" b="b" t="t" l="l"/>
              <a:pathLst>
                <a:path h="87561" w="511718">
                  <a:moveTo>
                    <a:pt x="0" y="0"/>
                  </a:moveTo>
                  <a:lnTo>
                    <a:pt x="511718" y="0"/>
                  </a:lnTo>
                  <a:lnTo>
                    <a:pt x="511718" y="87561"/>
                  </a:lnTo>
                  <a:lnTo>
                    <a:pt x="0" y="87561"/>
                  </a:lnTo>
                  <a:close/>
                </a:path>
              </a:pathLst>
            </a:custGeom>
            <a:solidFill>
              <a:srgbClr val="C81E32"/>
            </a:solidFill>
          </p:spPr>
        </p:sp>
        <p:sp>
          <p:nvSpPr>
            <p:cNvPr name="TextBox 14" id="14"/>
            <p:cNvSpPr txBox="true"/>
            <p:nvPr/>
          </p:nvSpPr>
          <p:spPr>
            <a:xfrm>
              <a:off x="0" y="-95250"/>
              <a:ext cx="511718" cy="182811"/>
            </a:xfrm>
            <a:prstGeom prst="rect">
              <a:avLst/>
            </a:prstGeom>
          </p:spPr>
          <p:txBody>
            <a:bodyPr anchor="ctr" rtlCol="false" tIns="50800" lIns="50800" bIns="50800" rIns="50800"/>
            <a:lstStyle/>
            <a:p>
              <a:pPr algn="l">
                <a:lnSpc>
                  <a:spcPts val="4314"/>
                </a:lnSpc>
              </a:pPr>
              <a:r>
                <a:rPr lang="en-US" sz="3081" b="true">
                  <a:solidFill>
                    <a:srgbClr val="FFFFFF"/>
                  </a:solidFill>
                  <a:latin typeface="Poppins Bold"/>
                  <a:ea typeface="Poppins Bold"/>
                  <a:cs typeface="Poppins Bold"/>
                  <a:sym typeface="Poppins Bold"/>
                </a:rPr>
                <a:t>              Risk Analysis</a:t>
              </a:r>
            </a:p>
          </p:txBody>
        </p:sp>
      </p:grpSp>
      <p:sp>
        <p:nvSpPr>
          <p:cNvPr name="Freeform 15" id="15"/>
          <p:cNvSpPr/>
          <p:nvPr/>
        </p:nvSpPr>
        <p:spPr>
          <a:xfrm flipH="false" flipV="false" rot="0">
            <a:off x="1166040" y="3665445"/>
            <a:ext cx="9368717" cy="5284226"/>
          </a:xfrm>
          <a:custGeom>
            <a:avLst/>
            <a:gdLst/>
            <a:ahLst/>
            <a:cxnLst/>
            <a:rect r="r" b="b" t="t" l="l"/>
            <a:pathLst>
              <a:path h="5284226" w="9368717">
                <a:moveTo>
                  <a:pt x="0" y="0"/>
                </a:moveTo>
                <a:lnTo>
                  <a:pt x="9368717" y="0"/>
                </a:lnTo>
                <a:lnTo>
                  <a:pt x="9368717" y="5284226"/>
                </a:lnTo>
                <a:lnTo>
                  <a:pt x="0" y="5284226"/>
                </a:lnTo>
                <a:lnTo>
                  <a:pt x="0" y="0"/>
                </a:lnTo>
                <a:close/>
              </a:path>
            </a:pathLst>
          </a:custGeom>
          <a:blipFill>
            <a:blip r:embed="rId3"/>
            <a:stretch>
              <a:fillRect l="0" t="0" r="0" b="0"/>
            </a:stretch>
          </a:blipFill>
        </p:spPr>
      </p:sp>
      <p:sp>
        <p:nvSpPr>
          <p:cNvPr name="Freeform 16" id="16"/>
          <p:cNvSpPr/>
          <p:nvPr/>
        </p:nvSpPr>
        <p:spPr>
          <a:xfrm flipH="false" flipV="false" rot="0">
            <a:off x="11621455" y="2650435"/>
            <a:ext cx="993789" cy="993789"/>
          </a:xfrm>
          <a:custGeom>
            <a:avLst/>
            <a:gdLst/>
            <a:ahLst/>
            <a:cxnLst/>
            <a:rect r="r" b="b" t="t" l="l"/>
            <a:pathLst>
              <a:path h="993789" w="993789">
                <a:moveTo>
                  <a:pt x="0" y="0"/>
                </a:moveTo>
                <a:lnTo>
                  <a:pt x="993790" y="0"/>
                </a:lnTo>
                <a:lnTo>
                  <a:pt x="993790" y="993790"/>
                </a:lnTo>
                <a:lnTo>
                  <a:pt x="0" y="993790"/>
                </a:lnTo>
                <a:lnTo>
                  <a:pt x="0" y="0"/>
                </a:lnTo>
                <a:close/>
              </a:path>
            </a:pathLst>
          </a:custGeom>
          <a:blipFill>
            <a:blip r:embed="rId4"/>
            <a:stretch>
              <a:fillRect l="0" t="0" r="0" b="0"/>
            </a:stretch>
          </a:blipFill>
        </p:spPr>
      </p:sp>
      <p:sp>
        <p:nvSpPr>
          <p:cNvPr name="TextBox 17" id="17"/>
          <p:cNvSpPr txBox="true"/>
          <p:nvPr/>
        </p:nvSpPr>
        <p:spPr>
          <a:xfrm rot="0">
            <a:off x="1054471" y="876300"/>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Dashboard Power BI</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54471" y="2415125"/>
            <a:ext cx="9591854" cy="6697659"/>
            <a:chOff x="0" y="0"/>
            <a:chExt cx="815631" cy="569527"/>
          </a:xfrm>
        </p:grpSpPr>
        <p:sp>
          <p:nvSpPr>
            <p:cNvPr name="Freeform 4" id="4"/>
            <p:cNvSpPr/>
            <p:nvPr/>
          </p:nvSpPr>
          <p:spPr>
            <a:xfrm flipH="false" flipV="false" rot="0">
              <a:off x="0" y="0"/>
              <a:ext cx="815631" cy="569527"/>
            </a:xfrm>
            <a:custGeom>
              <a:avLst/>
              <a:gdLst/>
              <a:ahLst/>
              <a:cxnLst/>
              <a:rect r="r" b="b" t="t" l="l"/>
              <a:pathLst>
                <a:path h="569527" w="815631">
                  <a:moveTo>
                    <a:pt x="0" y="0"/>
                  </a:moveTo>
                  <a:lnTo>
                    <a:pt x="815631" y="0"/>
                  </a:lnTo>
                  <a:lnTo>
                    <a:pt x="815631" y="569527"/>
                  </a:lnTo>
                  <a:lnTo>
                    <a:pt x="0" y="569527"/>
                  </a:lnTo>
                  <a:close/>
                </a:path>
              </a:pathLst>
            </a:custGeom>
            <a:ln w="38100" cap="sq">
              <a:solidFill>
                <a:srgbClr val="5CA3B2"/>
              </a:solidFill>
              <a:prstDash val="solid"/>
              <a:miter/>
            </a:ln>
          </p:spPr>
        </p:sp>
        <p:sp>
          <p:nvSpPr>
            <p:cNvPr name="TextBox 5" id="5"/>
            <p:cNvSpPr txBox="true"/>
            <p:nvPr/>
          </p:nvSpPr>
          <p:spPr>
            <a:xfrm>
              <a:off x="0" y="-57150"/>
              <a:ext cx="815631" cy="626677"/>
            </a:xfrm>
            <a:prstGeom prst="rect">
              <a:avLst/>
            </a:prstGeom>
          </p:spPr>
          <p:txBody>
            <a:bodyPr anchor="ctr" rtlCol="false" tIns="50800" lIns="50800" bIns="50800" rIns="50800"/>
            <a:lstStyle/>
            <a:p>
              <a:pPr algn="ctr">
                <a:lnSpc>
                  <a:spcPts val="2634"/>
                </a:lnSpc>
              </a:pPr>
            </a:p>
          </p:txBody>
        </p:sp>
      </p:grpSp>
      <p:grpSp>
        <p:nvGrpSpPr>
          <p:cNvPr name="Group 6" id="6"/>
          <p:cNvGrpSpPr/>
          <p:nvPr/>
        </p:nvGrpSpPr>
        <p:grpSpPr>
          <a:xfrm rot="0">
            <a:off x="1166040" y="2533366"/>
            <a:ext cx="9368717" cy="1134721"/>
            <a:chOff x="0" y="0"/>
            <a:chExt cx="796657" cy="96490"/>
          </a:xfrm>
        </p:grpSpPr>
        <p:sp>
          <p:nvSpPr>
            <p:cNvPr name="Freeform 7" id="7"/>
            <p:cNvSpPr/>
            <p:nvPr/>
          </p:nvSpPr>
          <p:spPr>
            <a:xfrm flipH="false" flipV="false" rot="0">
              <a:off x="0" y="0"/>
              <a:ext cx="796657" cy="96490"/>
            </a:xfrm>
            <a:custGeom>
              <a:avLst/>
              <a:gdLst/>
              <a:ahLst/>
              <a:cxnLst/>
              <a:rect r="r" b="b" t="t" l="l"/>
              <a:pathLst>
                <a:path h="96490" w="796657">
                  <a:moveTo>
                    <a:pt x="0" y="0"/>
                  </a:moveTo>
                  <a:lnTo>
                    <a:pt x="796657" y="0"/>
                  </a:lnTo>
                  <a:lnTo>
                    <a:pt x="796657" y="96490"/>
                  </a:lnTo>
                  <a:lnTo>
                    <a:pt x="0" y="96490"/>
                  </a:lnTo>
                  <a:close/>
                </a:path>
              </a:pathLst>
            </a:custGeom>
            <a:solidFill>
              <a:srgbClr val="5CA3B2"/>
            </a:solidFill>
            <a:ln cap="sq">
              <a:noFill/>
              <a:prstDash val="solid"/>
              <a:miter/>
            </a:ln>
          </p:spPr>
        </p:sp>
        <p:sp>
          <p:nvSpPr>
            <p:cNvPr name="TextBox 8" id="8"/>
            <p:cNvSpPr txBox="true"/>
            <p:nvPr/>
          </p:nvSpPr>
          <p:spPr>
            <a:xfrm>
              <a:off x="0" y="-95250"/>
              <a:ext cx="796657" cy="191740"/>
            </a:xfrm>
            <a:prstGeom prst="rect">
              <a:avLst/>
            </a:prstGeom>
          </p:spPr>
          <p:txBody>
            <a:bodyPr anchor="ctr" rtlCol="false" tIns="50800" lIns="50800" bIns="50800" rIns="50800"/>
            <a:lstStyle/>
            <a:p>
              <a:pPr algn="l">
                <a:lnSpc>
                  <a:spcPts val="4314"/>
                </a:lnSpc>
              </a:pPr>
              <a:r>
                <a:rPr lang="en-US" sz="3081" b="true">
                  <a:solidFill>
                    <a:srgbClr val="FFFFFF"/>
                  </a:solidFill>
                  <a:latin typeface="Poppins Bold"/>
                  <a:ea typeface="Poppins Bold"/>
                  <a:cs typeface="Poppins Bold"/>
                  <a:sym typeface="Poppins Bold"/>
                </a:rPr>
                <a:t>Borrower Segmentation</a:t>
              </a:r>
            </a:p>
          </p:txBody>
        </p:sp>
      </p:grpSp>
      <p:grpSp>
        <p:nvGrpSpPr>
          <p:cNvPr name="Group 9" id="9"/>
          <p:cNvGrpSpPr/>
          <p:nvPr/>
        </p:nvGrpSpPr>
        <p:grpSpPr>
          <a:xfrm rot="0">
            <a:off x="11487150" y="2533366"/>
            <a:ext cx="6286436" cy="6579418"/>
            <a:chOff x="0" y="0"/>
            <a:chExt cx="1051848" cy="1100870"/>
          </a:xfrm>
        </p:grpSpPr>
        <p:sp>
          <p:nvSpPr>
            <p:cNvPr name="Freeform 10" id="10"/>
            <p:cNvSpPr/>
            <p:nvPr/>
          </p:nvSpPr>
          <p:spPr>
            <a:xfrm flipH="false" flipV="false" rot="0">
              <a:off x="0" y="0"/>
              <a:ext cx="1051848" cy="1100870"/>
            </a:xfrm>
            <a:custGeom>
              <a:avLst/>
              <a:gdLst/>
              <a:ahLst/>
              <a:cxnLst/>
              <a:rect r="r" b="b" t="t" l="l"/>
              <a:pathLst>
                <a:path h="1100870" w="1051848">
                  <a:moveTo>
                    <a:pt x="0" y="0"/>
                  </a:moveTo>
                  <a:lnTo>
                    <a:pt x="1051848" y="0"/>
                  </a:lnTo>
                  <a:lnTo>
                    <a:pt x="1051848" y="1100870"/>
                  </a:lnTo>
                  <a:lnTo>
                    <a:pt x="0" y="1100870"/>
                  </a:lnTo>
                  <a:close/>
                </a:path>
              </a:pathLst>
            </a:custGeom>
            <a:ln w="114300" cap="sq">
              <a:solidFill>
                <a:srgbClr val="5CA3B2"/>
              </a:solidFill>
              <a:prstDash val="solid"/>
              <a:miter/>
            </a:ln>
          </p:spPr>
        </p:sp>
        <p:sp>
          <p:nvSpPr>
            <p:cNvPr name="TextBox 11" id="11"/>
            <p:cNvSpPr txBox="true"/>
            <p:nvPr/>
          </p:nvSpPr>
          <p:spPr>
            <a:xfrm>
              <a:off x="0" y="-57150"/>
              <a:ext cx="1051848" cy="1158020"/>
            </a:xfrm>
            <a:prstGeom prst="rect">
              <a:avLst/>
            </a:prstGeom>
          </p:spPr>
          <p:txBody>
            <a:bodyPr anchor="ctr" rtlCol="false" tIns="50800" lIns="50800" bIns="50800" rIns="50800"/>
            <a:lstStyle/>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4 KPI Card : Count per segmen</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Pie </a:t>
              </a:r>
              <a:r>
                <a:rPr lang="en-US" sz="1881">
                  <a:solidFill>
                    <a:srgbClr val="FFFFFF"/>
                  </a:solidFill>
                  <a:latin typeface="Poppins"/>
                  <a:ea typeface="Poppins"/>
                  <a:cs typeface="Poppins"/>
                  <a:sym typeface="Poppins"/>
                </a:rPr>
                <a:t>Chart : Distribution 4 K Means Segment</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Column Chart : Defaut rate per segment</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Bar </a:t>
              </a:r>
              <a:r>
                <a:rPr lang="en-US" sz="1881">
                  <a:solidFill>
                    <a:srgbClr val="FFFFFF"/>
                  </a:solidFill>
                  <a:latin typeface="Poppins"/>
                  <a:ea typeface="Poppins"/>
                  <a:cs typeface="Poppins"/>
                  <a:sym typeface="Poppins"/>
                </a:rPr>
                <a:t>Chart : Median DTI per segmen</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Tabel : Full segment profiles</a:t>
              </a:r>
            </a:p>
          </p:txBody>
        </p:sp>
      </p:grpSp>
      <p:grpSp>
        <p:nvGrpSpPr>
          <p:cNvPr name="Group 12" id="12"/>
          <p:cNvGrpSpPr/>
          <p:nvPr/>
        </p:nvGrpSpPr>
        <p:grpSpPr>
          <a:xfrm rot="0">
            <a:off x="11621455" y="2674297"/>
            <a:ext cx="6017827" cy="1029719"/>
            <a:chOff x="0" y="0"/>
            <a:chExt cx="511718" cy="87561"/>
          </a:xfrm>
        </p:grpSpPr>
        <p:sp>
          <p:nvSpPr>
            <p:cNvPr name="Freeform 13" id="13"/>
            <p:cNvSpPr/>
            <p:nvPr/>
          </p:nvSpPr>
          <p:spPr>
            <a:xfrm flipH="false" flipV="false" rot="0">
              <a:off x="0" y="0"/>
              <a:ext cx="511718" cy="87561"/>
            </a:xfrm>
            <a:custGeom>
              <a:avLst/>
              <a:gdLst/>
              <a:ahLst/>
              <a:cxnLst/>
              <a:rect r="r" b="b" t="t" l="l"/>
              <a:pathLst>
                <a:path h="87561" w="511718">
                  <a:moveTo>
                    <a:pt x="0" y="0"/>
                  </a:moveTo>
                  <a:lnTo>
                    <a:pt x="511718" y="0"/>
                  </a:lnTo>
                  <a:lnTo>
                    <a:pt x="511718" y="87561"/>
                  </a:lnTo>
                  <a:lnTo>
                    <a:pt x="0" y="87561"/>
                  </a:lnTo>
                  <a:close/>
                </a:path>
              </a:pathLst>
            </a:custGeom>
            <a:solidFill>
              <a:srgbClr val="5CA3B2"/>
            </a:solidFill>
          </p:spPr>
        </p:sp>
        <p:sp>
          <p:nvSpPr>
            <p:cNvPr name="TextBox 14" id="14"/>
            <p:cNvSpPr txBox="true"/>
            <p:nvPr/>
          </p:nvSpPr>
          <p:spPr>
            <a:xfrm>
              <a:off x="0" y="-76200"/>
              <a:ext cx="511718" cy="163761"/>
            </a:xfrm>
            <a:prstGeom prst="rect">
              <a:avLst/>
            </a:prstGeom>
          </p:spPr>
          <p:txBody>
            <a:bodyPr anchor="ctr" rtlCol="false" tIns="50800" lIns="50800" bIns="50800" rIns="50800"/>
            <a:lstStyle/>
            <a:p>
              <a:pPr algn="l">
                <a:lnSpc>
                  <a:spcPts val="4034"/>
                </a:lnSpc>
              </a:pPr>
              <a:r>
                <a:rPr lang="en-US" sz="2881" b="true">
                  <a:solidFill>
                    <a:srgbClr val="FFFFFF"/>
                  </a:solidFill>
                  <a:latin typeface="Poppins Bold"/>
                  <a:ea typeface="Poppins Bold"/>
                  <a:cs typeface="Poppins Bold"/>
                  <a:sym typeface="Poppins Bold"/>
                </a:rPr>
                <a:t>              Borrower Segmentation</a:t>
              </a:r>
            </a:p>
          </p:txBody>
        </p:sp>
      </p:grpSp>
      <p:sp>
        <p:nvSpPr>
          <p:cNvPr name="Freeform 15" id="15"/>
          <p:cNvSpPr/>
          <p:nvPr/>
        </p:nvSpPr>
        <p:spPr>
          <a:xfrm flipH="false" flipV="false" rot="0">
            <a:off x="1166040" y="3725237"/>
            <a:ext cx="9368717" cy="5184231"/>
          </a:xfrm>
          <a:custGeom>
            <a:avLst/>
            <a:gdLst/>
            <a:ahLst/>
            <a:cxnLst/>
            <a:rect r="r" b="b" t="t" l="l"/>
            <a:pathLst>
              <a:path h="5184231" w="9368717">
                <a:moveTo>
                  <a:pt x="0" y="0"/>
                </a:moveTo>
                <a:lnTo>
                  <a:pt x="9368717" y="0"/>
                </a:lnTo>
                <a:lnTo>
                  <a:pt x="9368717" y="5184231"/>
                </a:lnTo>
                <a:lnTo>
                  <a:pt x="0" y="5184231"/>
                </a:lnTo>
                <a:lnTo>
                  <a:pt x="0" y="0"/>
                </a:lnTo>
                <a:close/>
              </a:path>
            </a:pathLst>
          </a:custGeom>
          <a:blipFill>
            <a:blip r:embed="rId3"/>
            <a:stretch>
              <a:fillRect l="0" t="-1102" r="0" b="0"/>
            </a:stretch>
          </a:blipFill>
        </p:spPr>
      </p:sp>
      <p:sp>
        <p:nvSpPr>
          <p:cNvPr name="Freeform 16" id="16"/>
          <p:cNvSpPr/>
          <p:nvPr/>
        </p:nvSpPr>
        <p:spPr>
          <a:xfrm flipH="false" flipV="false" rot="0">
            <a:off x="11621455" y="2679655"/>
            <a:ext cx="1045582" cy="1045582"/>
          </a:xfrm>
          <a:custGeom>
            <a:avLst/>
            <a:gdLst/>
            <a:ahLst/>
            <a:cxnLst/>
            <a:rect r="r" b="b" t="t" l="l"/>
            <a:pathLst>
              <a:path h="1045582" w="1045582">
                <a:moveTo>
                  <a:pt x="0" y="0"/>
                </a:moveTo>
                <a:lnTo>
                  <a:pt x="1045582" y="0"/>
                </a:lnTo>
                <a:lnTo>
                  <a:pt x="1045582" y="1045582"/>
                </a:lnTo>
                <a:lnTo>
                  <a:pt x="0" y="1045582"/>
                </a:lnTo>
                <a:lnTo>
                  <a:pt x="0" y="0"/>
                </a:lnTo>
                <a:close/>
              </a:path>
            </a:pathLst>
          </a:custGeom>
          <a:blipFill>
            <a:blip r:embed="rId4"/>
            <a:stretch>
              <a:fillRect l="0" t="0" r="0" b="0"/>
            </a:stretch>
          </a:blipFill>
        </p:spPr>
      </p:sp>
      <p:sp>
        <p:nvSpPr>
          <p:cNvPr name="TextBox 17" id="17"/>
          <p:cNvSpPr txBox="true"/>
          <p:nvPr/>
        </p:nvSpPr>
        <p:spPr>
          <a:xfrm rot="0">
            <a:off x="1054471" y="936091"/>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Dashboard Power BI</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3112175"/>
            <a:ext cx="8910430" cy="976666"/>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Recommendations</a:t>
            </a:r>
          </a:p>
        </p:txBody>
      </p:sp>
      <p:sp>
        <p:nvSpPr>
          <p:cNvPr name="TextBox 8" id="8"/>
          <p:cNvSpPr txBox="true"/>
          <p:nvPr/>
        </p:nvSpPr>
        <p:spPr>
          <a:xfrm rot="0">
            <a:off x="1028700" y="4935699"/>
            <a:ext cx="6212821" cy="1372757"/>
          </a:xfrm>
          <a:prstGeom prst="rect">
            <a:avLst/>
          </a:prstGeom>
        </p:spPr>
        <p:txBody>
          <a:bodyPr anchor="t" rtlCol="false" tIns="0" lIns="0" bIns="0" rIns="0">
            <a:spAutoFit/>
          </a:bodyPr>
          <a:lstStyle/>
          <a:p>
            <a:pPr algn="l" marL="557364" indent="-278682" lvl="1">
              <a:lnSpc>
                <a:spcPts val="3614"/>
              </a:lnSpc>
              <a:buFont typeface="Arial"/>
              <a:buChar char="•"/>
            </a:pPr>
            <a:r>
              <a:rPr lang="en-US" sz="2581">
                <a:solidFill>
                  <a:srgbClr val="FFFFFF"/>
                </a:solidFill>
                <a:latin typeface="Poppins"/>
                <a:ea typeface="Poppins"/>
                <a:cs typeface="Poppins"/>
                <a:sym typeface="Poppins"/>
              </a:rPr>
              <a:t>Default History Check</a:t>
            </a:r>
          </a:p>
          <a:p>
            <a:pPr algn="l" marL="557364" indent="-278682" lvl="1">
              <a:lnSpc>
                <a:spcPts val="3614"/>
              </a:lnSpc>
              <a:buFont typeface="Arial"/>
              <a:buChar char="•"/>
            </a:pPr>
            <a:r>
              <a:rPr lang="en-US" sz="2581">
                <a:solidFill>
                  <a:srgbClr val="FFFFFF"/>
                </a:solidFill>
                <a:latin typeface="Poppins"/>
                <a:ea typeface="Poppins"/>
                <a:cs typeface="Poppins"/>
                <a:sym typeface="Poppins"/>
              </a:rPr>
              <a:t>Cap Maximum DTI at &lt;35%</a:t>
            </a:r>
          </a:p>
          <a:p>
            <a:pPr algn="l" marL="557364" indent="-278682" lvl="1">
              <a:lnSpc>
                <a:spcPts val="3614"/>
              </a:lnSpc>
              <a:spcBef>
                <a:spcPct val="0"/>
              </a:spcBef>
              <a:buFont typeface="Arial"/>
              <a:buChar char="•"/>
            </a:pPr>
            <a:r>
              <a:rPr lang="en-US" sz="2581">
                <a:solidFill>
                  <a:srgbClr val="FFFFFF"/>
                </a:solidFill>
                <a:latin typeface="Poppins"/>
                <a:ea typeface="Poppins"/>
                <a:cs typeface="Poppins"/>
                <a:sym typeface="Poppins"/>
              </a:rPr>
              <a:t>Segmentation Based Policy</a:t>
            </a:r>
          </a:p>
        </p:txBody>
      </p:sp>
      <p:sp>
        <p:nvSpPr>
          <p:cNvPr name="Freeform 9" id="9"/>
          <p:cNvSpPr/>
          <p:nvPr/>
        </p:nvSpPr>
        <p:spPr>
          <a:xfrm flipH="false" flipV="false" rot="0">
            <a:off x="10636388" y="2262461"/>
            <a:ext cx="5762078" cy="5762078"/>
          </a:xfrm>
          <a:custGeom>
            <a:avLst/>
            <a:gdLst/>
            <a:ahLst/>
            <a:cxnLst/>
            <a:rect r="r" b="b" t="t" l="l"/>
            <a:pathLst>
              <a:path h="5762078" w="5762078">
                <a:moveTo>
                  <a:pt x="0" y="0"/>
                </a:moveTo>
                <a:lnTo>
                  <a:pt x="5762078" y="0"/>
                </a:lnTo>
                <a:lnTo>
                  <a:pt x="5762078" y="5762078"/>
                </a:lnTo>
                <a:lnTo>
                  <a:pt x="0" y="57620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54471" y="718446"/>
            <a:ext cx="16719115" cy="901717"/>
          </a:xfrm>
          <a:prstGeom prst="rect">
            <a:avLst/>
          </a:prstGeom>
        </p:spPr>
        <p:txBody>
          <a:bodyPr anchor="t" rtlCol="false" tIns="0" lIns="0" bIns="0" rIns="0">
            <a:spAutoFit/>
          </a:bodyPr>
          <a:lstStyle/>
          <a:p>
            <a:pPr algn="l" marL="0" indent="0" lvl="1">
              <a:lnSpc>
                <a:spcPts val="7000"/>
              </a:lnSpc>
              <a:spcBef>
                <a:spcPct val="0"/>
              </a:spcBef>
            </a:pPr>
            <a:r>
              <a:rPr lang="en-US" b="true" sz="5000">
                <a:solidFill>
                  <a:srgbClr val="FFFFFF"/>
                </a:solidFill>
                <a:latin typeface="Poppins Bold"/>
                <a:ea typeface="Poppins Bold"/>
                <a:cs typeface="Poppins Bold"/>
                <a:sym typeface="Poppins Bold"/>
              </a:rPr>
              <a:t>Recommendation</a:t>
            </a:r>
          </a:p>
        </p:txBody>
      </p:sp>
      <p:grpSp>
        <p:nvGrpSpPr>
          <p:cNvPr name="Group 4" id="4"/>
          <p:cNvGrpSpPr/>
          <p:nvPr/>
        </p:nvGrpSpPr>
        <p:grpSpPr>
          <a:xfrm rot="0">
            <a:off x="618850" y="1900759"/>
            <a:ext cx="4086292" cy="7372520"/>
            <a:chOff x="0" y="0"/>
            <a:chExt cx="900412" cy="1624531"/>
          </a:xfrm>
        </p:grpSpPr>
        <p:sp>
          <p:nvSpPr>
            <p:cNvPr name="Freeform 5" id="5"/>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6" id="6"/>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483091" y="2045498"/>
            <a:ext cx="4538324" cy="737572"/>
          </a:xfrm>
          <a:prstGeom prst="rect">
            <a:avLst/>
          </a:prstGeom>
        </p:spPr>
        <p:txBody>
          <a:bodyPr anchor="t" rtlCol="false" tIns="0" lIns="0" bIns="0" rIns="0">
            <a:spAutoFit/>
          </a:bodyPr>
          <a:lstStyle/>
          <a:p>
            <a:pPr algn="ctr">
              <a:lnSpc>
                <a:spcPts val="2923"/>
              </a:lnSpc>
            </a:pPr>
            <a:r>
              <a:rPr lang="en-US" b="true" sz="2088">
                <a:solidFill>
                  <a:srgbClr val="1CD24F"/>
                </a:solidFill>
                <a:latin typeface="Poppins Bold"/>
                <a:ea typeface="Poppins Bold"/>
                <a:cs typeface="Poppins Bold"/>
                <a:sym typeface="Poppins Bold"/>
              </a:rPr>
              <a:t>Segmen A</a:t>
            </a:r>
          </a:p>
          <a:p>
            <a:pPr algn="ctr">
              <a:lnSpc>
                <a:spcPts val="2923"/>
              </a:lnSpc>
            </a:pPr>
            <a:r>
              <a:rPr lang="en-US" b="true" sz="2088">
                <a:solidFill>
                  <a:srgbClr val="1CD24F"/>
                </a:solidFill>
                <a:latin typeface="Poppins Bold"/>
                <a:ea typeface="Poppins Bold"/>
                <a:cs typeface="Poppins Bold"/>
                <a:sym typeface="Poppins Bold"/>
              </a:rPr>
              <a:t>Prime </a:t>
            </a:r>
          </a:p>
        </p:txBody>
      </p:sp>
      <p:sp>
        <p:nvSpPr>
          <p:cNvPr name="TextBox 8" id="8"/>
          <p:cNvSpPr txBox="true"/>
          <p:nvPr/>
        </p:nvSpPr>
        <p:spPr>
          <a:xfrm rot="0">
            <a:off x="618850" y="3288422"/>
            <a:ext cx="4086292" cy="3343097"/>
          </a:xfrm>
          <a:prstGeom prst="rect">
            <a:avLst/>
          </a:prstGeom>
        </p:spPr>
        <p:txBody>
          <a:bodyPr anchor="t" rtlCol="false" tIns="0" lIns="0" bIns="0" rIns="0">
            <a:spAutoFit/>
          </a:bodyPr>
          <a:lstStyle/>
          <a:p>
            <a:pPr algn="l" marL="406323" indent="-203162" lvl="1">
              <a:lnSpc>
                <a:spcPts val="2634"/>
              </a:lnSpc>
              <a:buFont typeface="Arial"/>
              <a:buChar char="•"/>
            </a:pPr>
            <a:r>
              <a:rPr lang="en-US" sz="1881">
                <a:solidFill>
                  <a:srgbClr val="FFFFFF"/>
                </a:solidFill>
                <a:latin typeface="Poppins"/>
                <a:ea typeface="Poppins"/>
                <a:cs typeface="Poppins"/>
                <a:sym typeface="Poppins"/>
              </a:rPr>
              <a:t>Auto approve with fast processing (&lt;24 hours)</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Offer competitive interest rates and high credits limits</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vIP Program</a:t>
            </a:r>
            <a:r>
              <a:rPr lang="en-US" sz="1881">
                <a:solidFill>
                  <a:srgbClr val="FFFFFF"/>
                </a:solidFill>
                <a:latin typeface="Poppins"/>
                <a:ea typeface="Poppins"/>
                <a:cs typeface="Poppins"/>
                <a:sym typeface="Poppins"/>
              </a:rPr>
              <a:t>: rewards &amp; cross sell premium products</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Light monitoring</a:t>
            </a:r>
          </a:p>
        </p:txBody>
      </p:sp>
      <p:sp>
        <p:nvSpPr>
          <p:cNvPr name="AutoShape 9" id="9"/>
          <p:cNvSpPr/>
          <p:nvPr/>
        </p:nvSpPr>
        <p:spPr>
          <a:xfrm flipV="true">
            <a:off x="618850" y="3003821"/>
            <a:ext cx="4086292" cy="0"/>
          </a:xfrm>
          <a:prstGeom prst="line">
            <a:avLst/>
          </a:prstGeom>
          <a:ln cap="flat" w="38100">
            <a:solidFill>
              <a:srgbClr val="FFFFFF"/>
            </a:solidFill>
            <a:prstDash val="solid"/>
            <a:headEnd type="none" len="sm" w="sm"/>
            <a:tailEnd type="none" len="sm" w="sm"/>
          </a:ln>
        </p:spPr>
      </p:sp>
      <p:grpSp>
        <p:nvGrpSpPr>
          <p:cNvPr name="Group 10" id="10"/>
          <p:cNvGrpSpPr/>
          <p:nvPr/>
        </p:nvGrpSpPr>
        <p:grpSpPr>
          <a:xfrm rot="0">
            <a:off x="5021416" y="1900759"/>
            <a:ext cx="4086292" cy="7372520"/>
            <a:chOff x="0" y="0"/>
            <a:chExt cx="900412" cy="1624531"/>
          </a:xfrm>
        </p:grpSpPr>
        <p:sp>
          <p:nvSpPr>
            <p:cNvPr name="Freeform 11" id="11"/>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12" id="12"/>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5021416" y="3288422"/>
            <a:ext cx="4086292" cy="3343097"/>
          </a:xfrm>
          <a:prstGeom prst="rect">
            <a:avLst/>
          </a:prstGeom>
        </p:spPr>
        <p:txBody>
          <a:bodyPr anchor="t" rtlCol="false" tIns="0" lIns="0" bIns="0" rIns="0">
            <a:spAutoFit/>
          </a:bodyPr>
          <a:lstStyle/>
          <a:p>
            <a:pPr algn="l" marL="406323" indent="-203162" lvl="1">
              <a:lnSpc>
                <a:spcPts val="2634"/>
              </a:lnSpc>
              <a:buFont typeface="Arial"/>
              <a:buChar char="•"/>
            </a:pPr>
            <a:r>
              <a:rPr lang="en-US" sz="1881">
                <a:solidFill>
                  <a:srgbClr val="FFFFFF"/>
                </a:solidFill>
                <a:latin typeface="Poppins"/>
                <a:ea typeface="Poppins"/>
                <a:cs typeface="Poppins"/>
                <a:sym typeface="Poppins"/>
              </a:rPr>
              <a:t>Standard approval with normal SLA</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Verify income and credit history</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Engagement program to build customer loyalty</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Quarterly monitoring</a:t>
            </a:r>
          </a:p>
        </p:txBody>
      </p:sp>
      <p:sp>
        <p:nvSpPr>
          <p:cNvPr name="AutoShape 14" id="14"/>
          <p:cNvSpPr/>
          <p:nvPr/>
        </p:nvSpPr>
        <p:spPr>
          <a:xfrm>
            <a:off x="5021416" y="3003821"/>
            <a:ext cx="4086292" cy="0"/>
          </a:xfrm>
          <a:prstGeom prst="line">
            <a:avLst/>
          </a:prstGeom>
          <a:ln cap="flat" w="38100">
            <a:solidFill>
              <a:srgbClr val="FFFFFF"/>
            </a:solidFill>
            <a:prstDash val="solid"/>
            <a:headEnd type="none" len="sm" w="sm"/>
            <a:tailEnd type="none" len="sm" w="sm"/>
          </a:ln>
        </p:spPr>
      </p:sp>
      <p:grpSp>
        <p:nvGrpSpPr>
          <p:cNvPr name="Group 15" id="15"/>
          <p:cNvGrpSpPr/>
          <p:nvPr/>
        </p:nvGrpSpPr>
        <p:grpSpPr>
          <a:xfrm rot="0">
            <a:off x="9559740" y="1865513"/>
            <a:ext cx="4086292" cy="7372520"/>
            <a:chOff x="0" y="0"/>
            <a:chExt cx="900412" cy="1624531"/>
          </a:xfrm>
        </p:grpSpPr>
        <p:sp>
          <p:nvSpPr>
            <p:cNvPr name="Freeform 16" id="16"/>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17" id="17"/>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18" id="18"/>
          <p:cNvSpPr txBox="true"/>
          <p:nvPr/>
        </p:nvSpPr>
        <p:spPr>
          <a:xfrm rot="0">
            <a:off x="9559740" y="3253176"/>
            <a:ext cx="4086292" cy="4009847"/>
          </a:xfrm>
          <a:prstGeom prst="rect">
            <a:avLst/>
          </a:prstGeom>
        </p:spPr>
        <p:txBody>
          <a:bodyPr anchor="t" rtlCol="false" tIns="0" lIns="0" bIns="0" rIns="0">
            <a:spAutoFit/>
          </a:bodyPr>
          <a:lstStyle/>
          <a:p>
            <a:pPr algn="l" marL="406323" indent="-203162" lvl="1">
              <a:lnSpc>
                <a:spcPts val="2634"/>
              </a:lnSpc>
              <a:buFont typeface="Arial"/>
              <a:buChar char="•"/>
            </a:pPr>
            <a:r>
              <a:rPr lang="en-US" sz="1881">
                <a:solidFill>
                  <a:srgbClr val="FFFFFF"/>
                </a:solidFill>
                <a:latin typeface="Poppins"/>
                <a:ea typeface="Poppins"/>
                <a:cs typeface="Poppins"/>
                <a:sym typeface="Poppins"/>
              </a:rPr>
              <a:t>Cap loan amount</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Collateral or guarantee required</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Interest rate adjusted to risk profile</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Send loan payment reminder notifications</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Monthly monitoring</a:t>
            </a:r>
          </a:p>
        </p:txBody>
      </p:sp>
      <p:sp>
        <p:nvSpPr>
          <p:cNvPr name="AutoShape 19" id="19"/>
          <p:cNvSpPr/>
          <p:nvPr/>
        </p:nvSpPr>
        <p:spPr>
          <a:xfrm>
            <a:off x="9559740" y="2968575"/>
            <a:ext cx="4086292" cy="0"/>
          </a:xfrm>
          <a:prstGeom prst="line">
            <a:avLst/>
          </a:prstGeom>
          <a:ln cap="flat" w="38100">
            <a:solidFill>
              <a:srgbClr val="FFFFFF"/>
            </a:solidFill>
            <a:prstDash val="solid"/>
            <a:headEnd type="none" len="sm" w="sm"/>
            <a:tailEnd type="none" len="sm" w="sm"/>
          </a:ln>
        </p:spPr>
      </p:sp>
      <p:grpSp>
        <p:nvGrpSpPr>
          <p:cNvPr name="Group 20" id="20"/>
          <p:cNvGrpSpPr/>
          <p:nvPr/>
        </p:nvGrpSpPr>
        <p:grpSpPr>
          <a:xfrm rot="0">
            <a:off x="13963193" y="1865513"/>
            <a:ext cx="4086292" cy="7372520"/>
            <a:chOff x="0" y="0"/>
            <a:chExt cx="900412" cy="1624531"/>
          </a:xfrm>
        </p:grpSpPr>
        <p:sp>
          <p:nvSpPr>
            <p:cNvPr name="Freeform 21" id="21"/>
            <p:cNvSpPr/>
            <p:nvPr/>
          </p:nvSpPr>
          <p:spPr>
            <a:xfrm flipH="false" flipV="false" rot="0">
              <a:off x="0" y="0"/>
              <a:ext cx="900412" cy="1624531"/>
            </a:xfrm>
            <a:custGeom>
              <a:avLst/>
              <a:gdLst/>
              <a:ahLst/>
              <a:cxnLst/>
              <a:rect r="r" b="b" t="t" l="l"/>
              <a:pathLst>
                <a:path h="1624531" w="900412">
                  <a:moveTo>
                    <a:pt x="96625" y="0"/>
                  </a:moveTo>
                  <a:lnTo>
                    <a:pt x="803787" y="0"/>
                  </a:lnTo>
                  <a:cubicBezTo>
                    <a:pt x="829414" y="0"/>
                    <a:pt x="853991" y="10180"/>
                    <a:pt x="872111" y="28301"/>
                  </a:cubicBezTo>
                  <a:cubicBezTo>
                    <a:pt x="890232" y="46422"/>
                    <a:pt x="900412" y="70998"/>
                    <a:pt x="900412" y="96625"/>
                  </a:cubicBezTo>
                  <a:lnTo>
                    <a:pt x="900412" y="1527906"/>
                  </a:lnTo>
                  <a:cubicBezTo>
                    <a:pt x="900412" y="1581270"/>
                    <a:pt x="857152" y="1624531"/>
                    <a:pt x="803787" y="1624531"/>
                  </a:cubicBezTo>
                  <a:lnTo>
                    <a:pt x="96625" y="1624531"/>
                  </a:lnTo>
                  <a:cubicBezTo>
                    <a:pt x="70998" y="1624531"/>
                    <a:pt x="46422" y="1614351"/>
                    <a:pt x="28301" y="1596230"/>
                  </a:cubicBezTo>
                  <a:cubicBezTo>
                    <a:pt x="10180" y="1578109"/>
                    <a:pt x="0" y="1553532"/>
                    <a:pt x="0" y="1527906"/>
                  </a:cubicBezTo>
                  <a:lnTo>
                    <a:pt x="0" y="96625"/>
                  </a:lnTo>
                  <a:cubicBezTo>
                    <a:pt x="0" y="70998"/>
                    <a:pt x="10180" y="46422"/>
                    <a:pt x="28301" y="28301"/>
                  </a:cubicBezTo>
                  <a:cubicBezTo>
                    <a:pt x="46422" y="10180"/>
                    <a:pt x="70998" y="0"/>
                    <a:pt x="96625" y="0"/>
                  </a:cubicBezTo>
                  <a:close/>
                </a:path>
              </a:pathLst>
            </a:custGeom>
            <a:ln w="66675" cap="rnd">
              <a:solidFill>
                <a:srgbClr val="5CA3B2"/>
              </a:solidFill>
              <a:prstDash val="solid"/>
              <a:round/>
            </a:ln>
          </p:spPr>
        </p:sp>
        <p:sp>
          <p:nvSpPr>
            <p:cNvPr name="TextBox 22" id="22"/>
            <p:cNvSpPr txBox="true"/>
            <p:nvPr/>
          </p:nvSpPr>
          <p:spPr>
            <a:xfrm>
              <a:off x="0" y="-66675"/>
              <a:ext cx="900412" cy="1691206"/>
            </a:xfrm>
            <a:prstGeom prst="rect">
              <a:avLst/>
            </a:prstGeom>
          </p:spPr>
          <p:txBody>
            <a:bodyPr anchor="ctr" rtlCol="false" tIns="50800" lIns="50800" bIns="50800" rIns="50800"/>
            <a:lstStyle/>
            <a:p>
              <a:pPr algn="ctr">
                <a:lnSpc>
                  <a:spcPts val="3499"/>
                </a:lnSpc>
              </a:pPr>
            </a:p>
          </p:txBody>
        </p:sp>
      </p:grpSp>
      <p:sp>
        <p:nvSpPr>
          <p:cNvPr name="TextBox 23" id="23"/>
          <p:cNvSpPr txBox="true"/>
          <p:nvPr/>
        </p:nvSpPr>
        <p:spPr>
          <a:xfrm rot="0">
            <a:off x="13963193" y="3253176"/>
            <a:ext cx="4086292" cy="2676347"/>
          </a:xfrm>
          <a:prstGeom prst="rect">
            <a:avLst/>
          </a:prstGeom>
        </p:spPr>
        <p:txBody>
          <a:bodyPr anchor="t" rtlCol="false" tIns="0" lIns="0" bIns="0" rIns="0">
            <a:spAutoFit/>
          </a:bodyPr>
          <a:lstStyle/>
          <a:p>
            <a:pPr algn="l" marL="406323" indent="-203162" lvl="1">
              <a:lnSpc>
                <a:spcPts val="2634"/>
              </a:lnSpc>
              <a:buFont typeface="Arial"/>
              <a:buChar char="•"/>
            </a:pPr>
            <a:r>
              <a:rPr lang="en-US" sz="1881">
                <a:solidFill>
                  <a:srgbClr val="FFFFFF"/>
                </a:solidFill>
                <a:latin typeface="Poppins"/>
                <a:ea typeface="Poppins"/>
                <a:cs typeface="Poppins"/>
                <a:sym typeface="Poppins"/>
              </a:rPr>
              <a:t>Mandatory senior credit committee review</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Consider rejection or micro loan</a:t>
            </a:r>
          </a:p>
          <a:p>
            <a:pPr algn="l">
              <a:lnSpc>
                <a:spcPts val="2634"/>
              </a:lnSpc>
            </a:pPr>
          </a:p>
          <a:p>
            <a:pPr algn="l" marL="406323" indent="-203162" lvl="1">
              <a:lnSpc>
                <a:spcPts val="2634"/>
              </a:lnSpc>
              <a:buFont typeface="Arial"/>
              <a:buChar char="•"/>
            </a:pPr>
            <a:r>
              <a:rPr lang="en-US" sz="1881">
                <a:solidFill>
                  <a:srgbClr val="FFFFFF"/>
                </a:solidFill>
                <a:latin typeface="Poppins"/>
                <a:ea typeface="Poppins"/>
                <a:cs typeface="Poppins"/>
                <a:sym typeface="Poppins"/>
              </a:rPr>
              <a:t>If approved, applyu very strict limits and closer monitoring</a:t>
            </a:r>
          </a:p>
        </p:txBody>
      </p:sp>
      <p:sp>
        <p:nvSpPr>
          <p:cNvPr name="AutoShape 24" id="24"/>
          <p:cNvSpPr/>
          <p:nvPr/>
        </p:nvSpPr>
        <p:spPr>
          <a:xfrm>
            <a:off x="13963193" y="2968575"/>
            <a:ext cx="4086292" cy="0"/>
          </a:xfrm>
          <a:prstGeom prst="line">
            <a:avLst/>
          </a:prstGeom>
          <a:ln cap="flat" w="38100">
            <a:solidFill>
              <a:srgbClr val="FFFFFF"/>
            </a:solidFill>
            <a:prstDash val="solid"/>
            <a:headEnd type="none" len="sm" w="sm"/>
            <a:tailEnd type="none" len="sm" w="sm"/>
          </a:ln>
        </p:spPr>
      </p:sp>
      <p:sp>
        <p:nvSpPr>
          <p:cNvPr name="TextBox 25" id="25"/>
          <p:cNvSpPr txBox="true"/>
          <p:nvPr/>
        </p:nvSpPr>
        <p:spPr>
          <a:xfrm rot="0">
            <a:off x="4790423" y="2045498"/>
            <a:ext cx="4538324" cy="737572"/>
          </a:xfrm>
          <a:prstGeom prst="rect">
            <a:avLst/>
          </a:prstGeom>
        </p:spPr>
        <p:txBody>
          <a:bodyPr anchor="t" rtlCol="false" tIns="0" lIns="0" bIns="0" rIns="0">
            <a:spAutoFit/>
          </a:bodyPr>
          <a:lstStyle/>
          <a:p>
            <a:pPr algn="ctr">
              <a:lnSpc>
                <a:spcPts val="2923"/>
              </a:lnSpc>
            </a:pPr>
            <a:r>
              <a:rPr lang="en-US" b="true" sz="2088">
                <a:solidFill>
                  <a:srgbClr val="C0BE29"/>
                </a:solidFill>
                <a:latin typeface="Poppins Bold"/>
                <a:ea typeface="Poppins Bold"/>
                <a:cs typeface="Poppins Bold"/>
                <a:sym typeface="Poppins Bold"/>
              </a:rPr>
              <a:t>Segmen B</a:t>
            </a:r>
          </a:p>
          <a:p>
            <a:pPr algn="ctr">
              <a:lnSpc>
                <a:spcPts val="2923"/>
              </a:lnSpc>
            </a:pPr>
            <a:r>
              <a:rPr lang="en-US" b="true" sz="2088">
                <a:solidFill>
                  <a:srgbClr val="C0BE29"/>
                </a:solidFill>
                <a:latin typeface="Poppins Bold"/>
                <a:ea typeface="Poppins Bold"/>
                <a:cs typeface="Poppins Bold"/>
                <a:sym typeface="Poppins Bold"/>
              </a:rPr>
              <a:t>Standard</a:t>
            </a:r>
          </a:p>
        </p:txBody>
      </p:sp>
      <p:sp>
        <p:nvSpPr>
          <p:cNvPr name="TextBox 26" id="26"/>
          <p:cNvSpPr txBox="true"/>
          <p:nvPr/>
        </p:nvSpPr>
        <p:spPr>
          <a:xfrm rot="0">
            <a:off x="9376808" y="2045498"/>
            <a:ext cx="4538324" cy="737572"/>
          </a:xfrm>
          <a:prstGeom prst="rect">
            <a:avLst/>
          </a:prstGeom>
        </p:spPr>
        <p:txBody>
          <a:bodyPr anchor="t" rtlCol="false" tIns="0" lIns="0" bIns="0" rIns="0">
            <a:spAutoFit/>
          </a:bodyPr>
          <a:lstStyle/>
          <a:p>
            <a:pPr algn="ctr">
              <a:lnSpc>
                <a:spcPts val="2923"/>
              </a:lnSpc>
            </a:pPr>
            <a:r>
              <a:rPr lang="en-US" sz="2088" b="true">
                <a:solidFill>
                  <a:srgbClr val="ED8E52"/>
                </a:solidFill>
                <a:latin typeface="Poppins Bold"/>
                <a:ea typeface="Poppins Bold"/>
                <a:cs typeface="Poppins Bold"/>
                <a:sym typeface="Poppins Bold"/>
              </a:rPr>
              <a:t>Segmen C</a:t>
            </a:r>
          </a:p>
          <a:p>
            <a:pPr algn="ctr">
              <a:lnSpc>
                <a:spcPts val="2923"/>
              </a:lnSpc>
            </a:pPr>
            <a:r>
              <a:rPr lang="en-US" b="true" sz="2088">
                <a:solidFill>
                  <a:srgbClr val="ED8E52"/>
                </a:solidFill>
                <a:latin typeface="Poppins Bold"/>
                <a:ea typeface="Poppins Bold"/>
                <a:cs typeface="Poppins Bold"/>
                <a:sym typeface="Poppins Bold"/>
              </a:rPr>
              <a:t>Subprime</a:t>
            </a:r>
          </a:p>
        </p:txBody>
      </p:sp>
      <p:sp>
        <p:nvSpPr>
          <p:cNvPr name="TextBox 27" id="27"/>
          <p:cNvSpPr txBox="true"/>
          <p:nvPr/>
        </p:nvSpPr>
        <p:spPr>
          <a:xfrm rot="0">
            <a:off x="13731757" y="2045498"/>
            <a:ext cx="4538324" cy="737572"/>
          </a:xfrm>
          <a:prstGeom prst="rect">
            <a:avLst/>
          </a:prstGeom>
        </p:spPr>
        <p:txBody>
          <a:bodyPr anchor="t" rtlCol="false" tIns="0" lIns="0" bIns="0" rIns="0">
            <a:spAutoFit/>
          </a:bodyPr>
          <a:lstStyle/>
          <a:p>
            <a:pPr algn="ctr">
              <a:lnSpc>
                <a:spcPts val="2923"/>
              </a:lnSpc>
            </a:pPr>
            <a:r>
              <a:rPr lang="en-US" sz="2088" b="true">
                <a:solidFill>
                  <a:srgbClr val="EB2D1A"/>
                </a:solidFill>
                <a:latin typeface="Poppins Bold"/>
                <a:ea typeface="Poppins Bold"/>
                <a:cs typeface="Poppins Bold"/>
                <a:sym typeface="Poppins Bold"/>
              </a:rPr>
              <a:t>Segmen D</a:t>
            </a:r>
          </a:p>
          <a:p>
            <a:pPr algn="ctr">
              <a:lnSpc>
                <a:spcPts val="2923"/>
              </a:lnSpc>
            </a:pPr>
            <a:r>
              <a:rPr lang="en-US" b="true" sz="2088">
                <a:solidFill>
                  <a:srgbClr val="EB2D1A"/>
                </a:solidFill>
                <a:latin typeface="Poppins Bold"/>
                <a:ea typeface="Poppins Bold"/>
                <a:cs typeface="Poppins Bold"/>
                <a:sym typeface="Poppins Bold"/>
              </a:rPr>
              <a:t>High Risk</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489891" y="6368955"/>
            <a:ext cx="13658699" cy="2889345"/>
            <a:chOff x="0" y="0"/>
            <a:chExt cx="3597353" cy="760980"/>
          </a:xfrm>
        </p:grpSpPr>
        <p:sp>
          <p:nvSpPr>
            <p:cNvPr name="Freeform 7" id="7"/>
            <p:cNvSpPr/>
            <p:nvPr/>
          </p:nvSpPr>
          <p:spPr>
            <a:xfrm flipH="false" flipV="false" rot="0">
              <a:off x="0" y="0"/>
              <a:ext cx="3597353" cy="760980"/>
            </a:xfrm>
            <a:custGeom>
              <a:avLst/>
              <a:gdLst/>
              <a:ahLst/>
              <a:cxnLst/>
              <a:rect r="r" b="b" t="t" l="l"/>
              <a:pathLst>
                <a:path h="760980" w="3597353">
                  <a:moveTo>
                    <a:pt x="56681" y="0"/>
                  </a:moveTo>
                  <a:lnTo>
                    <a:pt x="3540671" y="0"/>
                  </a:lnTo>
                  <a:cubicBezTo>
                    <a:pt x="3555704" y="0"/>
                    <a:pt x="3570122" y="5972"/>
                    <a:pt x="3580751" y="16602"/>
                  </a:cubicBezTo>
                  <a:cubicBezTo>
                    <a:pt x="3591381" y="27231"/>
                    <a:pt x="3597353" y="41648"/>
                    <a:pt x="3597353" y="56681"/>
                  </a:cubicBezTo>
                  <a:lnTo>
                    <a:pt x="3597353" y="704298"/>
                  </a:lnTo>
                  <a:cubicBezTo>
                    <a:pt x="3597353" y="719331"/>
                    <a:pt x="3591381" y="733748"/>
                    <a:pt x="3580751" y="744378"/>
                  </a:cubicBezTo>
                  <a:cubicBezTo>
                    <a:pt x="3570122" y="755008"/>
                    <a:pt x="3555704" y="760980"/>
                    <a:pt x="3540671" y="760980"/>
                  </a:cubicBezTo>
                  <a:lnTo>
                    <a:pt x="56681" y="760980"/>
                  </a:lnTo>
                  <a:cubicBezTo>
                    <a:pt x="41648" y="760980"/>
                    <a:pt x="27231" y="755008"/>
                    <a:pt x="16602" y="744378"/>
                  </a:cubicBezTo>
                  <a:cubicBezTo>
                    <a:pt x="5972" y="733748"/>
                    <a:pt x="0" y="719331"/>
                    <a:pt x="0" y="704298"/>
                  </a:cubicBezTo>
                  <a:lnTo>
                    <a:pt x="0" y="56681"/>
                  </a:lnTo>
                  <a:cubicBezTo>
                    <a:pt x="0" y="41648"/>
                    <a:pt x="5972" y="27231"/>
                    <a:pt x="16602" y="16602"/>
                  </a:cubicBezTo>
                  <a:cubicBezTo>
                    <a:pt x="27231" y="5972"/>
                    <a:pt x="41648" y="0"/>
                    <a:pt x="56681" y="0"/>
                  </a:cubicBezTo>
                  <a:close/>
                </a:path>
              </a:pathLst>
            </a:custGeom>
            <a:ln w="85725" cap="rnd">
              <a:solidFill>
                <a:srgbClr val="5CA3B2"/>
              </a:solidFill>
              <a:prstDash val="solid"/>
              <a:round/>
            </a:ln>
          </p:spPr>
        </p:sp>
        <p:sp>
          <p:nvSpPr>
            <p:cNvPr name="TextBox 8" id="8"/>
            <p:cNvSpPr txBox="true"/>
            <p:nvPr/>
          </p:nvSpPr>
          <p:spPr>
            <a:xfrm>
              <a:off x="0" y="-57150"/>
              <a:ext cx="3597353" cy="81813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3273481" y="6811387"/>
            <a:ext cx="1116035" cy="797965"/>
          </a:xfrm>
          <a:custGeom>
            <a:avLst/>
            <a:gdLst/>
            <a:ahLst/>
            <a:cxnLst/>
            <a:rect r="r" b="b" t="t" l="l"/>
            <a:pathLst>
              <a:path h="797965" w="1116035">
                <a:moveTo>
                  <a:pt x="0" y="0"/>
                </a:moveTo>
                <a:lnTo>
                  <a:pt x="1116035" y="0"/>
                </a:lnTo>
                <a:lnTo>
                  <a:pt x="1116035" y="797966"/>
                </a:lnTo>
                <a:lnTo>
                  <a:pt x="0" y="7979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3286056" y="7813628"/>
            <a:ext cx="1103461" cy="943459"/>
          </a:xfrm>
          <a:custGeom>
            <a:avLst/>
            <a:gdLst/>
            <a:ahLst/>
            <a:cxnLst/>
            <a:rect r="r" b="b" t="t" l="l"/>
            <a:pathLst>
              <a:path h="943459" w="1103461">
                <a:moveTo>
                  <a:pt x="0" y="0"/>
                </a:moveTo>
                <a:lnTo>
                  <a:pt x="1103460" y="0"/>
                </a:lnTo>
                <a:lnTo>
                  <a:pt x="1103460" y="943458"/>
                </a:lnTo>
                <a:lnTo>
                  <a:pt x="0" y="9434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2139410" y="1862063"/>
            <a:ext cx="14009180" cy="3575122"/>
          </a:xfrm>
          <a:prstGeom prst="rect">
            <a:avLst/>
          </a:prstGeom>
        </p:spPr>
        <p:txBody>
          <a:bodyPr anchor="t" rtlCol="false" tIns="0" lIns="0" bIns="0" rIns="0">
            <a:spAutoFit/>
          </a:bodyPr>
          <a:lstStyle/>
          <a:p>
            <a:pPr algn="ctr">
              <a:lnSpc>
                <a:spcPts val="13999"/>
              </a:lnSpc>
              <a:spcBef>
                <a:spcPct val="0"/>
              </a:spcBef>
            </a:pPr>
            <a:r>
              <a:rPr lang="en-US" b="true" sz="9999">
                <a:solidFill>
                  <a:srgbClr val="FFFFFF"/>
                </a:solidFill>
                <a:latin typeface="Poppins Bold"/>
                <a:ea typeface="Poppins Bold"/>
                <a:cs typeface="Poppins Bold"/>
                <a:sym typeface="Poppins Bold"/>
              </a:rPr>
              <a:t>Th</a:t>
            </a:r>
            <a:r>
              <a:rPr lang="en-US" b="true" sz="9999">
                <a:solidFill>
                  <a:srgbClr val="FFFFFF"/>
                </a:solidFill>
                <a:latin typeface="Poppins Bold"/>
                <a:ea typeface="Poppins Bold"/>
                <a:cs typeface="Poppins Bold"/>
                <a:sym typeface="Poppins Bold"/>
              </a:rPr>
              <a:t>ank you for your attention</a:t>
            </a:r>
          </a:p>
        </p:txBody>
      </p:sp>
      <p:sp>
        <p:nvSpPr>
          <p:cNvPr name="TextBox 12" id="12"/>
          <p:cNvSpPr txBox="true"/>
          <p:nvPr/>
        </p:nvSpPr>
        <p:spPr>
          <a:xfrm rot="0">
            <a:off x="4669909" y="6840483"/>
            <a:ext cx="6880843" cy="635000"/>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Poppins"/>
                <a:ea typeface="Poppins"/>
                <a:cs typeface="Poppins"/>
                <a:sym typeface="Poppins"/>
              </a:rPr>
              <a:t>farezfahrezi07653@gmail.com</a:t>
            </a:r>
          </a:p>
        </p:txBody>
      </p:sp>
      <p:sp>
        <p:nvSpPr>
          <p:cNvPr name="TextBox 13" id="13"/>
          <p:cNvSpPr txBox="true"/>
          <p:nvPr/>
        </p:nvSpPr>
        <p:spPr>
          <a:xfrm rot="0">
            <a:off x="2618740" y="7915470"/>
            <a:ext cx="6880843" cy="635000"/>
          </a:xfrm>
          <a:prstGeom prst="rect">
            <a:avLst/>
          </a:prstGeom>
        </p:spPr>
        <p:txBody>
          <a:bodyPr anchor="t" rtlCol="false" tIns="0" lIns="0" bIns="0" rIns="0">
            <a:spAutoFit/>
          </a:bodyPr>
          <a:lstStyle/>
          <a:p>
            <a:pPr algn="ctr">
              <a:lnSpc>
                <a:spcPts val="4900"/>
              </a:lnSpc>
              <a:spcBef>
                <a:spcPct val="0"/>
              </a:spcBef>
            </a:pPr>
            <a:r>
              <a:rPr lang="en-US" sz="3500" u="sng">
                <a:solidFill>
                  <a:srgbClr val="FFFFFF"/>
                </a:solidFill>
                <a:latin typeface="Poppins"/>
                <a:ea typeface="Poppins"/>
                <a:cs typeface="Poppins"/>
                <a:sym typeface="Poppins"/>
                <a:hlinkClick r:id="rId7" tooltip="https://www.linkedin.com/in/iqbal-fahrezi-5233a8169/"/>
              </a:rPr>
              <a:t>Iqbal Fahrezi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DAHR5ZAQVNk</dc:identifier>
  <dcterms:modified xsi:type="dcterms:W3CDTF">2011-08-01T06:04:30Z</dcterms:modified>
  <cp:revision>1</cp:revision>
  <dc:title>Credit Risk</dc:title>
</cp:coreProperties>
</file>